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ésentation" id="{1e614cd5-89f3-dc59-547f-2ab3155366e5}">
          <p14:sldIdLst>
            <p14:sldId id="256"/>
            <p14:sldId id="257"/>
            <p14:sldId id="258"/>
            <p14:sldId id="259"/>
          </p14:sldIdLst>
        </p14:section>
        <p14:section name="Conception" id="{bdfdacb9-c326-26b3-175d-6659ecf5cdb6}">
          <p14:sldIdLst>
            <p14:sldId id="260"/>
            <p14:sldId id="261"/>
            <p14:sldId id="262"/>
          </p14:sldIdLst>
        </p14:section>
        <p14:section name="Réalisations" id="{61df51f5-c4a1-30ad-9b62-5354ce142889}">
          <p14:sldIdLst>
            <p14:sldId id="263"/>
            <p14:sldId id="264"/>
            <p14:sldId id="265"/>
            <p14:sldId id="266"/>
            <p14:sldId id="267"/>
            <p14:sldId id="268"/>
          </p14:sldIdLst>
        </p14:section>
        <p14:section name="Qualité" id="{36159f3b-1dd2-f41f-b378-3e780fcb8f5d}">
          <p14:sldIdLst>
            <p14:sldId id="269"/>
            <p14:sldId id="270"/>
            <p14:sldId id="271"/>
            <p14:sldId id="272"/>
          </p14:sldIdLst>
        </p14:section>
        <p14:section name="Bilan" id="{0fdfaffc-1f1e-9391-ee49-dd9f586e7045}">
          <p14:sldIdLst>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de garde d'un travail individuel. Compléter le nom, le prénom, le matricule, la filière et le niveau.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lycée calcule les moyennes sur des feuilles de calcul et les parents doivent se déplacer pour connaître les résultats. Le portail réalisé centralise les notes et rend chaque bulletin consultable en ligne.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L'application sert trois profils. Le visiteur ne voit aucune note ; chaque profil n'accède qu'à son espace (contrôlé par le serveur).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Toutes les pages héritent de base.html. L'accueil mène à trois espaces protégés par rôle. Les flèches montrent les liens principaux.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Schéma de la base SQLite. Les 5 tables du sujet (classes, eleves, matieres, notes, enseignants) sont complétées par evaluations et corrections. Les flèches vont de la clé étrangère vers la table référencée.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contraintes de la base sont la vraie protection : même si deux enseignants valident en même temps, une note ne peut exister qu'une fois. Le JavaScript n'est qu'un confort.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Tableau des principales routes. Toutes les modifications et suppressions passent par POST avec un jeton CSRF. Le tableau complet est dans le README du projet.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L'élève se connecte avec son matricule et son code. Le bulletin affiche les notes, la moyenne coefficientée, le rang, la moyenne de la classe et une appréciation automatique.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 élèves à 12,50 ont le même rang ; le suivant prend le rang d'après. Les moyennes sont arrondies au centième avant le classement pour éviter les erreurs des nombres à virgule.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Sur une seule page, l'enseignant saisit les notes des 30 élèves. Une note hors de 0 à 20 est refusée immédiatement et la moyenne de la classe est recalculée en direct.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Une note déjà saisie se corrige avec un motif obligatoire. L'ancienne et la nouvelle valeur, l'auteur et la date sont conservés dans la table corrections.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4 statistiques du sujet, pour la séquence choisie : moyenne et taux de réussite par classe, moyenne de chaque matière par classe, 3 premiers de chaque classe, répartition par tranches.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L'administrateur gère les classes et les élèves. Le code d'accès est affiché une seule fois puis seule son empreinte est gardée. L'import accepte CSV, XLSX, XLS et ODS et vérifie chaque ligne.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CSS écrit « mobile d'abord » avec deux points de rupture (600 et 1024 px). Sur téléphone, le menu se replie, les tableaux deviennent des listes et la saisie garde une barre de synthèse en bas de l'écran.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validation.js vérifie les formulaires avant l'envoi. Trois routes renvoient du JSON (jsonify) et sont appelées par fetch pour dessiner les graphiques Chart.js.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Démonstration : avec le JavaScript contourné, une note de 25 est envoyée ; le serveur la refuse et n'enregistre aucune note de la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23 pages principales ont été passées au Nu Html Checker, le moteur du validateur du W3C, exécuté en local. Pour le rendu final, refaire une capture sur validator.w3.org depuis un ordinateur connecté.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difficultés réelles rencontrées pendant le développement, et la solution retenue pour chacune.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Projet réalisé seul, de l'analyse du sujet au rendu. Chaque étape de développement a été précédée d'une spécification et d'un plan (dossier docs/), puis d'un commit clair.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Bilan, limites et améliorations possibles. Remercier l'enseignant et proposer une démonstration en direct.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UVERTURE">
    <p:bg>
      <p:bgPr>
        <a:solidFill>
          <a:schemeClr val="tx1"/>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U">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rtlCol="0"/>
          <a:lstStyle>
            <a:lvl1pPr indent="0" marL="0">
              <a:buNone/>
              <a:defRPr lang="en-US" sz="3000" b="1" dirty="0">
                <a:solidFill>
                  <a:schemeClr val="tx1"/>
                </a:solidFill>
              </a:defRPr>
            </a:lvl1pPr>
          </a:lstStyle>
          <a:p>
            <a:pPr indent="0" marL="0">
              <a:buNone/>
            </a:pPr>
            <a:endParaRPr lang="en-US" sz="30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accent5"/>
                </a:solidFill>
              </a:rPr>
              <a:t>Projet 3 · Portail de notes d'un lycée technique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OMBR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rtlCol="0"/>
          <a:lstStyle>
            <a:lvl1pPr indent="0" marL="0">
              <a:buNone/>
              <a:defRPr lang="en-US" sz="3000" b="1" dirty="0">
                <a:solidFill>
                  <a:schemeClr val="bg1"/>
                </a:solidFill>
              </a:defRPr>
            </a:lvl1pPr>
          </a:lstStyle>
          <a:p>
            <a:pPr indent="0" marL="0">
              <a:buNone/>
            </a:pPr>
            <a:endParaRPr lang="en-US" sz="3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3.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3.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3.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slideLayout" Target="../slideLayouts/slideLayout3.xml"/><Relationship Id="rId8"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4.xml"/><Relationship Id="rId5"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Pastille"/>
          <p:cNvSpPr/>
          <p:nvPr/>
        </p:nvSpPr>
        <p:spPr>
          <a:xfrm>
            <a:off x="548640" y="502920"/>
            <a:ext cx="731520" cy="731520"/>
          </a:xfrm>
          <a:prstGeom prst="ellipse">
            <a:avLst/>
          </a:prstGeom>
          <a:solidFill>
            <a:srgbClr val="1D4ED8"/>
          </a:solidFill>
          <a:ln w="12700">
            <a:solidFill>
              <a:srgbClr val="1D4ED8"/>
            </a:solidFill>
            <a:prstDash val="solid"/>
          </a:ln>
        </p:spPr>
      </p:sp>
      <p:pic>
        <p:nvPicPr>
          <p:cNvPr id="4" name="Icône LuGraduationCap" descr="preencoded.png">    </p:cNvPr>
          <p:cNvPicPr>
            <a:picLocks noChangeAspect="1"/>
          </p:cNvPicPr>
          <p:nvPr/>
        </p:nvPicPr>
        <p:blipFill>
          <a:blip r:embed="rId1"/>
          <a:stretch>
            <a:fillRect/>
          </a:stretch>
        </p:blipFill>
        <p:spPr>
          <a:xfrm>
            <a:off x="709574" y="663854"/>
            <a:ext cx="409651" cy="409651"/>
          </a:xfrm>
          <a:prstGeom prst="rect">
            <a:avLst/>
          </a:prstGeom>
        </p:spPr>
      </p:pic>
      <p:sp>
        <p:nvSpPr>
          <p:cNvPr id="5" name="Text 1"/>
          <p:cNvSpPr txBox="1"/>
          <p:nvPr/>
        </p:nvSpPr>
        <p:spPr>
          <a:xfrm>
            <a:off x="1463040" y="594360"/>
            <a:ext cx="5486400" cy="548640"/>
          </a:xfrm>
          <a:prstGeom prst="rect">
            <a:avLst/>
          </a:prstGeom>
          <a:noFill/>
          <a:ln/>
        </p:spPr>
        <p:txBody>
          <a:bodyPr wrap="square" lIns="0" tIns="0" rIns="0" bIns="0" rtlCol="0" anchor="ctr"/>
          <a:lstStyle/>
          <a:p>
            <a:pPr indent="0" marL="0">
              <a:buNone/>
            </a:pPr>
            <a:r>
              <a:rPr lang="en-US" sz="1400" b="1" spc="200" kern="0" dirty="0">
                <a:solidFill>
                  <a:schemeClr val="accent6"/>
                </a:solidFill>
              </a:rPr>
              <a:t>PROJET 3 · ÉDUCATION</a:t>
            </a:r>
            <a:endParaRPr lang="en-US" sz="1400" dirty="0"/>
          </a:p>
        </p:txBody>
      </p:sp>
      <p:sp>
        <p:nvSpPr>
          <p:cNvPr id="6" name="Titre"/>
          <p:cNvSpPr txBox="1"/>
          <p:nvPr/>
        </p:nvSpPr>
        <p:spPr>
          <a:xfrm>
            <a:off x="548640" y="1508760"/>
            <a:ext cx="6035040" cy="1463040"/>
          </a:xfrm>
          <a:prstGeom prst="rect">
            <a:avLst/>
          </a:prstGeom>
          <a:noFill/>
          <a:ln/>
        </p:spPr>
        <p:txBody>
          <a:bodyPr wrap="square" lIns="0" tIns="0" rIns="0" bIns="0" rtlCol="0" anchor="t"/>
          <a:lstStyle/>
          <a:p>
            <a:pPr indent="0" marL="0">
              <a:buNone/>
            </a:pPr>
            <a:r>
              <a:rPr lang="en-US" sz="4000" b="1" dirty="0">
                <a:solidFill>
                  <a:schemeClr val="bg1"/>
                </a:solidFill>
              </a:rPr>
              <a:t>Portail de notes d'un lycée technique</a:t>
            </a:r>
            <a:endParaRPr lang="en-US" sz="4000" dirty="0"/>
          </a:p>
        </p:txBody>
      </p:sp>
      <p:sp>
        <p:nvSpPr>
          <p:cNvPr id="7" name="Text 3"/>
          <p:cNvSpPr txBox="1"/>
          <p:nvPr/>
        </p:nvSpPr>
        <p:spPr>
          <a:xfrm>
            <a:off x="548640" y="3017520"/>
            <a:ext cx="6035040" cy="457200"/>
          </a:xfrm>
          <a:prstGeom prst="rect">
            <a:avLst/>
          </a:prstGeom>
          <a:noFill/>
          <a:ln/>
        </p:spPr>
        <p:txBody>
          <a:bodyPr wrap="square" lIns="0" tIns="0" rIns="0" bIns="0" rtlCol="0" anchor="ctr"/>
          <a:lstStyle/>
          <a:p>
            <a:pPr indent="0" marL="0">
              <a:buNone/>
            </a:pPr>
            <a:r>
              <a:rPr lang="en-US" sz="1800" dirty="0">
                <a:solidFill>
                  <a:schemeClr val="accent6"/>
                </a:solidFill>
              </a:rPr>
              <a:t>Rapport de projet individuel — évaluation finale</a:t>
            </a:r>
            <a:endParaRPr lang="en-US" sz="1800" dirty="0"/>
          </a:p>
        </p:txBody>
      </p:sp>
      <p:graphicFrame>
        <p:nvGraphicFramePr>
          <p:cNvPr id="2" name="Informations du projet"/>
          <p:cNvGraphicFramePr>
            <a:graphicFrameLocks noGrp="1"/>
          </p:cNvGraphicFramePr>
          <p:nvPr>
            <p:extLst>
              <p:ext uri="{D42A27DB-BD31-4B8C-83A1-F6EECF244321}">
                <p14:modId xmlns:p14="http://schemas.microsoft.com/office/powerpoint/2010/main" val="1579011935"/>
              </p:ext>
            </p:extLst>
          </p:nvPr>
        </p:nvGraphicFramePr>
        <p:xfrm>
          <a:off x="548640" y="3749040"/>
          <a:ext cx="5852160" cy="914400"/>
        </p:xfrm>
        <a:graphic>
          <a:graphicData uri="http://schemas.openxmlformats.org/drawingml/2006/table">
            <a:tbl>
              <a:tblPr/>
              <a:tblGrid>
                <a:gridCol w="1920240"/>
                <a:gridCol w="3931920"/>
              </a:tblGrid>
              <a:tr h="384048">
                <a:tc>
                  <a:txBody>
                    <a:bodyPr/>
                    <a:lstStyle/>
                    <a:p>
                      <a:pPr indent="0" marL="0">
                        <a:buNone/>
                      </a:pPr>
                      <a:r>
                        <a:rPr lang="en-US" sz="1300" dirty="0">
                          <a:solidFill>
                            <a:srgbClr val="94A3B8"/>
                          </a:solidFill>
                        </a:rPr>
                        <a:t>Nom et prénom</a:t>
                      </a:r>
                      <a:endParaRPr lang="en-US" sz="1300" dirty="0"/>
                    </a:p>
                  </a:txBody>
                  <a:tcPr marL="0" marR="0" marT="0" marB="0">
                    <a:lnL w="0" cap="flat" cmpd="sng" algn="ctr">
                      <a:noFill/>
                    </a:lnL>
                    <a:lnR w="0" cap="flat" cmpd="sng" algn="ctr">
                      <a:noFill/>
                    </a:lnR>
                    <a:lnT w="0" cap="flat" cmpd="sng" algn="ctr">
                      <a:noFill/>
                    </a:lnT>
                    <a:lnB w="0" cap="flat" cmpd="sng" algn="ctr">
                      <a:noFill/>
                    </a:lnB>
                  </a:tcPr>
                </a:tc>
                <a:tc>
                  <a:txBody>
                    <a:bodyPr/>
                    <a:lstStyle/>
                    <a:p>
                      <a:pPr indent="0" marL="0">
                        <a:buNone/>
                      </a:pPr>
                      <a:r>
                        <a:rPr lang="en-US" sz="1400" b="1" dirty="0">
                          <a:solidFill>
                            <a:srgbClr val="FFFFFF"/>
                          </a:solidFill>
                        </a:rPr>
                        <a:t>[À compléter]</a:t>
                      </a:r>
                      <a:endParaRPr lang="en-US" sz="1400" dirty="0"/>
                    </a:p>
                  </a:txBody>
                  <a:tcPr marL="0" marR="0" marT="0" marB="0">
                    <a:lnL w="0" cap="flat" cmpd="sng" algn="ctr">
                      <a:noFill/>
                    </a:lnL>
                    <a:lnR w="0" cap="flat" cmpd="sng" algn="ctr">
                      <a:noFill/>
                    </a:lnR>
                    <a:lnT w="0" cap="flat" cmpd="sng" algn="ctr">
                      <a:noFill/>
                    </a:lnT>
                    <a:lnB w="0" cap="flat" cmpd="sng" algn="ctr">
                      <a:noFill/>
                    </a:lnB>
                  </a:tcPr>
                </a:tc>
              </a:tr>
              <a:tr h="384048">
                <a:tc>
                  <a:txBody>
                    <a:bodyPr/>
                    <a:lstStyle/>
                    <a:p>
                      <a:pPr indent="0" marL="0">
                        <a:buNone/>
                      </a:pPr>
                      <a:r>
                        <a:rPr lang="en-US" sz="1300" dirty="0">
                          <a:solidFill>
                            <a:srgbClr val="94A3B8"/>
                          </a:solidFill>
                        </a:rPr>
                        <a:t>Matricule</a:t>
                      </a:r>
                      <a:endParaRPr lang="en-US" sz="1300" dirty="0"/>
                    </a:p>
                  </a:txBody>
                  <a:tcPr marL="0" marR="0" marT="0" marB="0">
                    <a:lnL w="0" cap="flat" cmpd="sng" algn="ctr">
                      <a:noFill/>
                    </a:lnL>
                    <a:lnR w="0" cap="flat" cmpd="sng" algn="ctr">
                      <a:noFill/>
                    </a:lnR>
                    <a:lnT w="0" cap="flat" cmpd="sng" algn="ctr">
                      <a:noFill/>
                    </a:lnT>
                    <a:lnB w="0" cap="flat" cmpd="sng" algn="ctr">
                      <a:noFill/>
                    </a:lnB>
                  </a:tcPr>
                </a:tc>
                <a:tc>
                  <a:txBody>
                    <a:bodyPr/>
                    <a:lstStyle/>
                    <a:p>
                      <a:pPr indent="0" marL="0">
                        <a:buNone/>
                      </a:pPr>
                      <a:r>
                        <a:rPr lang="en-US" sz="1400" b="1" dirty="0">
                          <a:solidFill>
                            <a:srgbClr val="FFFFFF"/>
                          </a:solidFill>
                        </a:rPr>
                        <a:t>[À compléter]</a:t>
                      </a:r>
                      <a:endParaRPr lang="en-US" sz="1400" dirty="0"/>
                    </a:p>
                  </a:txBody>
                  <a:tcPr marL="0" marR="0" marT="0" marB="0">
                    <a:lnL w="0" cap="flat" cmpd="sng" algn="ctr">
                      <a:noFill/>
                    </a:lnL>
                    <a:lnR w="0" cap="flat" cmpd="sng" algn="ctr">
                      <a:noFill/>
                    </a:lnR>
                    <a:lnT w="0" cap="flat" cmpd="sng" algn="ctr">
                      <a:noFill/>
                    </a:lnT>
                    <a:lnB w="0" cap="flat" cmpd="sng" algn="ctr">
                      <a:noFill/>
                    </a:lnB>
                  </a:tcPr>
                </a:tc>
              </a:tr>
              <a:tr h="384048">
                <a:tc>
                  <a:txBody>
                    <a:bodyPr/>
                    <a:lstStyle/>
                    <a:p>
                      <a:pPr indent="0" marL="0">
                        <a:buNone/>
                      </a:pPr>
                      <a:r>
                        <a:rPr lang="en-US" sz="1300" dirty="0">
                          <a:solidFill>
                            <a:srgbClr val="94A3B8"/>
                          </a:solidFill>
                        </a:rPr>
                        <a:t>Filière et niveau</a:t>
                      </a:r>
                      <a:endParaRPr lang="en-US" sz="1300" dirty="0"/>
                    </a:p>
                  </a:txBody>
                  <a:tcPr marL="0" marR="0" marT="0" marB="0">
                    <a:lnL w="0" cap="flat" cmpd="sng" algn="ctr">
                      <a:noFill/>
                    </a:lnL>
                    <a:lnR w="0" cap="flat" cmpd="sng" algn="ctr">
                      <a:noFill/>
                    </a:lnR>
                    <a:lnT w="0" cap="flat" cmpd="sng" algn="ctr">
                      <a:noFill/>
                    </a:lnT>
                    <a:lnB w="0" cap="flat" cmpd="sng" algn="ctr">
                      <a:noFill/>
                    </a:lnB>
                  </a:tcPr>
                </a:tc>
                <a:tc>
                  <a:txBody>
                    <a:bodyPr/>
                    <a:lstStyle/>
                    <a:p>
                      <a:pPr indent="0" marL="0">
                        <a:buNone/>
                      </a:pPr>
                      <a:r>
                        <a:rPr lang="en-US" sz="1400" b="1" dirty="0">
                          <a:solidFill>
                            <a:srgbClr val="FFFFFF"/>
                          </a:solidFill>
                        </a:rPr>
                        <a:t>[À compléter]</a:t>
                      </a:r>
                      <a:endParaRPr lang="en-US" sz="1400" dirty="0"/>
                    </a:p>
                  </a:txBody>
                  <a:tcPr marL="0" marR="0" marT="0" marB="0">
                    <a:lnL w="0" cap="flat" cmpd="sng" algn="ctr">
                      <a:noFill/>
                    </a:lnL>
                    <a:lnR w="0" cap="flat" cmpd="sng" algn="ctr">
                      <a:noFill/>
                    </a:lnR>
                    <a:lnT w="0" cap="flat" cmpd="sng" algn="ctr">
                      <a:noFill/>
                    </a:lnT>
                    <a:lnB w="0" cap="flat" cmpd="sng" algn="ctr">
                      <a:noFill/>
                    </a:lnB>
                  </a:tcPr>
                </a:tc>
              </a:tr>
              <a:tr h="384048">
                <a:tc>
                  <a:txBody>
                    <a:bodyPr/>
                    <a:lstStyle/>
                    <a:p>
                      <a:pPr indent="0" marL="0">
                        <a:buNone/>
                      </a:pPr>
                      <a:r>
                        <a:rPr lang="en-US" sz="1300" dirty="0">
                          <a:solidFill>
                            <a:srgbClr val="94A3B8"/>
                          </a:solidFill>
                        </a:rPr>
                        <a:t>Matière</a:t>
                      </a:r>
                      <a:endParaRPr lang="en-US" sz="1300" dirty="0"/>
                    </a:p>
                  </a:txBody>
                  <a:tcPr marL="0" marR="0" marT="0" marB="0">
                    <a:lnL w="0" cap="flat" cmpd="sng" algn="ctr">
                      <a:noFill/>
                    </a:lnL>
                    <a:lnR w="0" cap="flat" cmpd="sng" algn="ctr">
                      <a:noFill/>
                    </a:lnR>
                    <a:lnT w="0" cap="flat" cmpd="sng" algn="ctr">
                      <a:noFill/>
                    </a:lnT>
                    <a:lnB w="0" cap="flat" cmpd="sng" algn="ctr">
                      <a:noFill/>
                    </a:lnB>
                  </a:tcPr>
                </a:tc>
                <a:tc>
                  <a:txBody>
                    <a:bodyPr/>
                    <a:lstStyle/>
                    <a:p>
                      <a:pPr indent="0" marL="0">
                        <a:buNone/>
                      </a:pPr>
                      <a:r>
                        <a:rPr lang="en-US" sz="1400" b="1" dirty="0">
                          <a:solidFill>
                            <a:srgbClr val="FFFFFF"/>
                          </a:solidFill>
                        </a:rPr>
                        <a:t>Technologies Web et applications</a:t>
                      </a:r>
                      <a:endParaRPr lang="en-US" sz="1400" dirty="0"/>
                    </a:p>
                  </a:txBody>
                  <a:tcPr marL="0" marR="0" marT="0" marB="0">
                    <a:lnL w="0" cap="flat" cmpd="sng" algn="ctr">
                      <a:noFill/>
                    </a:lnL>
                    <a:lnR w="0" cap="flat" cmpd="sng" algn="ctr">
                      <a:noFill/>
                    </a:lnR>
                    <a:lnT w="0" cap="flat" cmpd="sng" algn="ctr">
                      <a:noFill/>
                    </a:lnT>
                    <a:lnB w="0" cap="flat" cmpd="sng" algn="ctr">
                      <a:noFill/>
                    </a:lnB>
                  </a:tcPr>
                </a:tc>
              </a:tr>
              <a:tr h="384048">
                <a:tc>
                  <a:txBody>
                    <a:bodyPr/>
                    <a:lstStyle/>
                    <a:p>
                      <a:pPr indent="0" marL="0">
                        <a:buNone/>
                      </a:pPr>
                      <a:r>
                        <a:rPr lang="en-US" sz="1300" dirty="0">
                          <a:solidFill>
                            <a:srgbClr val="94A3B8"/>
                          </a:solidFill>
                        </a:rPr>
                        <a:t>Enseignant</a:t>
                      </a:r>
                      <a:endParaRPr lang="en-US" sz="1300" dirty="0"/>
                    </a:p>
                  </a:txBody>
                  <a:tcPr marL="0" marR="0" marT="0" marB="0">
                    <a:lnL w="0" cap="flat" cmpd="sng" algn="ctr">
                      <a:noFill/>
                    </a:lnL>
                    <a:lnR w="0" cap="flat" cmpd="sng" algn="ctr">
                      <a:noFill/>
                    </a:lnR>
                    <a:lnT w="0" cap="flat" cmpd="sng" algn="ctr">
                      <a:noFill/>
                    </a:lnT>
                    <a:lnB w="0" cap="flat" cmpd="sng" algn="ctr">
                      <a:noFill/>
                    </a:lnB>
                  </a:tcPr>
                </a:tc>
                <a:tc>
                  <a:txBody>
                    <a:bodyPr/>
                    <a:lstStyle/>
                    <a:p>
                      <a:pPr indent="0" marL="0">
                        <a:buNone/>
                      </a:pPr>
                      <a:r>
                        <a:rPr lang="en-US" sz="1400" b="1" dirty="0">
                          <a:solidFill>
                            <a:srgbClr val="FFFFFF"/>
                          </a:solidFill>
                        </a:rPr>
                        <a:t>FOTSO T. Valdez W.</a:t>
                      </a:r>
                      <a:endParaRPr lang="en-US" sz="1400" dirty="0"/>
                    </a:p>
                  </a:txBody>
                  <a:tcPr marL="0" marR="0" marT="0" marB="0">
                    <a:lnL w="0" cap="flat" cmpd="sng" algn="ctr">
                      <a:noFill/>
                    </a:lnL>
                    <a:lnR w="0" cap="flat" cmpd="sng" algn="ctr">
                      <a:noFill/>
                    </a:lnR>
                    <a:lnT w="0" cap="flat" cmpd="sng" algn="ctr">
                      <a:noFill/>
                    </a:lnT>
                    <a:lnB w="0" cap="flat" cmpd="sng" algn="ctr">
                      <a:noFill/>
                    </a:lnB>
                  </a:tcPr>
                </a:tc>
              </a:tr>
              <a:tr h="384048">
                <a:tc>
                  <a:txBody>
                    <a:bodyPr/>
                    <a:lstStyle/>
                    <a:p>
                      <a:pPr indent="0" marL="0">
                        <a:buNone/>
                      </a:pPr>
                      <a:r>
                        <a:rPr lang="en-US" sz="1300" dirty="0">
                          <a:solidFill>
                            <a:srgbClr val="94A3B8"/>
                          </a:solidFill>
                        </a:rPr>
                        <a:t>Année scolaire</a:t>
                      </a:r>
                      <a:endParaRPr lang="en-US" sz="1300" dirty="0"/>
                    </a:p>
                  </a:txBody>
                  <a:tcPr marL="0" marR="0" marT="0" marB="0">
                    <a:lnL w="0" cap="flat" cmpd="sng" algn="ctr">
                      <a:noFill/>
                    </a:lnL>
                    <a:lnR w="0" cap="flat" cmpd="sng" algn="ctr">
                      <a:noFill/>
                    </a:lnR>
                    <a:lnT w="0" cap="flat" cmpd="sng" algn="ctr">
                      <a:noFill/>
                    </a:lnT>
                    <a:lnB w="0" cap="flat" cmpd="sng" algn="ctr">
                      <a:noFill/>
                    </a:lnB>
                  </a:tcPr>
                </a:tc>
                <a:tc>
                  <a:txBody>
                    <a:bodyPr/>
                    <a:lstStyle/>
                    <a:p>
                      <a:pPr indent="0" marL="0">
                        <a:buNone/>
                      </a:pPr>
                      <a:r>
                        <a:rPr lang="en-US" sz="1400" b="1" dirty="0">
                          <a:solidFill>
                            <a:srgbClr val="FFFFFF"/>
                          </a:solidFill>
                        </a:rPr>
                        <a:t>2026-2027</a:t>
                      </a:r>
                      <a:endParaRPr lang="en-US" sz="1400" dirty="0"/>
                    </a:p>
                  </a:txBody>
                  <a:tcPr marL="0" marR="0" marT="0" marB="0">
                    <a:lnL w="0" cap="flat" cmpd="sng" algn="ctr">
                      <a:noFill/>
                    </a:lnL>
                    <a:lnR w="0" cap="flat" cmpd="sng" algn="ctr">
                      <a:noFill/>
                    </a:lnR>
                    <a:lnT w="0" cap="flat" cmpd="sng" algn="ctr">
                      <a:noFill/>
                    </a:lnT>
                    <a:lnB w="0" cap="flat" cmpd="sng" algn="ctr">
                      <a:noFill/>
                    </a:lnB>
                  </a:tcPr>
                </a:tc>
              </a:tr>
            </a:tbl>
          </a:graphicData>
        </a:graphic>
      </p:graphicFrame>
      <p:sp>
        <p:nvSpPr>
          <p:cNvPr id="9" name="Carte travail individuel"/>
          <p:cNvSpPr/>
          <p:nvPr/>
        </p:nvSpPr>
        <p:spPr>
          <a:xfrm>
            <a:off x="6949440" y="502920"/>
            <a:ext cx="4709160" cy="5852160"/>
          </a:xfrm>
          <a:prstGeom prst="roundRect">
            <a:avLst>
              <a:gd name="adj" fmla="val 1942"/>
            </a:avLst>
          </a:prstGeom>
          <a:solidFill>
            <a:schemeClr val="tx2"/>
          </a:solidFill>
          <a:ln w="12700">
            <a:solidFill>
              <a:schemeClr val="tx2"/>
            </a:solidFill>
            <a:prstDash val="solid"/>
          </a:ln>
        </p:spPr>
      </p:sp>
      <p:sp>
        <p:nvSpPr>
          <p:cNvPr id="10" name="Pastille"/>
          <p:cNvSpPr/>
          <p:nvPr/>
        </p:nvSpPr>
        <p:spPr>
          <a:xfrm>
            <a:off x="7223760" y="777240"/>
            <a:ext cx="640080" cy="640080"/>
          </a:xfrm>
          <a:prstGeom prst="ellipse">
            <a:avLst/>
          </a:prstGeom>
          <a:solidFill>
            <a:srgbClr val="B45309"/>
          </a:solidFill>
          <a:ln w="12700">
            <a:solidFill>
              <a:srgbClr val="B45309"/>
            </a:solidFill>
            <a:prstDash val="solid"/>
          </a:ln>
        </p:spPr>
      </p:sp>
      <p:pic>
        <p:nvPicPr>
          <p:cNvPr id="11" name="Icône LuUserCog" descr="preencoded.png">    </p:cNvPr>
          <p:cNvPicPr>
            <a:picLocks noChangeAspect="1"/>
          </p:cNvPicPr>
          <p:nvPr/>
        </p:nvPicPr>
        <p:blipFill>
          <a:blip r:embed="rId2"/>
          <a:stretch>
            <a:fillRect/>
          </a:stretch>
        </p:blipFill>
        <p:spPr>
          <a:xfrm>
            <a:off x="7364578" y="918058"/>
            <a:ext cx="358445" cy="358445"/>
          </a:xfrm>
          <a:prstGeom prst="rect">
            <a:avLst/>
          </a:prstGeom>
        </p:spPr>
      </p:pic>
      <p:sp>
        <p:nvSpPr>
          <p:cNvPr id="12" name="Text 6"/>
          <p:cNvSpPr txBox="1"/>
          <p:nvPr/>
        </p:nvSpPr>
        <p:spPr>
          <a:xfrm>
            <a:off x="8001000" y="777240"/>
            <a:ext cx="3474720" cy="640080"/>
          </a:xfrm>
          <a:prstGeom prst="rect">
            <a:avLst/>
          </a:prstGeom>
          <a:noFill/>
          <a:ln/>
        </p:spPr>
        <p:txBody>
          <a:bodyPr wrap="square" lIns="0" tIns="0" rIns="0" bIns="0" rtlCol="0" anchor="ctr"/>
          <a:lstStyle/>
          <a:p>
            <a:pPr indent="0" marL="0">
              <a:buNone/>
            </a:pPr>
            <a:r>
              <a:rPr lang="en-US" sz="2000" b="1" dirty="0">
                <a:solidFill>
                  <a:schemeClr val="bg1"/>
                </a:solidFill>
              </a:rPr>
              <a:t>Travail individuel</a:t>
            </a:r>
            <a:endParaRPr lang="en-US" sz="2000" dirty="0"/>
          </a:p>
        </p:txBody>
      </p:sp>
      <p:sp>
        <p:nvSpPr>
          <p:cNvPr id="13" name="Text 7"/>
          <p:cNvSpPr txBox="1"/>
          <p:nvPr/>
        </p:nvSpPr>
        <p:spPr>
          <a:xfrm>
            <a:off x="7223760" y="1554480"/>
            <a:ext cx="4206240" cy="685800"/>
          </a:xfrm>
          <a:prstGeom prst="rect">
            <a:avLst/>
          </a:prstGeom>
          <a:noFill/>
          <a:ln/>
        </p:spPr>
        <p:txBody>
          <a:bodyPr wrap="square" lIns="0" tIns="0" rIns="0" bIns="0" rtlCol="0" anchor="t"/>
          <a:lstStyle/>
          <a:p>
            <a:pPr indent="0" marL="0">
              <a:buNone/>
            </a:pPr>
            <a:r>
              <a:rPr lang="en-US" sz="1300" dirty="0">
                <a:solidFill>
                  <a:srgbClr val="CBD5E1"/>
                </a:solidFill>
              </a:rPr>
              <a:t>Conception, développement, tests et rapport réalisés entièrement par l'auteur.</a:t>
            </a:r>
            <a:endParaRPr lang="en-US" sz="1300" dirty="0"/>
          </a:p>
        </p:txBody>
      </p:sp>
      <p:sp>
        <p:nvSpPr>
          <p:cNvPr id="14" name="Chiffre 1"/>
          <p:cNvSpPr/>
          <p:nvPr/>
        </p:nvSpPr>
        <p:spPr>
          <a:xfrm>
            <a:off x="7223760" y="2377440"/>
            <a:ext cx="4160520" cy="822960"/>
          </a:xfrm>
          <a:prstGeom prst="roundRect">
            <a:avLst>
              <a:gd name="adj" fmla="val 8889"/>
            </a:avLst>
          </a:prstGeom>
          <a:solidFill>
            <a:srgbClr val="334155"/>
          </a:solidFill>
          <a:ln w="12700">
            <a:solidFill>
              <a:srgbClr val="334155"/>
            </a:solidFill>
            <a:prstDash val="solid"/>
          </a:ln>
        </p:spPr>
      </p:sp>
      <p:sp>
        <p:nvSpPr>
          <p:cNvPr id="15" name="Text 9"/>
          <p:cNvSpPr txBox="1"/>
          <p:nvPr/>
        </p:nvSpPr>
        <p:spPr>
          <a:xfrm>
            <a:off x="7406640" y="2377440"/>
            <a:ext cx="3840480" cy="822960"/>
          </a:xfrm>
          <a:prstGeom prst="rect">
            <a:avLst/>
          </a:prstGeom>
          <a:noFill/>
          <a:ln/>
        </p:spPr>
        <p:txBody>
          <a:bodyPr wrap="square" lIns="0" tIns="0" rIns="0" bIns="0" rtlCol="0" anchor="ctr"/>
          <a:lstStyle/>
          <a:p>
            <a:pPr indent="0" marL="0">
              <a:buNone/>
            </a:pPr>
            <a:r>
              <a:rPr lang="en-US" sz="2600" b="1" dirty="0">
                <a:solidFill>
                  <a:srgbClr val="BFD0FA"/>
                </a:solidFill>
              </a:rPr>
              <a:t>11</a:t>
            </a:r>
            <a:pPr indent="0" marL="0">
              <a:buNone/>
            </a:pPr>
            <a:r>
              <a:rPr lang="en-US" sz="1300" dirty="0">
                <a:solidFill>
                  <a:srgbClr val="FFFFFF"/>
                </a:solidFill>
              </a:rPr>
              <a:t>   étapes, chacune avec sa spec et son plan</a:t>
            </a:r>
            <a:endParaRPr lang="en-US" sz="2600" dirty="0"/>
          </a:p>
        </p:txBody>
      </p:sp>
      <p:sp>
        <p:nvSpPr>
          <p:cNvPr id="16" name="Chiffre 2"/>
          <p:cNvSpPr/>
          <p:nvPr/>
        </p:nvSpPr>
        <p:spPr>
          <a:xfrm>
            <a:off x="7223760" y="3337560"/>
            <a:ext cx="4160520" cy="822960"/>
          </a:xfrm>
          <a:prstGeom prst="roundRect">
            <a:avLst>
              <a:gd name="adj" fmla="val 8889"/>
            </a:avLst>
          </a:prstGeom>
          <a:solidFill>
            <a:srgbClr val="334155"/>
          </a:solidFill>
          <a:ln w="12700">
            <a:solidFill>
              <a:srgbClr val="334155"/>
            </a:solidFill>
            <a:prstDash val="solid"/>
          </a:ln>
        </p:spPr>
      </p:sp>
      <p:sp>
        <p:nvSpPr>
          <p:cNvPr id="17" name="Text 11"/>
          <p:cNvSpPr txBox="1"/>
          <p:nvPr/>
        </p:nvSpPr>
        <p:spPr>
          <a:xfrm>
            <a:off x="7406640" y="3337560"/>
            <a:ext cx="3840480" cy="822960"/>
          </a:xfrm>
          <a:prstGeom prst="rect">
            <a:avLst/>
          </a:prstGeom>
          <a:noFill/>
          <a:ln/>
        </p:spPr>
        <p:txBody>
          <a:bodyPr wrap="square" lIns="0" tIns="0" rIns="0" bIns="0" rtlCol="0" anchor="ctr"/>
          <a:lstStyle/>
          <a:p>
            <a:pPr indent="0" marL="0">
              <a:buNone/>
            </a:pPr>
            <a:r>
              <a:rPr lang="en-US" sz="2600" b="1" dirty="0">
                <a:solidFill>
                  <a:srgbClr val="BFD0FA"/>
                </a:solidFill>
              </a:rPr>
              <a:t>34</a:t>
            </a:r>
            <a:pPr indent="0" marL="0">
              <a:buNone/>
            </a:pPr>
            <a:r>
              <a:rPr lang="en-US" sz="1300" dirty="0">
                <a:solidFill>
                  <a:srgbClr val="FFFFFF"/>
                </a:solidFill>
              </a:rPr>
              <a:t>   routes Flask, dont 3 API JSON</a:t>
            </a:r>
            <a:endParaRPr lang="en-US" sz="2600" dirty="0"/>
          </a:p>
        </p:txBody>
      </p:sp>
      <p:sp>
        <p:nvSpPr>
          <p:cNvPr id="18" name="Chiffre 3"/>
          <p:cNvSpPr/>
          <p:nvPr/>
        </p:nvSpPr>
        <p:spPr>
          <a:xfrm>
            <a:off x="7223760" y="4297680"/>
            <a:ext cx="4160520" cy="822960"/>
          </a:xfrm>
          <a:prstGeom prst="roundRect">
            <a:avLst>
              <a:gd name="adj" fmla="val 8889"/>
            </a:avLst>
          </a:prstGeom>
          <a:solidFill>
            <a:srgbClr val="334155"/>
          </a:solidFill>
          <a:ln w="12700">
            <a:solidFill>
              <a:srgbClr val="334155"/>
            </a:solidFill>
            <a:prstDash val="solid"/>
          </a:ln>
        </p:spPr>
      </p:sp>
      <p:sp>
        <p:nvSpPr>
          <p:cNvPr id="19" name="Text 13"/>
          <p:cNvSpPr txBox="1"/>
          <p:nvPr/>
        </p:nvSpPr>
        <p:spPr>
          <a:xfrm>
            <a:off x="7406640" y="4297680"/>
            <a:ext cx="3840480" cy="822960"/>
          </a:xfrm>
          <a:prstGeom prst="rect">
            <a:avLst/>
          </a:prstGeom>
          <a:noFill/>
          <a:ln/>
        </p:spPr>
        <p:txBody>
          <a:bodyPr wrap="square" lIns="0" tIns="0" rIns="0" bIns="0" rtlCol="0" anchor="ctr"/>
          <a:lstStyle/>
          <a:p>
            <a:pPr indent="0" marL="0">
              <a:buNone/>
            </a:pPr>
            <a:r>
              <a:rPr lang="en-US" sz="2600" b="1" dirty="0">
                <a:solidFill>
                  <a:srgbClr val="BFD0FA"/>
                </a:solidFill>
              </a:rPr>
              <a:t>84</a:t>
            </a:r>
            <a:pPr indent="0" marL="0">
              <a:buNone/>
            </a:pPr>
            <a:r>
              <a:rPr lang="en-US" sz="1300" dirty="0">
                <a:solidFill>
                  <a:srgbClr val="FFFFFF"/>
                </a:solidFill>
              </a:rPr>
              <a:t>   tests automatiques réussis</a:t>
            </a:r>
            <a:endParaRPr lang="en-US" sz="2600" dirty="0"/>
          </a:p>
        </p:txBody>
      </p:sp>
      <p:sp>
        <p:nvSpPr>
          <p:cNvPr id="20" name="Chiffre 4"/>
          <p:cNvSpPr/>
          <p:nvPr/>
        </p:nvSpPr>
        <p:spPr>
          <a:xfrm>
            <a:off x="7223760" y="5257800"/>
            <a:ext cx="4160520" cy="822960"/>
          </a:xfrm>
          <a:prstGeom prst="roundRect">
            <a:avLst>
              <a:gd name="adj" fmla="val 8889"/>
            </a:avLst>
          </a:prstGeom>
          <a:solidFill>
            <a:srgbClr val="334155"/>
          </a:solidFill>
          <a:ln w="12700">
            <a:solidFill>
              <a:srgbClr val="334155"/>
            </a:solidFill>
            <a:prstDash val="solid"/>
          </a:ln>
        </p:spPr>
      </p:sp>
      <p:sp>
        <p:nvSpPr>
          <p:cNvPr id="21" name="Text 15"/>
          <p:cNvSpPr txBox="1"/>
          <p:nvPr/>
        </p:nvSpPr>
        <p:spPr>
          <a:xfrm>
            <a:off x="7406640" y="5257800"/>
            <a:ext cx="3840480" cy="822960"/>
          </a:xfrm>
          <a:prstGeom prst="rect">
            <a:avLst/>
          </a:prstGeom>
          <a:noFill/>
          <a:ln/>
        </p:spPr>
        <p:txBody>
          <a:bodyPr wrap="square" lIns="0" tIns="0" rIns="0" bIns="0" rtlCol="0" anchor="ctr"/>
          <a:lstStyle/>
          <a:p>
            <a:pPr indent="0" marL="0">
              <a:buNone/>
            </a:pPr>
            <a:r>
              <a:rPr lang="en-US" sz="2600" b="1" dirty="0">
                <a:solidFill>
                  <a:srgbClr val="BFD0FA"/>
                </a:solidFill>
              </a:rPr>
              <a:t>0</a:t>
            </a:r>
            <a:pPr indent="0" marL="0">
              <a:buNone/>
            </a:pPr>
            <a:r>
              <a:rPr lang="en-US" sz="1300" dirty="0">
                <a:solidFill>
                  <a:srgbClr val="FFFFFF"/>
                </a:solidFill>
              </a:rPr>
              <a:t>   erreur au validateur HTML</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indent="0" marL="0">
              <a:buNone/>
            </a:pPr>
            <a:r>
              <a:rPr lang="en-US" sz="3000" b="1" dirty="0">
                <a:solidFill>
                  <a:schemeClr val="tx1"/>
                </a:solidFill>
              </a:rPr>
              <a:t>Contexte : des moyennes calculées à la main</a:t>
            </a:r>
            <a:endParaRPr lang="en-US" sz="3000" dirty="0"/>
          </a:p>
        </p:txBody>
      </p:sp>
      <p:sp>
        <p:nvSpPr>
          <p:cNvPr id="4" name="Liste"/>
          <p:cNvSpPr txBox="1"/>
          <p:nvPr/>
        </p:nvSpPr>
        <p:spPr>
          <a:xfrm>
            <a:off x="548640" y="1325880"/>
            <a:ext cx="4754880" cy="3291840"/>
          </a:xfrm>
          <a:prstGeom prst="rect">
            <a:avLst/>
          </a:prstGeom>
          <a:noFill/>
          <a:ln/>
        </p:spPr>
        <p:txBody>
          <a:bodyPr wrap="square" lIns="0" tIns="0" rIns="0" bIns="0" rtlCol="0" anchor="t"/>
          <a:lstStyle/>
          <a:p>
            <a:pPr marL="203200" indent="-203200">
              <a:spcAft>
                <a:spcPts val="800"/>
              </a:spcAft>
              <a:buSzPct val="100000"/>
              <a:buChar char="•"/>
            </a:pPr>
            <a:r>
              <a:rPr lang="en-US" sz="1600" b="1" dirty="0">
                <a:solidFill>
                  <a:schemeClr val="tx1"/>
                </a:solidFill>
              </a:rPr>
              <a:t>Aujourd'hui : </a:t>
            </a:r>
            <a:pPr indent="0" marL="0">
              <a:spcAft>
                <a:spcPts val="800"/>
              </a:spcAft>
              <a:buNone/>
            </a:pPr>
            <a:r>
              <a:rPr lang="en-US" sz="1600" dirty="0">
                <a:solidFill>
                  <a:schemeClr val="tx1"/>
                </a:solidFill>
              </a:rPr>
              <a:t>les moyennes sont calculées à la main sur des feuilles de calcul, avec des risques d'erreur sur les coefficients et les rangs.</a:t>
            </a:r>
            <a:endParaRPr lang="en-US" sz="1600" dirty="0"/>
          </a:p>
          <a:p>
            <a:pPr marL="203200" indent="-203200">
              <a:spcAft>
                <a:spcPts val="800"/>
              </a:spcAft>
              <a:buSzPct val="100000"/>
              <a:buChar char="•"/>
            </a:pPr>
            <a:r>
              <a:rPr lang="en-US" sz="1600" b="1" dirty="0">
                <a:solidFill>
                  <a:schemeClr val="tx1"/>
                </a:solidFill>
              </a:rPr>
              <a:t>Pour les familles : </a:t>
            </a:r>
            <a:pPr indent="0" marL="0">
              <a:spcAft>
                <a:spcPts val="800"/>
              </a:spcAft>
              <a:buNone/>
            </a:pPr>
            <a:r>
              <a:rPr lang="en-US" sz="1600" dirty="0">
                <a:solidFill>
                  <a:schemeClr val="tx1"/>
                </a:solidFill>
              </a:rPr>
              <a:t>les parents doivent se déplacer au lycée pour connaître les résultats.</a:t>
            </a:r>
            <a:endParaRPr lang="en-US" sz="1600" dirty="0"/>
          </a:p>
          <a:p>
            <a:pPr marL="203200" indent="-203200">
              <a:spcAft>
                <a:spcPts val="800"/>
              </a:spcAft>
              <a:buSzPct val="100000"/>
              <a:buChar char="•"/>
            </a:pPr>
            <a:r>
              <a:rPr lang="en-US" sz="1600" b="1" dirty="0">
                <a:solidFill>
                  <a:schemeClr val="tx1"/>
                </a:solidFill>
              </a:rPr>
              <a:t>Demande du proviseur : </a:t>
            </a:r>
            <a:pPr indent="0" marL="0">
              <a:spcAft>
                <a:spcPts val="800"/>
              </a:spcAft>
              <a:buNone/>
            </a:pPr>
            <a:r>
              <a:rPr lang="en-US" sz="1600" dirty="0">
                <a:solidFill>
                  <a:schemeClr val="tx1"/>
                </a:solidFill>
              </a:rPr>
              <a:t>un portail où les enseignants saisissent les notes et où chaque élève (ou parent) consulte son bulletin avec son matricule et un code personnel.</a:t>
            </a:r>
            <a:endParaRPr lang="en-US" sz="1600" dirty="0"/>
          </a:p>
        </p:txBody>
      </p:sp>
      <p:sp>
        <p:nvSpPr>
          <p:cNvPr id="5" name="Encadré objectif"/>
          <p:cNvSpPr/>
          <p:nvPr/>
        </p:nvSpPr>
        <p:spPr>
          <a:xfrm>
            <a:off x="548640" y="4754880"/>
            <a:ext cx="4754880" cy="1280160"/>
          </a:xfrm>
          <a:prstGeom prst="roundRect">
            <a:avLst>
              <a:gd name="adj" fmla="val 7143"/>
            </a:avLst>
          </a:prstGeom>
          <a:solidFill>
            <a:srgbClr val="E8EEFD"/>
          </a:solidFill>
          <a:ln w="12700">
            <a:solidFill>
              <a:srgbClr val="E8EEFD"/>
            </a:solidFill>
            <a:prstDash val="solid"/>
          </a:ln>
        </p:spPr>
      </p:sp>
      <p:sp>
        <p:nvSpPr>
          <p:cNvPr id="6" name="Text 3"/>
          <p:cNvSpPr txBox="1"/>
          <p:nvPr/>
        </p:nvSpPr>
        <p:spPr>
          <a:xfrm>
            <a:off x="777240" y="4846320"/>
            <a:ext cx="4343400" cy="1097280"/>
          </a:xfrm>
          <a:prstGeom prst="rect">
            <a:avLst/>
          </a:prstGeom>
          <a:noFill/>
          <a:ln/>
        </p:spPr>
        <p:txBody>
          <a:bodyPr wrap="square" lIns="0" tIns="0" rIns="0" bIns="0" rtlCol="0" anchor="ctr"/>
          <a:lstStyle/>
          <a:p>
            <a:pPr indent="0" marL="0">
              <a:buNone/>
            </a:pPr>
            <a:r>
              <a:rPr lang="en-US" sz="1400" b="1" dirty="0">
                <a:solidFill>
                  <a:schemeClr val="accent1"/>
                </a:solidFill>
              </a:rPr>
              <a:t>La réponse apportée</a:t>
            </a:r>
            <a:endParaRPr lang="en-US" sz="1400" dirty="0"/>
          </a:p>
          <a:p>
            <a:pPr indent="0" marL="0">
              <a:buNone/>
            </a:pPr>
            <a:r>
              <a:rPr lang="en-US" sz="1400" dirty="0">
                <a:solidFill>
                  <a:schemeClr val="tx1"/>
                </a:solidFill>
              </a:rPr>
              <a:t>Une application Web Flask + SQLite : notes saisies une seule fois, moyennes et rangs calculés automatiquement, bulletins disponibles partout, même sur téléphone.</a:t>
            </a:r>
            <a:endParaRPr lang="en-US" sz="1400" dirty="0"/>
          </a:p>
        </p:txBody>
      </p:sp>
      <p:sp>
        <p:nvSpPr>
          <p:cNvPr id="7" name="Capture : page d'accueil (cadre)"/>
          <p:cNvSpPr/>
          <p:nvPr/>
        </p:nvSpPr>
        <p:spPr>
          <a:xfrm>
            <a:off x="5760720" y="2265680"/>
            <a:ext cx="5852160" cy="2600960"/>
          </a:xfrm>
          <a:prstGeom prst="rect">
            <a:avLst/>
          </a:prstGeom>
          <a:solidFill>
            <a:schemeClr val="bg1"/>
          </a:solidFill>
          <a:ln w="12700">
            <a:solidFill>
              <a:schemeClr val="accent6"/>
            </a:solidFill>
            <a:prstDash val="solid"/>
          </a:ln>
          <a:effectLst>
            <a:outerShdw sx="100000" sy="100000" kx="0" ky="0" algn="bl" rotWithShape="0" blurRad="101600" dist="25400" dir="5400000">
              <a:srgbClr val="0F172A">
                <a:alpha val="18000"/>
              </a:srgbClr>
            </a:outerShdw>
          </a:effectLst>
        </p:spPr>
      </p:sp>
      <p:pic>
        <p:nvPicPr>
          <p:cNvPr id="8" name="Capture : page d'accueil" descr="Capture : page d'accueil">    </p:cNvPr>
          <p:cNvPicPr>
            <a:picLocks noChangeAspect="1"/>
          </p:cNvPicPr>
          <p:nvPr/>
        </p:nvPicPr>
        <p:blipFill>
          <a:blip r:embed="rId1"/>
          <a:stretch>
            <a:fillRect/>
          </a:stretch>
        </p:blipFill>
        <p:spPr>
          <a:xfrm>
            <a:off x="5760720" y="2265680"/>
            <a:ext cx="5852160" cy="2600960"/>
          </a:xfrm>
          <a:prstGeom prst="rect">
            <a:avLst/>
          </a:prstGeom>
        </p:spPr>
      </p:pic>
      <p:sp>
        <p:nvSpPr>
          <p:cNvPr id="9" name="Légende"/>
          <p:cNvSpPr txBox="1"/>
          <p:nvPr/>
        </p:nvSpPr>
        <p:spPr>
          <a:xfrm>
            <a:off x="5760720" y="4976368"/>
            <a:ext cx="5852160" cy="292608"/>
          </a:xfrm>
          <a:prstGeom prst="rect">
            <a:avLst/>
          </a:prstGeom>
          <a:noFill/>
          <a:ln/>
        </p:spPr>
        <p:txBody>
          <a:bodyPr wrap="square" lIns="0" tIns="0" rIns="0" bIns="0" rtlCol="0" anchor="ctr"/>
          <a:lstStyle/>
          <a:p>
            <a:pPr indent="0" marL="0">
              <a:buNone/>
            </a:pPr>
            <a:r>
              <a:rPr lang="en-US" sz="1100" i="1" dirty="0">
                <a:solidFill>
                  <a:schemeClr val="accent5"/>
                </a:solidFill>
              </a:rPr>
              <a:t>Page d'accueil : présentation du portail et connexion élève / enseignant.</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indent="0" marL="0">
              <a:buNone/>
            </a:pPr>
            <a:r>
              <a:rPr lang="en-US" sz="3000" b="1" dirty="0">
                <a:solidFill>
                  <a:schemeClr val="tx1"/>
                </a:solidFill>
              </a:rPr>
              <a:t>Objectifs : trois profils, trois espaces</a:t>
            </a:r>
            <a:endParaRPr lang="en-US" sz="3000" dirty="0"/>
          </a:p>
        </p:txBody>
      </p:sp>
      <p:sp>
        <p:nvSpPr>
          <p:cNvPr id="4" name="Carte Élève / parent"/>
          <p:cNvSpPr/>
          <p:nvPr/>
        </p:nvSpPr>
        <p:spPr>
          <a:xfrm>
            <a:off x="548640" y="1371600"/>
            <a:ext cx="3520440" cy="4663440"/>
          </a:xfrm>
          <a:prstGeom prst="roundRect">
            <a:avLst>
              <a:gd name="adj" fmla="val 2597"/>
            </a:avLst>
          </a:prstGeom>
          <a:solidFill>
            <a:schemeClr val="bg2"/>
          </a:solidFill>
          <a:ln w="12700">
            <a:solidFill>
              <a:schemeClr val="bg2"/>
            </a:solidFill>
            <a:prstDash val="solid"/>
          </a:ln>
        </p:spPr>
      </p:sp>
      <p:sp>
        <p:nvSpPr>
          <p:cNvPr id="5" name="Pastille"/>
          <p:cNvSpPr/>
          <p:nvPr/>
        </p:nvSpPr>
        <p:spPr>
          <a:xfrm>
            <a:off x="822960" y="1645920"/>
            <a:ext cx="777240" cy="777240"/>
          </a:xfrm>
          <a:prstGeom prst="ellipse">
            <a:avLst/>
          </a:prstGeom>
          <a:solidFill>
            <a:srgbClr val="1D4ED8"/>
          </a:solidFill>
          <a:ln w="12700">
            <a:solidFill>
              <a:srgbClr val="1D4ED8"/>
            </a:solidFill>
            <a:prstDash val="solid"/>
          </a:ln>
        </p:spPr>
      </p:sp>
      <p:pic>
        <p:nvPicPr>
          <p:cNvPr id="6" name="Icône LuGraduationCap" descr="preencoded.png">    </p:cNvPr>
          <p:cNvPicPr>
            <a:picLocks noChangeAspect="1"/>
          </p:cNvPicPr>
          <p:nvPr/>
        </p:nvPicPr>
        <p:blipFill>
          <a:blip r:embed="rId1"/>
          <a:stretch>
            <a:fillRect/>
          </a:stretch>
        </p:blipFill>
        <p:spPr>
          <a:xfrm>
            <a:off x="993953" y="1816913"/>
            <a:ext cx="435254" cy="435254"/>
          </a:xfrm>
          <a:prstGeom prst="rect">
            <a:avLst/>
          </a:prstGeom>
        </p:spPr>
      </p:pic>
      <p:sp>
        <p:nvSpPr>
          <p:cNvPr id="7" name="Text 3"/>
          <p:cNvSpPr txBox="1"/>
          <p:nvPr/>
        </p:nvSpPr>
        <p:spPr>
          <a:xfrm>
            <a:off x="822960" y="2560320"/>
            <a:ext cx="3017520" cy="457200"/>
          </a:xfrm>
          <a:prstGeom prst="rect">
            <a:avLst/>
          </a:prstGeom>
          <a:noFill/>
          <a:ln/>
        </p:spPr>
        <p:txBody>
          <a:bodyPr wrap="square" lIns="0" tIns="0" rIns="0" bIns="0" rtlCol="0" anchor="ctr"/>
          <a:lstStyle/>
          <a:p>
            <a:pPr indent="0" marL="0">
              <a:buNone/>
            </a:pPr>
            <a:r>
              <a:rPr lang="en-US" sz="2000" b="1" dirty="0">
                <a:solidFill>
                  <a:schemeClr val="tx1"/>
                </a:solidFill>
              </a:rPr>
              <a:t>Élève / parent</a:t>
            </a:r>
            <a:endParaRPr lang="en-US" sz="2000" dirty="0"/>
          </a:p>
        </p:txBody>
      </p:sp>
      <p:sp>
        <p:nvSpPr>
          <p:cNvPr id="8" name="Liste"/>
          <p:cNvSpPr txBox="1"/>
          <p:nvPr/>
        </p:nvSpPr>
        <p:spPr>
          <a:xfrm>
            <a:off x="822960" y="3154680"/>
            <a:ext cx="3017520" cy="274320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chemeClr val="tx1"/>
                </a:solidFill>
              </a:rPr>
              <a:t>Connexion : matricule + code personnel</a:t>
            </a:r>
            <a:endParaRPr lang="en-US" sz="1500" dirty="0"/>
          </a:p>
          <a:p>
            <a:pPr marL="203200" indent="-203200">
              <a:spcAft>
                <a:spcPts val="800"/>
              </a:spcAft>
              <a:buSzPct val="100000"/>
              <a:buChar char="•"/>
            </a:pPr>
            <a:r>
              <a:rPr lang="en-US" sz="1500" dirty="0">
                <a:solidFill>
                  <a:schemeClr val="tx1"/>
                </a:solidFill>
              </a:rPr>
              <a:t>Bulletin de chaque séquence : moyenne coefficientée, rang</a:t>
            </a:r>
            <a:endParaRPr lang="en-US" sz="1500" dirty="0"/>
          </a:p>
          <a:p>
            <a:pPr marL="203200" indent="-203200">
              <a:spcAft>
                <a:spcPts val="800"/>
              </a:spcAft>
              <a:buSzPct val="100000"/>
              <a:buChar char="•"/>
            </a:pPr>
            <a:r>
              <a:rPr lang="en-US" sz="1500" dirty="0">
                <a:solidFill>
                  <a:schemeClr val="tx1"/>
                </a:solidFill>
              </a:rPr>
              <a:t>Historique et graphique d'évolution</a:t>
            </a:r>
            <a:endParaRPr lang="en-US" sz="1500" dirty="0"/>
          </a:p>
          <a:p>
            <a:pPr marL="203200" indent="-203200">
              <a:spcAft>
                <a:spcPts val="800"/>
              </a:spcAft>
              <a:buSzPct val="100000"/>
              <a:buChar char="•"/>
            </a:pPr>
            <a:r>
              <a:rPr lang="en-US" sz="1500" dirty="0">
                <a:solidFill>
                  <a:schemeClr val="tx1"/>
                </a:solidFill>
              </a:rPr>
              <a:t>Bulletin imprimable (A4)</a:t>
            </a:r>
            <a:endParaRPr lang="en-US" sz="1500" dirty="0"/>
          </a:p>
        </p:txBody>
      </p:sp>
      <p:sp>
        <p:nvSpPr>
          <p:cNvPr id="9" name="Carte Enseignant"/>
          <p:cNvSpPr/>
          <p:nvPr/>
        </p:nvSpPr>
        <p:spPr>
          <a:xfrm>
            <a:off x="4297680" y="1371600"/>
            <a:ext cx="3520440" cy="4663440"/>
          </a:xfrm>
          <a:prstGeom prst="roundRect">
            <a:avLst>
              <a:gd name="adj" fmla="val 2597"/>
            </a:avLst>
          </a:prstGeom>
          <a:solidFill>
            <a:schemeClr val="bg2"/>
          </a:solidFill>
          <a:ln w="12700">
            <a:solidFill>
              <a:schemeClr val="bg2"/>
            </a:solidFill>
            <a:prstDash val="solid"/>
          </a:ln>
        </p:spPr>
      </p:sp>
      <p:sp>
        <p:nvSpPr>
          <p:cNvPr id="10" name="Pastille"/>
          <p:cNvSpPr/>
          <p:nvPr/>
        </p:nvSpPr>
        <p:spPr>
          <a:xfrm>
            <a:off x="4572000" y="1645920"/>
            <a:ext cx="777240" cy="777240"/>
          </a:xfrm>
          <a:prstGeom prst="ellipse">
            <a:avLst/>
          </a:prstGeom>
          <a:solidFill>
            <a:srgbClr val="047857"/>
          </a:solidFill>
          <a:ln w="12700">
            <a:solidFill>
              <a:srgbClr val="047857"/>
            </a:solidFill>
            <a:prstDash val="solid"/>
          </a:ln>
        </p:spPr>
      </p:sp>
      <p:pic>
        <p:nvPicPr>
          <p:cNvPr id="11" name="Icône LuClipboardCheck" descr="preencoded.png">    </p:cNvPr>
          <p:cNvPicPr>
            <a:picLocks noChangeAspect="1"/>
          </p:cNvPicPr>
          <p:nvPr/>
        </p:nvPicPr>
        <p:blipFill>
          <a:blip r:embed="rId2"/>
          <a:stretch>
            <a:fillRect/>
          </a:stretch>
        </p:blipFill>
        <p:spPr>
          <a:xfrm>
            <a:off x="4742993" y="1816913"/>
            <a:ext cx="435254" cy="435254"/>
          </a:xfrm>
          <a:prstGeom prst="rect">
            <a:avLst/>
          </a:prstGeom>
        </p:spPr>
      </p:pic>
      <p:sp>
        <p:nvSpPr>
          <p:cNvPr id="12" name="Text 7"/>
          <p:cNvSpPr txBox="1"/>
          <p:nvPr/>
        </p:nvSpPr>
        <p:spPr>
          <a:xfrm>
            <a:off x="4572000" y="2560320"/>
            <a:ext cx="3017520" cy="457200"/>
          </a:xfrm>
          <a:prstGeom prst="rect">
            <a:avLst/>
          </a:prstGeom>
          <a:noFill/>
          <a:ln/>
        </p:spPr>
        <p:txBody>
          <a:bodyPr wrap="square" lIns="0" tIns="0" rIns="0" bIns="0" rtlCol="0" anchor="ctr"/>
          <a:lstStyle/>
          <a:p>
            <a:pPr indent="0" marL="0">
              <a:buNone/>
            </a:pPr>
            <a:r>
              <a:rPr lang="en-US" sz="2000" b="1" dirty="0">
                <a:solidFill>
                  <a:schemeClr val="tx1"/>
                </a:solidFill>
              </a:rPr>
              <a:t>Enseignant</a:t>
            </a:r>
            <a:endParaRPr lang="en-US" sz="2000" dirty="0"/>
          </a:p>
        </p:txBody>
      </p:sp>
      <p:sp>
        <p:nvSpPr>
          <p:cNvPr id="13" name="Liste"/>
          <p:cNvSpPr txBox="1"/>
          <p:nvPr/>
        </p:nvSpPr>
        <p:spPr>
          <a:xfrm>
            <a:off x="4572000" y="3154680"/>
            <a:ext cx="3017520" cy="274320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chemeClr val="tx1"/>
                </a:solidFill>
              </a:rPr>
              <a:t>Évaluations de ses matières</a:t>
            </a:r>
            <a:endParaRPr lang="en-US" sz="1500" dirty="0"/>
          </a:p>
          <a:p>
            <a:pPr marL="203200" indent="-203200">
              <a:spcAft>
                <a:spcPts val="800"/>
              </a:spcAft>
              <a:buSzPct val="100000"/>
              <a:buChar char="•"/>
            </a:pPr>
            <a:r>
              <a:rPr lang="en-US" sz="1500" dirty="0">
                <a:solidFill>
                  <a:schemeClr val="tx1"/>
                </a:solidFill>
              </a:rPr>
              <a:t>Saisie des notes de toute une classe</a:t>
            </a:r>
            <a:endParaRPr lang="en-US" sz="1500" dirty="0"/>
          </a:p>
          <a:p>
            <a:pPr marL="203200" indent="-203200">
              <a:spcAft>
                <a:spcPts val="800"/>
              </a:spcAft>
              <a:buSzPct val="100000"/>
              <a:buChar char="•"/>
            </a:pPr>
            <a:r>
              <a:rPr lang="en-US" sz="1500" dirty="0">
                <a:solidFill>
                  <a:schemeClr val="tx1"/>
                </a:solidFill>
              </a:rPr>
              <a:t>Correction motivée d'une note</a:t>
            </a:r>
            <a:endParaRPr lang="en-US" sz="1500" dirty="0"/>
          </a:p>
          <a:p>
            <a:pPr marL="203200" indent="-203200">
              <a:spcAft>
                <a:spcPts val="800"/>
              </a:spcAft>
              <a:buSzPct val="100000"/>
              <a:buChar char="•"/>
            </a:pPr>
            <a:r>
              <a:rPr lang="en-US" sz="1500" dirty="0">
                <a:solidFill>
                  <a:schemeClr val="tx1"/>
                </a:solidFill>
              </a:rPr>
              <a:t>Listes de classe, rangs, statistiques</a:t>
            </a:r>
            <a:endParaRPr lang="en-US" sz="1500" dirty="0"/>
          </a:p>
        </p:txBody>
      </p:sp>
      <p:sp>
        <p:nvSpPr>
          <p:cNvPr id="14" name="Carte Administrateur"/>
          <p:cNvSpPr/>
          <p:nvPr/>
        </p:nvSpPr>
        <p:spPr>
          <a:xfrm>
            <a:off x="8046720" y="1371600"/>
            <a:ext cx="3520440" cy="4663440"/>
          </a:xfrm>
          <a:prstGeom prst="roundRect">
            <a:avLst>
              <a:gd name="adj" fmla="val 2597"/>
            </a:avLst>
          </a:prstGeom>
          <a:solidFill>
            <a:schemeClr val="bg2"/>
          </a:solidFill>
          <a:ln w="12700">
            <a:solidFill>
              <a:schemeClr val="bg2"/>
            </a:solidFill>
            <a:prstDash val="solid"/>
          </a:ln>
        </p:spPr>
      </p:sp>
      <p:sp>
        <p:nvSpPr>
          <p:cNvPr id="15" name="Pastille"/>
          <p:cNvSpPr/>
          <p:nvPr/>
        </p:nvSpPr>
        <p:spPr>
          <a:xfrm>
            <a:off x="8321040" y="1645920"/>
            <a:ext cx="777240" cy="777240"/>
          </a:xfrm>
          <a:prstGeom prst="ellipse">
            <a:avLst/>
          </a:prstGeom>
          <a:solidFill>
            <a:srgbClr val="B45309"/>
          </a:solidFill>
          <a:ln w="12700">
            <a:solidFill>
              <a:srgbClr val="B45309"/>
            </a:solidFill>
            <a:prstDash val="solid"/>
          </a:ln>
        </p:spPr>
      </p:sp>
      <p:pic>
        <p:nvPicPr>
          <p:cNvPr id="16" name="Icône LuUserCog" descr="preencoded.png">    </p:cNvPr>
          <p:cNvPicPr>
            <a:picLocks noChangeAspect="1"/>
          </p:cNvPicPr>
          <p:nvPr/>
        </p:nvPicPr>
        <p:blipFill>
          <a:blip r:embed="rId3"/>
          <a:stretch>
            <a:fillRect/>
          </a:stretch>
        </p:blipFill>
        <p:spPr>
          <a:xfrm>
            <a:off x="8492033" y="1816913"/>
            <a:ext cx="435254" cy="435254"/>
          </a:xfrm>
          <a:prstGeom prst="rect">
            <a:avLst/>
          </a:prstGeom>
        </p:spPr>
      </p:pic>
      <p:sp>
        <p:nvSpPr>
          <p:cNvPr id="17" name="Text 11"/>
          <p:cNvSpPr txBox="1"/>
          <p:nvPr/>
        </p:nvSpPr>
        <p:spPr>
          <a:xfrm>
            <a:off x="8321040" y="2560320"/>
            <a:ext cx="3017520" cy="457200"/>
          </a:xfrm>
          <a:prstGeom prst="rect">
            <a:avLst/>
          </a:prstGeom>
          <a:noFill/>
          <a:ln/>
        </p:spPr>
        <p:txBody>
          <a:bodyPr wrap="square" lIns="0" tIns="0" rIns="0" bIns="0" rtlCol="0" anchor="ctr"/>
          <a:lstStyle/>
          <a:p>
            <a:pPr indent="0" marL="0">
              <a:buNone/>
            </a:pPr>
            <a:r>
              <a:rPr lang="en-US" sz="2000" b="1" dirty="0">
                <a:solidFill>
                  <a:schemeClr val="tx1"/>
                </a:solidFill>
              </a:rPr>
              <a:t>Administrateur</a:t>
            </a:r>
            <a:endParaRPr lang="en-US" sz="2000" dirty="0"/>
          </a:p>
        </p:txBody>
      </p:sp>
      <p:sp>
        <p:nvSpPr>
          <p:cNvPr id="18" name="Liste"/>
          <p:cNvSpPr txBox="1"/>
          <p:nvPr/>
        </p:nvSpPr>
        <p:spPr>
          <a:xfrm>
            <a:off x="8321040" y="3154680"/>
            <a:ext cx="3017520" cy="2743200"/>
          </a:xfrm>
          <a:prstGeom prst="rect">
            <a:avLst/>
          </a:prstGeom>
          <a:noFill/>
          <a:ln/>
        </p:spPr>
        <p:txBody>
          <a:bodyPr wrap="square" lIns="0" tIns="0" rIns="0" bIns="0" rtlCol="0" anchor="t"/>
          <a:lstStyle/>
          <a:p>
            <a:pPr marL="203200" indent="-203200">
              <a:spcAft>
                <a:spcPts val="800"/>
              </a:spcAft>
              <a:buSzPct val="100000"/>
              <a:buChar char="•"/>
            </a:pPr>
            <a:r>
              <a:rPr lang="en-US" sz="1500" dirty="0">
                <a:solidFill>
                  <a:schemeClr val="tx1"/>
                </a:solidFill>
              </a:rPr>
              <a:t>Création et modification des classes</a:t>
            </a:r>
            <a:endParaRPr lang="en-US" sz="1500" dirty="0"/>
          </a:p>
          <a:p>
            <a:pPr marL="203200" indent="-203200">
              <a:spcAft>
                <a:spcPts val="800"/>
              </a:spcAft>
              <a:buSzPct val="100000"/>
              <a:buChar char="•"/>
            </a:pPr>
            <a:r>
              <a:rPr lang="en-US" sz="1500" dirty="0">
                <a:solidFill>
                  <a:schemeClr val="tx1"/>
                </a:solidFill>
              </a:rPr>
              <a:t>Inscription des élèves, codes d'accès</a:t>
            </a:r>
            <a:endParaRPr lang="en-US" sz="1500" dirty="0"/>
          </a:p>
          <a:p>
            <a:pPr marL="203200" indent="-203200">
              <a:spcAft>
                <a:spcPts val="800"/>
              </a:spcAft>
              <a:buSzPct val="100000"/>
              <a:buChar char="•"/>
            </a:pPr>
            <a:r>
              <a:rPr lang="en-US" sz="1500" dirty="0">
                <a:solidFill>
                  <a:schemeClr val="tx1"/>
                </a:solidFill>
              </a:rPr>
              <a:t>Import CSV, XLSX, XLS ou ODS</a:t>
            </a:r>
            <a:endParaRPr lang="en-US" sz="1500" dirty="0"/>
          </a:p>
          <a:p>
            <a:pPr marL="203200" indent="-203200">
              <a:spcAft>
                <a:spcPts val="800"/>
              </a:spcAft>
              <a:buSzPct val="100000"/>
              <a:buChar char="•"/>
            </a:pPr>
            <a:r>
              <a:rPr lang="en-US" sz="1500" dirty="0">
                <a:solidFill>
                  <a:schemeClr val="tx1"/>
                </a:solidFill>
              </a:rPr>
              <a:t>Export CSV des élèves</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indent="0" marL="0">
              <a:buNone/>
            </a:pPr>
            <a:r>
              <a:rPr lang="en-US" sz="3000" b="1" dirty="0">
                <a:solidFill>
                  <a:schemeClr val="tx1"/>
                </a:solidFill>
              </a:rPr>
              <a:t>Plan du site</a:t>
            </a:r>
            <a:endParaRPr lang="en-US" sz="3000" dirty="0"/>
          </a:p>
        </p:txBody>
      </p:sp>
      <p:sp>
        <p:nvSpPr>
          <p:cNvPr id="4" name="Page Accueil · connexion"/>
          <p:cNvSpPr/>
          <p:nvPr/>
        </p:nvSpPr>
        <p:spPr>
          <a:xfrm>
            <a:off x="4709160" y="1280160"/>
            <a:ext cx="2743200" cy="502920"/>
          </a:xfrm>
          <a:prstGeom prst="roundRect">
            <a:avLst>
              <a:gd name="adj" fmla="val 14545"/>
            </a:avLst>
          </a:prstGeom>
          <a:solidFill>
            <a:srgbClr val="0F172A"/>
          </a:solidFill>
          <a:ln w="19050">
            <a:solidFill>
              <a:srgbClr val="0F172A"/>
            </a:solidFill>
            <a:prstDash val="solid"/>
          </a:ln>
        </p:spPr>
      </p:sp>
      <p:sp>
        <p:nvSpPr>
          <p:cNvPr id="5" name="Text 2"/>
          <p:cNvSpPr txBox="1"/>
          <p:nvPr/>
        </p:nvSpPr>
        <p:spPr>
          <a:xfrm>
            <a:off x="4709160" y="1280160"/>
            <a:ext cx="2743200" cy="502920"/>
          </a:xfrm>
          <a:prstGeom prst="rect">
            <a:avLst/>
          </a:prstGeom>
          <a:noFill/>
          <a:ln/>
        </p:spPr>
        <p:txBody>
          <a:bodyPr wrap="square" lIns="25400" tIns="25400" rIns="25400" bIns="25400" rtlCol="0" anchor="ctr"/>
          <a:lstStyle/>
          <a:p>
            <a:pPr algn="ctr" indent="0" marL="0">
              <a:buNone/>
            </a:pPr>
            <a:r>
              <a:rPr lang="en-US" sz="1300" b="1" dirty="0">
                <a:solidFill>
                  <a:schemeClr val="bg1"/>
                </a:solidFill>
              </a:rPr>
              <a:t>Accueil · connexion</a:t>
            </a:r>
            <a:endParaRPr lang="en-US" sz="1300" dirty="0"/>
          </a:p>
        </p:txBody>
      </p:sp>
      <p:sp>
        <p:nvSpPr>
          <p:cNvPr id="6" name="Lien"/>
          <p:cNvSpPr/>
          <p:nvPr/>
        </p:nvSpPr>
        <p:spPr>
          <a:xfrm flipH="1">
            <a:off x="2286000" y="1783080"/>
            <a:ext cx="3794760" cy="548640"/>
          </a:xfrm>
          <a:prstGeom prst="line">
            <a:avLst/>
          </a:prstGeom>
          <a:noFill/>
          <a:ln w="19050">
            <a:solidFill>
              <a:srgbClr val="94A3B8"/>
            </a:solidFill>
            <a:prstDash val="solid"/>
            <a:tailEnd type="triangle"/>
          </a:ln>
        </p:spPr>
      </p:sp>
      <p:sp>
        <p:nvSpPr>
          <p:cNvPr id="7" name="Page Espace élève"/>
          <p:cNvSpPr/>
          <p:nvPr/>
        </p:nvSpPr>
        <p:spPr>
          <a:xfrm>
            <a:off x="731520" y="2377440"/>
            <a:ext cx="3108960" cy="502920"/>
          </a:xfrm>
          <a:prstGeom prst="roundRect">
            <a:avLst>
              <a:gd name="adj" fmla="val 14545"/>
            </a:avLst>
          </a:prstGeom>
          <a:solidFill>
            <a:srgbClr val="1D4ED8"/>
          </a:solidFill>
          <a:ln w="19050">
            <a:solidFill>
              <a:srgbClr val="1D4ED8"/>
            </a:solidFill>
            <a:prstDash val="solid"/>
          </a:ln>
        </p:spPr>
      </p:sp>
      <p:sp>
        <p:nvSpPr>
          <p:cNvPr id="8" name="Text 5"/>
          <p:cNvSpPr txBox="1"/>
          <p:nvPr/>
        </p:nvSpPr>
        <p:spPr>
          <a:xfrm>
            <a:off x="731520" y="2377440"/>
            <a:ext cx="3108960" cy="502920"/>
          </a:xfrm>
          <a:prstGeom prst="rect">
            <a:avLst/>
          </a:prstGeom>
          <a:noFill/>
          <a:ln/>
        </p:spPr>
        <p:txBody>
          <a:bodyPr wrap="square" lIns="25400" tIns="25400" rIns="25400" bIns="25400" rtlCol="0" anchor="ctr"/>
          <a:lstStyle/>
          <a:p>
            <a:pPr algn="ctr" indent="0" marL="0">
              <a:buNone/>
            </a:pPr>
            <a:r>
              <a:rPr lang="en-US" sz="1300" b="1" dirty="0">
                <a:solidFill>
                  <a:schemeClr val="bg1"/>
                </a:solidFill>
              </a:rPr>
              <a:t>Espace élève</a:t>
            </a:r>
            <a:endParaRPr lang="en-US" sz="1300" dirty="0"/>
          </a:p>
        </p:txBody>
      </p:sp>
      <p:sp>
        <p:nvSpPr>
          <p:cNvPr id="9" name="Page Bulletin S1 à S6"/>
          <p:cNvSpPr/>
          <p:nvPr/>
        </p:nvSpPr>
        <p:spPr>
          <a:xfrm>
            <a:off x="914400" y="3108960"/>
            <a:ext cx="2743200" cy="438912"/>
          </a:xfrm>
          <a:prstGeom prst="roundRect">
            <a:avLst>
              <a:gd name="adj" fmla="val 16667"/>
            </a:avLst>
          </a:prstGeom>
          <a:solidFill>
            <a:srgbClr val="F1F5F9"/>
          </a:solidFill>
          <a:ln w="19050">
            <a:solidFill>
              <a:srgbClr val="1D4ED8"/>
            </a:solidFill>
            <a:prstDash val="solid"/>
          </a:ln>
        </p:spPr>
      </p:sp>
      <p:sp>
        <p:nvSpPr>
          <p:cNvPr id="10" name="Text 7"/>
          <p:cNvSpPr txBox="1"/>
          <p:nvPr/>
        </p:nvSpPr>
        <p:spPr>
          <a:xfrm>
            <a:off x="914400" y="3108960"/>
            <a:ext cx="2743200" cy="438912"/>
          </a:xfrm>
          <a:prstGeom prst="rect">
            <a:avLst/>
          </a:prstGeom>
          <a:noFill/>
          <a:ln/>
        </p:spPr>
        <p:txBody>
          <a:bodyPr wrap="square" lIns="25400" tIns="25400" rIns="25400" bIns="25400" rtlCol="0" anchor="ctr"/>
          <a:lstStyle/>
          <a:p>
            <a:pPr algn="ctr" indent="0" marL="0">
              <a:buNone/>
            </a:pPr>
            <a:r>
              <a:rPr lang="en-US" sz="1300" dirty="0">
                <a:solidFill>
                  <a:schemeClr val="tx1"/>
                </a:solidFill>
              </a:rPr>
              <a:t>Bulletin S1 à S6</a:t>
            </a:r>
            <a:endParaRPr lang="en-US" sz="1300" dirty="0"/>
          </a:p>
        </p:txBody>
      </p:sp>
      <p:sp>
        <p:nvSpPr>
          <p:cNvPr id="11" name="Lien"/>
          <p:cNvSpPr/>
          <p:nvPr/>
        </p:nvSpPr>
        <p:spPr>
          <a:xfrm>
            <a:off x="2286000" y="2880360"/>
            <a:ext cx="914" cy="228600"/>
          </a:xfrm>
          <a:prstGeom prst="line">
            <a:avLst/>
          </a:prstGeom>
          <a:noFill/>
          <a:ln w="19050">
            <a:solidFill>
              <a:srgbClr val="94A3B8"/>
            </a:solidFill>
            <a:prstDash val="solid"/>
            <a:tailEnd type="triangle"/>
          </a:ln>
        </p:spPr>
      </p:sp>
      <p:sp>
        <p:nvSpPr>
          <p:cNvPr id="12" name="Page Historique + graphique"/>
          <p:cNvSpPr/>
          <p:nvPr/>
        </p:nvSpPr>
        <p:spPr>
          <a:xfrm>
            <a:off x="914400" y="3639312"/>
            <a:ext cx="2743200" cy="438912"/>
          </a:xfrm>
          <a:prstGeom prst="roundRect">
            <a:avLst>
              <a:gd name="adj" fmla="val 16667"/>
            </a:avLst>
          </a:prstGeom>
          <a:solidFill>
            <a:srgbClr val="F1F5F9"/>
          </a:solidFill>
          <a:ln w="19050">
            <a:solidFill>
              <a:srgbClr val="1D4ED8"/>
            </a:solidFill>
            <a:prstDash val="solid"/>
          </a:ln>
        </p:spPr>
      </p:sp>
      <p:sp>
        <p:nvSpPr>
          <p:cNvPr id="13" name="Text 10"/>
          <p:cNvSpPr txBox="1"/>
          <p:nvPr/>
        </p:nvSpPr>
        <p:spPr>
          <a:xfrm>
            <a:off x="914400" y="3639312"/>
            <a:ext cx="2743200" cy="438912"/>
          </a:xfrm>
          <a:prstGeom prst="rect">
            <a:avLst/>
          </a:prstGeom>
          <a:noFill/>
          <a:ln/>
        </p:spPr>
        <p:txBody>
          <a:bodyPr wrap="square" lIns="25400" tIns="25400" rIns="25400" bIns="25400" rtlCol="0" anchor="ctr"/>
          <a:lstStyle/>
          <a:p>
            <a:pPr algn="ctr" indent="0" marL="0">
              <a:buNone/>
            </a:pPr>
            <a:r>
              <a:rPr lang="en-US" sz="1300" dirty="0">
                <a:solidFill>
                  <a:schemeClr val="tx1"/>
                </a:solidFill>
              </a:rPr>
              <a:t>Historique + graphique</a:t>
            </a:r>
            <a:endParaRPr lang="en-US" sz="1300" dirty="0"/>
          </a:p>
        </p:txBody>
      </p:sp>
      <p:sp>
        <p:nvSpPr>
          <p:cNvPr id="14" name="Page Impression A4"/>
          <p:cNvSpPr/>
          <p:nvPr/>
        </p:nvSpPr>
        <p:spPr>
          <a:xfrm>
            <a:off x="914400" y="4169664"/>
            <a:ext cx="2743200" cy="438912"/>
          </a:xfrm>
          <a:prstGeom prst="roundRect">
            <a:avLst>
              <a:gd name="adj" fmla="val 16667"/>
            </a:avLst>
          </a:prstGeom>
          <a:solidFill>
            <a:srgbClr val="F1F5F9"/>
          </a:solidFill>
          <a:ln w="19050">
            <a:solidFill>
              <a:srgbClr val="1D4ED8"/>
            </a:solidFill>
            <a:prstDash val="solid"/>
          </a:ln>
        </p:spPr>
      </p:sp>
      <p:sp>
        <p:nvSpPr>
          <p:cNvPr id="15" name="Text 12"/>
          <p:cNvSpPr txBox="1"/>
          <p:nvPr/>
        </p:nvSpPr>
        <p:spPr>
          <a:xfrm>
            <a:off x="914400" y="4169664"/>
            <a:ext cx="2743200" cy="438912"/>
          </a:xfrm>
          <a:prstGeom prst="rect">
            <a:avLst/>
          </a:prstGeom>
          <a:noFill/>
          <a:ln/>
        </p:spPr>
        <p:txBody>
          <a:bodyPr wrap="square" lIns="25400" tIns="25400" rIns="25400" bIns="25400" rtlCol="0" anchor="ctr"/>
          <a:lstStyle/>
          <a:p>
            <a:pPr algn="ctr" indent="0" marL="0">
              <a:buNone/>
            </a:pPr>
            <a:r>
              <a:rPr lang="en-US" sz="1300" dirty="0">
                <a:solidFill>
                  <a:schemeClr val="tx1"/>
                </a:solidFill>
              </a:rPr>
              <a:t>Impression A4</a:t>
            </a:r>
            <a:endParaRPr lang="en-US" sz="1300" dirty="0"/>
          </a:p>
        </p:txBody>
      </p:sp>
      <p:sp>
        <p:nvSpPr>
          <p:cNvPr id="16" name="Lien"/>
          <p:cNvSpPr/>
          <p:nvPr/>
        </p:nvSpPr>
        <p:spPr>
          <a:xfrm>
            <a:off x="6080760" y="1783080"/>
            <a:ext cx="914" cy="548640"/>
          </a:xfrm>
          <a:prstGeom prst="line">
            <a:avLst/>
          </a:prstGeom>
          <a:noFill/>
          <a:ln w="19050">
            <a:solidFill>
              <a:srgbClr val="94A3B8"/>
            </a:solidFill>
            <a:prstDash val="solid"/>
            <a:tailEnd type="triangle"/>
          </a:ln>
        </p:spPr>
      </p:sp>
      <p:sp>
        <p:nvSpPr>
          <p:cNvPr id="17" name="Page Espace enseignant"/>
          <p:cNvSpPr/>
          <p:nvPr/>
        </p:nvSpPr>
        <p:spPr>
          <a:xfrm>
            <a:off x="4526280" y="2377440"/>
            <a:ext cx="3108960" cy="502920"/>
          </a:xfrm>
          <a:prstGeom prst="roundRect">
            <a:avLst>
              <a:gd name="adj" fmla="val 14545"/>
            </a:avLst>
          </a:prstGeom>
          <a:solidFill>
            <a:srgbClr val="047857"/>
          </a:solidFill>
          <a:ln w="19050">
            <a:solidFill>
              <a:srgbClr val="047857"/>
            </a:solidFill>
            <a:prstDash val="solid"/>
          </a:ln>
        </p:spPr>
      </p:sp>
      <p:sp>
        <p:nvSpPr>
          <p:cNvPr id="18" name="Text 15"/>
          <p:cNvSpPr txBox="1"/>
          <p:nvPr/>
        </p:nvSpPr>
        <p:spPr>
          <a:xfrm>
            <a:off x="4526280" y="2377440"/>
            <a:ext cx="3108960" cy="502920"/>
          </a:xfrm>
          <a:prstGeom prst="rect">
            <a:avLst/>
          </a:prstGeom>
          <a:noFill/>
          <a:ln/>
        </p:spPr>
        <p:txBody>
          <a:bodyPr wrap="square" lIns="25400" tIns="25400" rIns="25400" bIns="25400" rtlCol="0" anchor="ctr"/>
          <a:lstStyle/>
          <a:p>
            <a:pPr algn="ctr" indent="0" marL="0">
              <a:buNone/>
            </a:pPr>
            <a:r>
              <a:rPr lang="en-US" sz="1300" b="1" dirty="0">
                <a:solidFill>
                  <a:schemeClr val="bg1"/>
                </a:solidFill>
              </a:rPr>
              <a:t>Espace enseignant</a:t>
            </a:r>
            <a:endParaRPr lang="en-US" sz="1300" dirty="0"/>
          </a:p>
        </p:txBody>
      </p:sp>
      <p:sp>
        <p:nvSpPr>
          <p:cNvPr id="19" name="Page Tableau de bord"/>
          <p:cNvSpPr/>
          <p:nvPr/>
        </p:nvSpPr>
        <p:spPr>
          <a:xfrm>
            <a:off x="4709160" y="3108960"/>
            <a:ext cx="2743200" cy="438912"/>
          </a:xfrm>
          <a:prstGeom prst="roundRect">
            <a:avLst>
              <a:gd name="adj" fmla="val 16667"/>
            </a:avLst>
          </a:prstGeom>
          <a:solidFill>
            <a:srgbClr val="F1F5F9"/>
          </a:solidFill>
          <a:ln w="19050">
            <a:solidFill>
              <a:srgbClr val="047857"/>
            </a:solidFill>
            <a:prstDash val="solid"/>
          </a:ln>
        </p:spPr>
      </p:sp>
      <p:sp>
        <p:nvSpPr>
          <p:cNvPr id="20" name="Text 17"/>
          <p:cNvSpPr txBox="1"/>
          <p:nvPr/>
        </p:nvSpPr>
        <p:spPr>
          <a:xfrm>
            <a:off x="4709160" y="3108960"/>
            <a:ext cx="2743200" cy="438912"/>
          </a:xfrm>
          <a:prstGeom prst="rect">
            <a:avLst/>
          </a:prstGeom>
          <a:noFill/>
          <a:ln/>
        </p:spPr>
        <p:txBody>
          <a:bodyPr wrap="square" lIns="25400" tIns="25400" rIns="25400" bIns="25400" rtlCol="0" anchor="ctr"/>
          <a:lstStyle/>
          <a:p>
            <a:pPr algn="ctr" indent="0" marL="0">
              <a:buNone/>
            </a:pPr>
            <a:r>
              <a:rPr lang="en-US" sz="1300" dirty="0">
                <a:solidFill>
                  <a:schemeClr val="tx1"/>
                </a:solidFill>
              </a:rPr>
              <a:t>Tableau de bord</a:t>
            </a:r>
            <a:endParaRPr lang="en-US" sz="1300" dirty="0"/>
          </a:p>
        </p:txBody>
      </p:sp>
      <p:sp>
        <p:nvSpPr>
          <p:cNvPr id="21" name="Lien"/>
          <p:cNvSpPr/>
          <p:nvPr/>
        </p:nvSpPr>
        <p:spPr>
          <a:xfrm>
            <a:off x="6080760" y="2880360"/>
            <a:ext cx="914" cy="228600"/>
          </a:xfrm>
          <a:prstGeom prst="line">
            <a:avLst/>
          </a:prstGeom>
          <a:noFill/>
          <a:ln w="19050">
            <a:solidFill>
              <a:srgbClr val="94A3B8"/>
            </a:solidFill>
            <a:prstDash val="solid"/>
            <a:tailEnd type="triangle"/>
          </a:ln>
        </p:spPr>
      </p:sp>
      <p:sp>
        <p:nvSpPr>
          <p:cNvPr id="22" name="Page Évaluations → saisie"/>
          <p:cNvSpPr/>
          <p:nvPr/>
        </p:nvSpPr>
        <p:spPr>
          <a:xfrm>
            <a:off x="4709160" y="3639312"/>
            <a:ext cx="2743200" cy="438912"/>
          </a:xfrm>
          <a:prstGeom prst="roundRect">
            <a:avLst>
              <a:gd name="adj" fmla="val 16667"/>
            </a:avLst>
          </a:prstGeom>
          <a:solidFill>
            <a:srgbClr val="F1F5F9"/>
          </a:solidFill>
          <a:ln w="19050">
            <a:solidFill>
              <a:srgbClr val="047857"/>
            </a:solidFill>
            <a:prstDash val="solid"/>
          </a:ln>
        </p:spPr>
      </p:sp>
      <p:sp>
        <p:nvSpPr>
          <p:cNvPr id="23" name="Text 20"/>
          <p:cNvSpPr txBox="1"/>
          <p:nvPr/>
        </p:nvSpPr>
        <p:spPr>
          <a:xfrm>
            <a:off x="4709160" y="3639312"/>
            <a:ext cx="2743200" cy="438912"/>
          </a:xfrm>
          <a:prstGeom prst="rect">
            <a:avLst/>
          </a:prstGeom>
          <a:noFill/>
          <a:ln/>
        </p:spPr>
        <p:txBody>
          <a:bodyPr wrap="square" lIns="25400" tIns="25400" rIns="25400" bIns="25400" rtlCol="0" anchor="ctr"/>
          <a:lstStyle/>
          <a:p>
            <a:pPr algn="ctr" indent="0" marL="0">
              <a:buNone/>
            </a:pPr>
            <a:r>
              <a:rPr lang="en-US" sz="1300" dirty="0">
                <a:solidFill>
                  <a:schemeClr val="tx1"/>
                </a:solidFill>
              </a:rPr>
              <a:t>Évaluations → saisie</a:t>
            </a:r>
            <a:endParaRPr lang="en-US" sz="1300" dirty="0"/>
          </a:p>
        </p:txBody>
      </p:sp>
      <p:sp>
        <p:nvSpPr>
          <p:cNvPr id="24" name="Page Correction d'une note"/>
          <p:cNvSpPr/>
          <p:nvPr/>
        </p:nvSpPr>
        <p:spPr>
          <a:xfrm>
            <a:off x="4709160" y="4169664"/>
            <a:ext cx="2743200" cy="438912"/>
          </a:xfrm>
          <a:prstGeom prst="roundRect">
            <a:avLst>
              <a:gd name="adj" fmla="val 16667"/>
            </a:avLst>
          </a:prstGeom>
          <a:solidFill>
            <a:srgbClr val="F1F5F9"/>
          </a:solidFill>
          <a:ln w="19050">
            <a:solidFill>
              <a:srgbClr val="047857"/>
            </a:solidFill>
            <a:prstDash val="solid"/>
          </a:ln>
        </p:spPr>
      </p:sp>
      <p:sp>
        <p:nvSpPr>
          <p:cNvPr id="25" name="Text 22"/>
          <p:cNvSpPr txBox="1"/>
          <p:nvPr/>
        </p:nvSpPr>
        <p:spPr>
          <a:xfrm>
            <a:off x="4709160" y="4169664"/>
            <a:ext cx="2743200" cy="438912"/>
          </a:xfrm>
          <a:prstGeom prst="rect">
            <a:avLst/>
          </a:prstGeom>
          <a:noFill/>
          <a:ln/>
        </p:spPr>
        <p:txBody>
          <a:bodyPr wrap="square" lIns="25400" tIns="25400" rIns="25400" bIns="25400" rtlCol="0" anchor="ctr"/>
          <a:lstStyle/>
          <a:p>
            <a:pPr algn="ctr" indent="0" marL="0">
              <a:buNone/>
            </a:pPr>
            <a:r>
              <a:rPr lang="en-US" sz="1300" dirty="0">
                <a:solidFill>
                  <a:schemeClr val="tx1"/>
                </a:solidFill>
              </a:rPr>
              <a:t>Correction d'une note</a:t>
            </a:r>
            <a:endParaRPr lang="en-US" sz="1300" dirty="0"/>
          </a:p>
        </p:txBody>
      </p:sp>
      <p:sp>
        <p:nvSpPr>
          <p:cNvPr id="26" name="Page Listes de classe → fiche élève"/>
          <p:cNvSpPr/>
          <p:nvPr/>
        </p:nvSpPr>
        <p:spPr>
          <a:xfrm>
            <a:off x="4709160" y="4700016"/>
            <a:ext cx="2743200" cy="438912"/>
          </a:xfrm>
          <a:prstGeom prst="roundRect">
            <a:avLst>
              <a:gd name="adj" fmla="val 16667"/>
            </a:avLst>
          </a:prstGeom>
          <a:solidFill>
            <a:srgbClr val="F1F5F9"/>
          </a:solidFill>
          <a:ln w="19050">
            <a:solidFill>
              <a:srgbClr val="047857"/>
            </a:solidFill>
            <a:prstDash val="solid"/>
          </a:ln>
        </p:spPr>
      </p:sp>
      <p:sp>
        <p:nvSpPr>
          <p:cNvPr id="27" name="Text 24"/>
          <p:cNvSpPr txBox="1"/>
          <p:nvPr/>
        </p:nvSpPr>
        <p:spPr>
          <a:xfrm>
            <a:off x="4709160" y="4700016"/>
            <a:ext cx="2743200" cy="438912"/>
          </a:xfrm>
          <a:prstGeom prst="rect">
            <a:avLst/>
          </a:prstGeom>
          <a:noFill/>
          <a:ln/>
        </p:spPr>
        <p:txBody>
          <a:bodyPr wrap="square" lIns="25400" tIns="25400" rIns="25400" bIns="25400" rtlCol="0" anchor="ctr"/>
          <a:lstStyle/>
          <a:p>
            <a:pPr algn="ctr" indent="0" marL="0">
              <a:buNone/>
            </a:pPr>
            <a:r>
              <a:rPr lang="en-US" sz="1300" dirty="0">
                <a:solidFill>
                  <a:schemeClr val="tx1"/>
                </a:solidFill>
              </a:rPr>
              <a:t>Listes de classe → fiche élève</a:t>
            </a:r>
            <a:endParaRPr lang="en-US" sz="1300" dirty="0"/>
          </a:p>
        </p:txBody>
      </p:sp>
      <p:sp>
        <p:nvSpPr>
          <p:cNvPr id="28" name="Page Statistiques"/>
          <p:cNvSpPr/>
          <p:nvPr/>
        </p:nvSpPr>
        <p:spPr>
          <a:xfrm>
            <a:off x="4709160" y="5230368"/>
            <a:ext cx="2743200" cy="438912"/>
          </a:xfrm>
          <a:prstGeom prst="roundRect">
            <a:avLst>
              <a:gd name="adj" fmla="val 16667"/>
            </a:avLst>
          </a:prstGeom>
          <a:solidFill>
            <a:srgbClr val="F1F5F9"/>
          </a:solidFill>
          <a:ln w="19050">
            <a:solidFill>
              <a:srgbClr val="047857"/>
            </a:solidFill>
            <a:prstDash val="solid"/>
          </a:ln>
        </p:spPr>
      </p:sp>
      <p:sp>
        <p:nvSpPr>
          <p:cNvPr id="29" name="Text 26"/>
          <p:cNvSpPr txBox="1"/>
          <p:nvPr/>
        </p:nvSpPr>
        <p:spPr>
          <a:xfrm>
            <a:off x="4709160" y="5230368"/>
            <a:ext cx="2743200" cy="438912"/>
          </a:xfrm>
          <a:prstGeom prst="rect">
            <a:avLst/>
          </a:prstGeom>
          <a:noFill/>
          <a:ln/>
        </p:spPr>
        <p:txBody>
          <a:bodyPr wrap="square" lIns="25400" tIns="25400" rIns="25400" bIns="25400" rtlCol="0" anchor="ctr"/>
          <a:lstStyle/>
          <a:p>
            <a:pPr algn="ctr" indent="0" marL="0">
              <a:buNone/>
            </a:pPr>
            <a:r>
              <a:rPr lang="en-US" sz="1300" dirty="0">
                <a:solidFill>
                  <a:schemeClr val="tx1"/>
                </a:solidFill>
              </a:rPr>
              <a:t>Statistiques</a:t>
            </a:r>
            <a:endParaRPr lang="en-US" sz="1300" dirty="0"/>
          </a:p>
        </p:txBody>
      </p:sp>
      <p:sp>
        <p:nvSpPr>
          <p:cNvPr id="30" name="Lien"/>
          <p:cNvSpPr/>
          <p:nvPr/>
        </p:nvSpPr>
        <p:spPr>
          <a:xfrm>
            <a:off x="6080760" y="1783080"/>
            <a:ext cx="3794760" cy="548640"/>
          </a:xfrm>
          <a:prstGeom prst="line">
            <a:avLst/>
          </a:prstGeom>
          <a:noFill/>
          <a:ln w="19050">
            <a:solidFill>
              <a:srgbClr val="94A3B8"/>
            </a:solidFill>
            <a:prstDash val="solid"/>
            <a:tailEnd type="triangle"/>
          </a:ln>
        </p:spPr>
      </p:sp>
      <p:sp>
        <p:nvSpPr>
          <p:cNvPr id="31" name="Page Administration"/>
          <p:cNvSpPr/>
          <p:nvPr/>
        </p:nvSpPr>
        <p:spPr>
          <a:xfrm>
            <a:off x="8321040" y="2377440"/>
            <a:ext cx="3108960" cy="502920"/>
          </a:xfrm>
          <a:prstGeom prst="roundRect">
            <a:avLst>
              <a:gd name="adj" fmla="val 14545"/>
            </a:avLst>
          </a:prstGeom>
          <a:solidFill>
            <a:srgbClr val="B45309"/>
          </a:solidFill>
          <a:ln w="19050">
            <a:solidFill>
              <a:srgbClr val="B45309"/>
            </a:solidFill>
            <a:prstDash val="solid"/>
          </a:ln>
        </p:spPr>
      </p:sp>
      <p:sp>
        <p:nvSpPr>
          <p:cNvPr id="32" name="Text 29"/>
          <p:cNvSpPr txBox="1"/>
          <p:nvPr/>
        </p:nvSpPr>
        <p:spPr>
          <a:xfrm>
            <a:off x="8321040" y="2377440"/>
            <a:ext cx="3108960" cy="502920"/>
          </a:xfrm>
          <a:prstGeom prst="rect">
            <a:avLst/>
          </a:prstGeom>
          <a:noFill/>
          <a:ln/>
        </p:spPr>
        <p:txBody>
          <a:bodyPr wrap="square" lIns="25400" tIns="25400" rIns="25400" bIns="25400" rtlCol="0" anchor="ctr"/>
          <a:lstStyle/>
          <a:p>
            <a:pPr algn="ctr" indent="0" marL="0">
              <a:buNone/>
            </a:pPr>
            <a:r>
              <a:rPr lang="en-US" sz="1300" b="1" dirty="0">
                <a:solidFill>
                  <a:schemeClr val="bg1"/>
                </a:solidFill>
              </a:rPr>
              <a:t>Administration</a:t>
            </a:r>
            <a:endParaRPr lang="en-US" sz="1300" dirty="0"/>
          </a:p>
        </p:txBody>
      </p:sp>
      <p:sp>
        <p:nvSpPr>
          <p:cNvPr id="33" name="Page Classes"/>
          <p:cNvSpPr/>
          <p:nvPr/>
        </p:nvSpPr>
        <p:spPr>
          <a:xfrm>
            <a:off x="8503920" y="3108960"/>
            <a:ext cx="2743200" cy="438912"/>
          </a:xfrm>
          <a:prstGeom prst="roundRect">
            <a:avLst>
              <a:gd name="adj" fmla="val 16667"/>
            </a:avLst>
          </a:prstGeom>
          <a:solidFill>
            <a:srgbClr val="F1F5F9"/>
          </a:solidFill>
          <a:ln w="19050">
            <a:solidFill>
              <a:srgbClr val="B45309"/>
            </a:solidFill>
            <a:prstDash val="solid"/>
          </a:ln>
        </p:spPr>
      </p:sp>
      <p:sp>
        <p:nvSpPr>
          <p:cNvPr id="34" name="Text 31"/>
          <p:cNvSpPr txBox="1"/>
          <p:nvPr/>
        </p:nvSpPr>
        <p:spPr>
          <a:xfrm>
            <a:off x="8503920" y="3108960"/>
            <a:ext cx="2743200" cy="438912"/>
          </a:xfrm>
          <a:prstGeom prst="rect">
            <a:avLst/>
          </a:prstGeom>
          <a:noFill/>
          <a:ln/>
        </p:spPr>
        <p:txBody>
          <a:bodyPr wrap="square" lIns="25400" tIns="25400" rIns="25400" bIns="25400" rtlCol="0" anchor="ctr"/>
          <a:lstStyle/>
          <a:p>
            <a:pPr algn="ctr" indent="0" marL="0">
              <a:buNone/>
            </a:pPr>
            <a:r>
              <a:rPr lang="en-US" sz="1300" dirty="0">
                <a:solidFill>
                  <a:schemeClr val="tx1"/>
                </a:solidFill>
              </a:rPr>
              <a:t>Classes</a:t>
            </a:r>
            <a:endParaRPr lang="en-US" sz="1300" dirty="0"/>
          </a:p>
        </p:txBody>
      </p:sp>
      <p:sp>
        <p:nvSpPr>
          <p:cNvPr id="35" name="Lien"/>
          <p:cNvSpPr/>
          <p:nvPr/>
        </p:nvSpPr>
        <p:spPr>
          <a:xfrm>
            <a:off x="9875520" y="2880360"/>
            <a:ext cx="914" cy="228600"/>
          </a:xfrm>
          <a:prstGeom prst="line">
            <a:avLst/>
          </a:prstGeom>
          <a:noFill/>
          <a:ln w="19050">
            <a:solidFill>
              <a:srgbClr val="94A3B8"/>
            </a:solidFill>
            <a:prstDash val="solid"/>
            <a:tailEnd type="triangle"/>
          </a:ln>
        </p:spPr>
      </p:sp>
      <p:sp>
        <p:nvSpPr>
          <p:cNvPr id="36" name="Page Élèves · codes d'accès"/>
          <p:cNvSpPr/>
          <p:nvPr/>
        </p:nvSpPr>
        <p:spPr>
          <a:xfrm>
            <a:off x="8503920" y="3639312"/>
            <a:ext cx="2743200" cy="438912"/>
          </a:xfrm>
          <a:prstGeom prst="roundRect">
            <a:avLst>
              <a:gd name="adj" fmla="val 16667"/>
            </a:avLst>
          </a:prstGeom>
          <a:solidFill>
            <a:srgbClr val="F1F5F9"/>
          </a:solidFill>
          <a:ln w="19050">
            <a:solidFill>
              <a:srgbClr val="B45309"/>
            </a:solidFill>
            <a:prstDash val="solid"/>
          </a:ln>
        </p:spPr>
      </p:sp>
      <p:sp>
        <p:nvSpPr>
          <p:cNvPr id="37" name="Text 34"/>
          <p:cNvSpPr txBox="1"/>
          <p:nvPr/>
        </p:nvSpPr>
        <p:spPr>
          <a:xfrm>
            <a:off x="8503920" y="3639312"/>
            <a:ext cx="2743200" cy="438912"/>
          </a:xfrm>
          <a:prstGeom prst="rect">
            <a:avLst/>
          </a:prstGeom>
          <a:noFill/>
          <a:ln/>
        </p:spPr>
        <p:txBody>
          <a:bodyPr wrap="square" lIns="25400" tIns="25400" rIns="25400" bIns="25400" rtlCol="0" anchor="ctr"/>
          <a:lstStyle/>
          <a:p>
            <a:pPr algn="ctr" indent="0" marL="0">
              <a:buNone/>
            </a:pPr>
            <a:r>
              <a:rPr lang="en-US" sz="1300" dirty="0">
                <a:solidFill>
                  <a:schemeClr val="tx1"/>
                </a:solidFill>
              </a:rPr>
              <a:t>Élèves · codes d'accès</a:t>
            </a:r>
            <a:endParaRPr lang="en-US" sz="1300" dirty="0"/>
          </a:p>
        </p:txBody>
      </p:sp>
      <p:sp>
        <p:nvSpPr>
          <p:cNvPr id="38" name="Page Import : fichier → vérification → confirmation"/>
          <p:cNvSpPr/>
          <p:nvPr/>
        </p:nvSpPr>
        <p:spPr>
          <a:xfrm>
            <a:off x="8503920" y="4169664"/>
            <a:ext cx="2743200" cy="438912"/>
          </a:xfrm>
          <a:prstGeom prst="roundRect">
            <a:avLst>
              <a:gd name="adj" fmla="val 16667"/>
            </a:avLst>
          </a:prstGeom>
          <a:solidFill>
            <a:srgbClr val="F1F5F9"/>
          </a:solidFill>
          <a:ln w="19050">
            <a:solidFill>
              <a:srgbClr val="B45309"/>
            </a:solidFill>
            <a:prstDash val="solid"/>
          </a:ln>
        </p:spPr>
      </p:sp>
      <p:sp>
        <p:nvSpPr>
          <p:cNvPr id="39" name="Text 36"/>
          <p:cNvSpPr txBox="1"/>
          <p:nvPr/>
        </p:nvSpPr>
        <p:spPr>
          <a:xfrm>
            <a:off x="8503920" y="4169664"/>
            <a:ext cx="2743200" cy="438912"/>
          </a:xfrm>
          <a:prstGeom prst="rect">
            <a:avLst/>
          </a:prstGeom>
          <a:noFill/>
          <a:ln/>
        </p:spPr>
        <p:txBody>
          <a:bodyPr wrap="square" lIns="25400" tIns="25400" rIns="25400" bIns="25400" rtlCol="0" anchor="ctr"/>
          <a:lstStyle/>
          <a:p>
            <a:pPr algn="ctr" indent="0" marL="0">
              <a:buNone/>
            </a:pPr>
            <a:r>
              <a:rPr lang="en-US" sz="1300" dirty="0">
                <a:solidFill>
                  <a:schemeClr val="tx1"/>
                </a:solidFill>
              </a:rPr>
              <a:t>Import : fichier → vérification → confirmation</a:t>
            </a:r>
            <a:endParaRPr lang="en-US" sz="1300" dirty="0"/>
          </a:p>
        </p:txBody>
      </p:sp>
      <p:sp>
        <p:nvSpPr>
          <p:cNvPr id="40" name="Page Export CSV"/>
          <p:cNvSpPr/>
          <p:nvPr/>
        </p:nvSpPr>
        <p:spPr>
          <a:xfrm>
            <a:off x="8503920" y="4700016"/>
            <a:ext cx="2743200" cy="438912"/>
          </a:xfrm>
          <a:prstGeom prst="roundRect">
            <a:avLst>
              <a:gd name="adj" fmla="val 16667"/>
            </a:avLst>
          </a:prstGeom>
          <a:solidFill>
            <a:srgbClr val="F1F5F9"/>
          </a:solidFill>
          <a:ln w="19050">
            <a:solidFill>
              <a:srgbClr val="B45309"/>
            </a:solidFill>
            <a:prstDash val="solid"/>
          </a:ln>
        </p:spPr>
      </p:sp>
      <p:sp>
        <p:nvSpPr>
          <p:cNvPr id="41" name="Text 38"/>
          <p:cNvSpPr txBox="1"/>
          <p:nvPr/>
        </p:nvSpPr>
        <p:spPr>
          <a:xfrm>
            <a:off x="8503920" y="4700016"/>
            <a:ext cx="2743200" cy="438912"/>
          </a:xfrm>
          <a:prstGeom prst="rect">
            <a:avLst/>
          </a:prstGeom>
          <a:noFill/>
          <a:ln/>
        </p:spPr>
        <p:txBody>
          <a:bodyPr wrap="square" lIns="25400" tIns="25400" rIns="25400" bIns="25400" rtlCol="0" anchor="ctr"/>
          <a:lstStyle/>
          <a:p>
            <a:pPr algn="ctr" indent="0" marL="0">
              <a:buNone/>
            </a:pPr>
            <a:r>
              <a:rPr lang="en-US" sz="1300" dirty="0">
                <a:solidFill>
                  <a:schemeClr val="tx1"/>
                </a:solidFill>
              </a:rPr>
              <a:t>Export CSV</a:t>
            </a:r>
            <a:endParaRPr lang="en-US" sz="1300" dirty="0"/>
          </a:p>
        </p:txBody>
      </p:sp>
      <p:sp>
        <p:nvSpPr>
          <p:cNvPr id="42" name="Pages communes"/>
          <p:cNvSpPr/>
          <p:nvPr/>
        </p:nvSpPr>
        <p:spPr>
          <a:xfrm>
            <a:off x="731520" y="5760720"/>
            <a:ext cx="10698480" cy="502920"/>
          </a:xfrm>
          <a:prstGeom prst="roundRect">
            <a:avLst>
              <a:gd name="adj" fmla="val 18182"/>
            </a:avLst>
          </a:prstGeom>
          <a:solidFill>
            <a:srgbClr val="E8EEFD"/>
          </a:solidFill>
          <a:ln w="12700">
            <a:solidFill>
              <a:srgbClr val="E8EEFD"/>
            </a:solidFill>
            <a:prstDash val="solid"/>
          </a:ln>
        </p:spPr>
      </p:sp>
      <p:sp>
        <p:nvSpPr>
          <p:cNvPr id="43" name="Text 40"/>
          <p:cNvSpPr txBox="1"/>
          <p:nvPr/>
        </p:nvSpPr>
        <p:spPr>
          <a:xfrm>
            <a:off x="914400" y="5760720"/>
            <a:ext cx="10332720" cy="502920"/>
          </a:xfrm>
          <a:prstGeom prst="rect">
            <a:avLst/>
          </a:prstGeom>
          <a:noFill/>
          <a:ln/>
        </p:spPr>
        <p:txBody>
          <a:bodyPr wrap="square" lIns="0" tIns="0" rIns="0" bIns="0" rtlCol="0" anchor="ctr"/>
          <a:lstStyle/>
          <a:p>
            <a:pPr indent="0" marL="0">
              <a:buNone/>
            </a:pPr>
            <a:r>
              <a:rPr lang="en-US" sz="1300" dirty="0">
                <a:solidFill>
                  <a:schemeClr val="tx1"/>
                </a:solidFill>
              </a:rPr>
              <a:t>Pages communes : base.html (en-tête, messages flash) · pages d'erreur 403, 404 et 500 personnalisées · API JSON appelées par fetch</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indent="0" marL="0">
              <a:buNone/>
            </a:pPr>
            <a:r>
              <a:rPr lang="en-US" sz="3000" b="1" dirty="0">
                <a:solidFill>
                  <a:schemeClr val="tx1"/>
                </a:solidFill>
              </a:rPr>
              <a:t>Base de données : 7 tables liées</a:t>
            </a:r>
            <a:endParaRPr lang="en-US" sz="3000" dirty="0"/>
          </a:p>
        </p:txBody>
      </p:sp>
      <p:sp>
        <p:nvSpPr>
          <p:cNvPr id="4" name="Table enseignants"/>
          <p:cNvSpPr/>
          <p:nvPr/>
        </p:nvSpPr>
        <p:spPr>
          <a:xfrm>
            <a:off x="548640" y="1234440"/>
            <a:ext cx="3108960" cy="411480"/>
          </a:xfrm>
          <a:prstGeom prst="rect">
            <a:avLst/>
          </a:prstGeom>
          <a:solidFill>
            <a:schemeClr val="accent1"/>
          </a:solidFill>
          <a:ln w="12700">
            <a:solidFill>
              <a:schemeClr val="accent1"/>
            </a:solidFill>
            <a:prstDash val="solid"/>
          </a:ln>
        </p:spPr>
      </p:sp>
      <p:sp>
        <p:nvSpPr>
          <p:cNvPr id="5" name="Text 2"/>
          <p:cNvSpPr txBox="1"/>
          <p:nvPr/>
        </p:nvSpPr>
        <p:spPr>
          <a:xfrm>
            <a:off x="685800" y="1234440"/>
            <a:ext cx="2834640" cy="411480"/>
          </a:xfrm>
          <a:prstGeom prst="rect">
            <a:avLst/>
          </a:prstGeom>
          <a:noFill/>
          <a:ln/>
        </p:spPr>
        <p:txBody>
          <a:bodyPr wrap="square" lIns="0" tIns="0" rIns="0" bIns="0" rtlCol="0" anchor="ctr"/>
          <a:lstStyle/>
          <a:p>
            <a:pPr indent="0" marL="0">
              <a:buNone/>
            </a:pPr>
            <a:r>
              <a:rPr lang="en-US" sz="1500" b="1" dirty="0">
                <a:solidFill>
                  <a:schemeClr val="bg1"/>
                </a:solidFill>
              </a:rPr>
              <a:t>enseignants</a:t>
            </a:r>
            <a:endParaRPr lang="en-US" sz="1500" dirty="0"/>
          </a:p>
        </p:txBody>
      </p:sp>
      <p:sp>
        <p:nvSpPr>
          <p:cNvPr id="6" name="Colonnes enseignants"/>
          <p:cNvSpPr/>
          <p:nvPr/>
        </p:nvSpPr>
        <p:spPr>
          <a:xfrm>
            <a:off x="548640" y="1645920"/>
            <a:ext cx="3108960" cy="1600200"/>
          </a:xfrm>
          <a:prstGeom prst="rect">
            <a:avLst/>
          </a:prstGeom>
          <a:solidFill>
            <a:schemeClr val="bg2"/>
          </a:solidFill>
          <a:ln w="12700">
            <a:solidFill>
              <a:srgbClr val="E8EEFD"/>
            </a:solidFill>
            <a:prstDash val="solid"/>
          </a:ln>
        </p:spPr>
      </p:sp>
      <p:sp>
        <p:nvSpPr>
          <p:cNvPr id="7" name="Text 4"/>
          <p:cNvSpPr txBox="1"/>
          <p:nvPr/>
        </p:nvSpPr>
        <p:spPr>
          <a:xfrm>
            <a:off x="685800" y="1709928"/>
            <a:ext cx="2834640" cy="1463040"/>
          </a:xfrm>
          <a:prstGeom prst="rect">
            <a:avLst/>
          </a:prstGeom>
          <a:noFill/>
          <a:ln/>
        </p:spPr>
        <p:txBody>
          <a:bodyPr wrap="square" lIns="0" tIns="0" rIns="0" bIns="0" rtlCol="0" anchor="t"/>
          <a:lstStyle/>
          <a:p>
            <a:pPr indent="0" marL="0">
              <a:buNone/>
            </a:pPr>
            <a:r>
              <a:rPr lang="en-US" sz="1200" b="1" dirty="0">
                <a:solidFill>
                  <a:schemeClr val="tx1"/>
                </a:solidFill>
              </a:rPr>
              <a:t>id (PK)</a:t>
            </a:r>
            <a:endParaRPr lang="en-US" sz="1200" dirty="0"/>
          </a:p>
          <a:p>
            <a:pPr indent="0" marL="0">
              <a:buNone/>
            </a:pPr>
            <a:r>
              <a:rPr lang="en-US" sz="1200" dirty="0">
                <a:solidFill>
                  <a:schemeClr val="tx1"/>
                </a:solidFill>
              </a:rPr>
              <a:t>nom</a:t>
            </a:r>
            <a:endParaRPr lang="en-US" sz="1200" dirty="0"/>
          </a:p>
          <a:p>
            <a:pPr indent="0" marL="0">
              <a:buNone/>
            </a:pPr>
            <a:r>
              <a:rPr lang="en-US" sz="1200" dirty="0">
                <a:solidFill>
                  <a:schemeClr val="tx1"/>
                </a:solidFill>
              </a:rPr>
              <a:t>login (UNIQUE)</a:t>
            </a:r>
            <a:endParaRPr lang="en-US" sz="1200" dirty="0"/>
          </a:p>
          <a:p>
            <a:pPr indent="0" marL="0">
              <a:buNone/>
            </a:pPr>
            <a:r>
              <a:rPr lang="en-US" sz="1200" dirty="0">
                <a:solidFill>
                  <a:schemeClr val="tx1"/>
                </a:solidFill>
              </a:rPr>
              <a:t>empreinte</a:t>
            </a:r>
            <a:endParaRPr lang="en-US" sz="1200" dirty="0"/>
          </a:p>
          <a:p>
            <a:pPr indent="0" marL="0">
              <a:buNone/>
            </a:pPr>
            <a:r>
              <a:rPr lang="en-US" sz="1200" dirty="0">
                <a:solidFill>
                  <a:schemeClr val="tx1"/>
                </a:solidFill>
              </a:rPr>
              <a:t>role</a:t>
            </a:r>
            <a:endParaRPr lang="en-US" sz="1200" dirty="0"/>
          </a:p>
        </p:txBody>
      </p:sp>
      <p:sp>
        <p:nvSpPr>
          <p:cNvPr id="8" name="Table classes"/>
          <p:cNvSpPr/>
          <p:nvPr/>
        </p:nvSpPr>
        <p:spPr>
          <a:xfrm>
            <a:off x="4526280" y="1234440"/>
            <a:ext cx="3108960" cy="411480"/>
          </a:xfrm>
          <a:prstGeom prst="rect">
            <a:avLst/>
          </a:prstGeom>
          <a:solidFill>
            <a:schemeClr val="accent1"/>
          </a:solidFill>
          <a:ln w="12700">
            <a:solidFill>
              <a:schemeClr val="accent1"/>
            </a:solidFill>
            <a:prstDash val="solid"/>
          </a:ln>
        </p:spPr>
      </p:sp>
      <p:sp>
        <p:nvSpPr>
          <p:cNvPr id="9" name="Text 6"/>
          <p:cNvSpPr txBox="1"/>
          <p:nvPr/>
        </p:nvSpPr>
        <p:spPr>
          <a:xfrm>
            <a:off x="4663440" y="1234440"/>
            <a:ext cx="2834640" cy="411480"/>
          </a:xfrm>
          <a:prstGeom prst="rect">
            <a:avLst/>
          </a:prstGeom>
          <a:noFill/>
          <a:ln/>
        </p:spPr>
        <p:txBody>
          <a:bodyPr wrap="square" lIns="0" tIns="0" rIns="0" bIns="0" rtlCol="0" anchor="ctr"/>
          <a:lstStyle/>
          <a:p>
            <a:pPr indent="0" marL="0">
              <a:buNone/>
            </a:pPr>
            <a:r>
              <a:rPr lang="en-US" sz="1500" b="1" dirty="0">
                <a:solidFill>
                  <a:schemeClr val="bg1"/>
                </a:solidFill>
              </a:rPr>
              <a:t>classes</a:t>
            </a:r>
            <a:endParaRPr lang="en-US" sz="1500" dirty="0"/>
          </a:p>
        </p:txBody>
      </p:sp>
      <p:sp>
        <p:nvSpPr>
          <p:cNvPr id="10" name="Colonnes classes"/>
          <p:cNvSpPr/>
          <p:nvPr/>
        </p:nvSpPr>
        <p:spPr>
          <a:xfrm>
            <a:off x="4526280" y="1645920"/>
            <a:ext cx="3108960" cy="1600200"/>
          </a:xfrm>
          <a:prstGeom prst="rect">
            <a:avLst/>
          </a:prstGeom>
          <a:solidFill>
            <a:schemeClr val="bg2"/>
          </a:solidFill>
          <a:ln w="12700">
            <a:solidFill>
              <a:srgbClr val="E8EEFD"/>
            </a:solidFill>
            <a:prstDash val="solid"/>
          </a:ln>
        </p:spPr>
      </p:sp>
      <p:sp>
        <p:nvSpPr>
          <p:cNvPr id="11" name="Text 8"/>
          <p:cNvSpPr txBox="1"/>
          <p:nvPr/>
        </p:nvSpPr>
        <p:spPr>
          <a:xfrm>
            <a:off x="4663440" y="1709928"/>
            <a:ext cx="2834640" cy="1463040"/>
          </a:xfrm>
          <a:prstGeom prst="rect">
            <a:avLst/>
          </a:prstGeom>
          <a:noFill/>
          <a:ln/>
        </p:spPr>
        <p:txBody>
          <a:bodyPr wrap="square" lIns="0" tIns="0" rIns="0" bIns="0" rtlCol="0" anchor="t"/>
          <a:lstStyle/>
          <a:p>
            <a:pPr indent="0" marL="0">
              <a:buNone/>
            </a:pPr>
            <a:r>
              <a:rPr lang="en-US" sz="1200" b="1" dirty="0">
                <a:solidFill>
                  <a:schemeClr val="tx1"/>
                </a:solidFill>
              </a:rPr>
              <a:t>id (PK)</a:t>
            </a:r>
            <a:endParaRPr lang="en-US" sz="1200" dirty="0"/>
          </a:p>
          <a:p>
            <a:pPr indent="0" marL="0">
              <a:buNone/>
            </a:pPr>
            <a:r>
              <a:rPr lang="en-US" sz="1200" dirty="0">
                <a:solidFill>
                  <a:schemeClr val="tx1"/>
                </a:solidFill>
              </a:rPr>
              <a:t>nom (UNIQUE)</a:t>
            </a:r>
            <a:endParaRPr lang="en-US" sz="1200" dirty="0"/>
          </a:p>
          <a:p>
            <a:pPr indent="0" marL="0">
              <a:buNone/>
            </a:pPr>
            <a:r>
              <a:rPr lang="en-US" sz="1200" dirty="0">
                <a:solidFill>
                  <a:schemeClr val="tx1"/>
                </a:solidFill>
              </a:rPr>
              <a:t>niveau, filiere</a:t>
            </a:r>
            <a:endParaRPr lang="en-US" sz="1200" dirty="0"/>
          </a:p>
          <a:p>
            <a:pPr indent="0" marL="0">
              <a:buNone/>
            </a:pPr>
            <a:r>
              <a:rPr lang="en-US" sz="1200" dirty="0">
                <a:solidFill>
                  <a:schemeClr val="tx1"/>
                </a:solidFill>
              </a:rPr>
              <a:t>effectif_max</a:t>
            </a:r>
            <a:endParaRPr lang="en-US" sz="1200" dirty="0"/>
          </a:p>
          <a:p>
            <a:pPr indent="0" marL="0">
              <a:buNone/>
            </a:pPr>
            <a:r>
              <a:rPr lang="en-US" sz="1200" dirty="0">
                <a:solidFill>
                  <a:schemeClr val="tx1"/>
                </a:solidFill>
              </a:rPr>
              <a:t>professeur_principal_id → enseignants</a:t>
            </a:r>
            <a:endParaRPr lang="en-US" sz="1200" dirty="0"/>
          </a:p>
        </p:txBody>
      </p:sp>
      <p:sp>
        <p:nvSpPr>
          <p:cNvPr id="12" name="Table evaluations"/>
          <p:cNvSpPr/>
          <p:nvPr/>
        </p:nvSpPr>
        <p:spPr>
          <a:xfrm>
            <a:off x="8503920" y="1234440"/>
            <a:ext cx="3108960" cy="411480"/>
          </a:xfrm>
          <a:prstGeom prst="rect">
            <a:avLst/>
          </a:prstGeom>
          <a:solidFill>
            <a:schemeClr val="accent1"/>
          </a:solidFill>
          <a:ln w="12700">
            <a:solidFill>
              <a:schemeClr val="accent1"/>
            </a:solidFill>
            <a:prstDash val="solid"/>
          </a:ln>
        </p:spPr>
      </p:sp>
      <p:sp>
        <p:nvSpPr>
          <p:cNvPr id="13" name="Text 10"/>
          <p:cNvSpPr txBox="1"/>
          <p:nvPr/>
        </p:nvSpPr>
        <p:spPr>
          <a:xfrm>
            <a:off x="8641080" y="1234440"/>
            <a:ext cx="2834640" cy="411480"/>
          </a:xfrm>
          <a:prstGeom prst="rect">
            <a:avLst/>
          </a:prstGeom>
          <a:noFill/>
          <a:ln/>
        </p:spPr>
        <p:txBody>
          <a:bodyPr wrap="square" lIns="0" tIns="0" rIns="0" bIns="0" rtlCol="0" anchor="ctr"/>
          <a:lstStyle/>
          <a:p>
            <a:pPr indent="0" marL="0">
              <a:buNone/>
            </a:pPr>
            <a:r>
              <a:rPr lang="en-US" sz="1500" b="1" dirty="0">
                <a:solidFill>
                  <a:schemeClr val="bg1"/>
                </a:solidFill>
              </a:rPr>
              <a:t>evaluations</a:t>
            </a:r>
            <a:endParaRPr lang="en-US" sz="1500" dirty="0"/>
          </a:p>
        </p:txBody>
      </p:sp>
      <p:sp>
        <p:nvSpPr>
          <p:cNvPr id="14" name="Colonnes evaluations"/>
          <p:cNvSpPr/>
          <p:nvPr/>
        </p:nvSpPr>
        <p:spPr>
          <a:xfrm>
            <a:off x="8503920" y="1645920"/>
            <a:ext cx="3108960" cy="1600200"/>
          </a:xfrm>
          <a:prstGeom prst="rect">
            <a:avLst/>
          </a:prstGeom>
          <a:solidFill>
            <a:schemeClr val="bg2"/>
          </a:solidFill>
          <a:ln w="12700">
            <a:solidFill>
              <a:srgbClr val="E8EEFD"/>
            </a:solidFill>
            <a:prstDash val="solid"/>
          </a:ln>
        </p:spPr>
      </p:sp>
      <p:sp>
        <p:nvSpPr>
          <p:cNvPr id="15" name="Text 12"/>
          <p:cNvSpPr txBox="1"/>
          <p:nvPr/>
        </p:nvSpPr>
        <p:spPr>
          <a:xfrm>
            <a:off x="8641080" y="1709928"/>
            <a:ext cx="2834640" cy="1463040"/>
          </a:xfrm>
          <a:prstGeom prst="rect">
            <a:avLst/>
          </a:prstGeom>
          <a:noFill/>
          <a:ln/>
        </p:spPr>
        <p:txBody>
          <a:bodyPr wrap="square" lIns="0" tIns="0" rIns="0" bIns="0" rtlCol="0" anchor="t"/>
          <a:lstStyle/>
          <a:p>
            <a:pPr indent="0" marL="0">
              <a:buNone/>
            </a:pPr>
            <a:r>
              <a:rPr lang="en-US" sz="1200" b="1" dirty="0">
                <a:solidFill>
                  <a:schemeClr val="tx1"/>
                </a:solidFill>
              </a:rPr>
              <a:t>id (PK)</a:t>
            </a:r>
            <a:endParaRPr lang="en-US" sz="1200" dirty="0"/>
          </a:p>
          <a:p>
            <a:pPr indent="0" marL="0">
              <a:buNone/>
            </a:pPr>
            <a:r>
              <a:rPr lang="en-US" sz="1200" dirty="0">
                <a:solidFill>
                  <a:schemeClr val="tx1"/>
                </a:solidFill>
              </a:rPr>
              <a:t>classe_id → classes</a:t>
            </a:r>
            <a:endParaRPr lang="en-US" sz="1200" dirty="0"/>
          </a:p>
          <a:p>
            <a:pPr indent="0" marL="0">
              <a:buNone/>
            </a:pPr>
            <a:r>
              <a:rPr lang="en-US" sz="1200" dirty="0">
                <a:solidFill>
                  <a:schemeClr val="tx1"/>
                </a:solidFill>
              </a:rPr>
              <a:t>matiere_id → matieres</a:t>
            </a:r>
            <a:endParaRPr lang="en-US" sz="1200" dirty="0"/>
          </a:p>
          <a:p>
            <a:pPr indent="0" marL="0">
              <a:buNone/>
            </a:pPr>
            <a:r>
              <a:rPr lang="en-US" sz="1200" dirty="0">
                <a:solidFill>
                  <a:schemeClr val="tx1"/>
                </a:solidFill>
              </a:rPr>
              <a:t>sequence, intitule</a:t>
            </a:r>
            <a:endParaRPr lang="en-US" sz="1200" dirty="0"/>
          </a:p>
          <a:p>
            <a:pPr indent="0" marL="0">
              <a:buNone/>
            </a:pPr>
            <a:r>
              <a:rPr lang="en-US" sz="1200" dirty="0">
                <a:solidFill>
                  <a:schemeClr val="tx1"/>
                </a:solidFill>
              </a:rPr>
              <a:t>date_evaluation, statut</a:t>
            </a:r>
            <a:endParaRPr lang="en-US" sz="1200" dirty="0"/>
          </a:p>
        </p:txBody>
      </p:sp>
      <p:sp>
        <p:nvSpPr>
          <p:cNvPr id="16" name="Table matieres"/>
          <p:cNvSpPr/>
          <p:nvPr/>
        </p:nvSpPr>
        <p:spPr>
          <a:xfrm>
            <a:off x="548640" y="3611880"/>
            <a:ext cx="3108960" cy="411480"/>
          </a:xfrm>
          <a:prstGeom prst="rect">
            <a:avLst/>
          </a:prstGeom>
          <a:solidFill>
            <a:schemeClr val="accent1"/>
          </a:solidFill>
          <a:ln w="12700">
            <a:solidFill>
              <a:schemeClr val="accent1"/>
            </a:solidFill>
            <a:prstDash val="solid"/>
          </a:ln>
        </p:spPr>
      </p:sp>
      <p:sp>
        <p:nvSpPr>
          <p:cNvPr id="17" name="Text 14"/>
          <p:cNvSpPr txBox="1"/>
          <p:nvPr/>
        </p:nvSpPr>
        <p:spPr>
          <a:xfrm>
            <a:off x="685800" y="3611880"/>
            <a:ext cx="2834640" cy="411480"/>
          </a:xfrm>
          <a:prstGeom prst="rect">
            <a:avLst/>
          </a:prstGeom>
          <a:noFill/>
          <a:ln/>
        </p:spPr>
        <p:txBody>
          <a:bodyPr wrap="square" lIns="0" tIns="0" rIns="0" bIns="0" rtlCol="0" anchor="ctr"/>
          <a:lstStyle/>
          <a:p>
            <a:pPr indent="0" marL="0">
              <a:buNone/>
            </a:pPr>
            <a:r>
              <a:rPr lang="en-US" sz="1500" b="1" dirty="0">
                <a:solidFill>
                  <a:schemeClr val="bg1"/>
                </a:solidFill>
              </a:rPr>
              <a:t>matieres</a:t>
            </a:r>
            <a:endParaRPr lang="en-US" sz="1500" dirty="0"/>
          </a:p>
        </p:txBody>
      </p:sp>
      <p:sp>
        <p:nvSpPr>
          <p:cNvPr id="18" name="Colonnes matieres"/>
          <p:cNvSpPr/>
          <p:nvPr/>
        </p:nvSpPr>
        <p:spPr>
          <a:xfrm>
            <a:off x="548640" y="4023360"/>
            <a:ext cx="3108960" cy="1307592"/>
          </a:xfrm>
          <a:prstGeom prst="rect">
            <a:avLst/>
          </a:prstGeom>
          <a:solidFill>
            <a:schemeClr val="bg2"/>
          </a:solidFill>
          <a:ln w="12700">
            <a:solidFill>
              <a:srgbClr val="E8EEFD"/>
            </a:solidFill>
            <a:prstDash val="solid"/>
          </a:ln>
        </p:spPr>
      </p:sp>
      <p:sp>
        <p:nvSpPr>
          <p:cNvPr id="19" name="Text 16"/>
          <p:cNvSpPr txBox="1"/>
          <p:nvPr/>
        </p:nvSpPr>
        <p:spPr>
          <a:xfrm>
            <a:off x="685800" y="4087368"/>
            <a:ext cx="2834640" cy="1170432"/>
          </a:xfrm>
          <a:prstGeom prst="rect">
            <a:avLst/>
          </a:prstGeom>
          <a:noFill/>
          <a:ln/>
        </p:spPr>
        <p:txBody>
          <a:bodyPr wrap="square" lIns="0" tIns="0" rIns="0" bIns="0" rtlCol="0" anchor="t"/>
          <a:lstStyle/>
          <a:p>
            <a:pPr indent="0" marL="0">
              <a:buNone/>
            </a:pPr>
            <a:r>
              <a:rPr lang="en-US" sz="1200" b="1" dirty="0">
                <a:solidFill>
                  <a:schemeClr val="tx1"/>
                </a:solidFill>
              </a:rPr>
              <a:t>id (PK)</a:t>
            </a:r>
            <a:endParaRPr lang="en-US" sz="1200" dirty="0"/>
          </a:p>
          <a:p>
            <a:pPr indent="0" marL="0">
              <a:buNone/>
            </a:pPr>
            <a:r>
              <a:rPr lang="en-US" sz="1200" dirty="0">
                <a:solidFill>
                  <a:schemeClr val="tx1"/>
                </a:solidFill>
              </a:rPr>
              <a:t>nom (UNIQUE)</a:t>
            </a:r>
            <a:endParaRPr lang="en-US" sz="1200" dirty="0"/>
          </a:p>
          <a:p>
            <a:pPr indent="0" marL="0">
              <a:buNone/>
            </a:pPr>
            <a:r>
              <a:rPr lang="en-US" sz="1200" dirty="0">
                <a:solidFill>
                  <a:schemeClr val="tx1"/>
                </a:solidFill>
              </a:rPr>
              <a:t>coefficient</a:t>
            </a:r>
            <a:endParaRPr lang="en-US" sz="1200" dirty="0"/>
          </a:p>
          <a:p>
            <a:pPr indent="0" marL="0">
              <a:buNone/>
            </a:pPr>
            <a:r>
              <a:rPr lang="en-US" sz="1200" dirty="0">
                <a:solidFill>
                  <a:schemeClr val="tx1"/>
                </a:solidFill>
              </a:rPr>
              <a:t>enseignant_id → enseignants</a:t>
            </a:r>
            <a:endParaRPr lang="en-US" sz="1200" dirty="0"/>
          </a:p>
        </p:txBody>
      </p:sp>
      <p:sp>
        <p:nvSpPr>
          <p:cNvPr id="20" name="Table eleves"/>
          <p:cNvSpPr/>
          <p:nvPr/>
        </p:nvSpPr>
        <p:spPr>
          <a:xfrm>
            <a:off x="4526280" y="3611880"/>
            <a:ext cx="3108960" cy="411480"/>
          </a:xfrm>
          <a:prstGeom prst="rect">
            <a:avLst/>
          </a:prstGeom>
          <a:solidFill>
            <a:schemeClr val="accent1"/>
          </a:solidFill>
          <a:ln w="12700">
            <a:solidFill>
              <a:schemeClr val="accent1"/>
            </a:solidFill>
            <a:prstDash val="solid"/>
          </a:ln>
        </p:spPr>
      </p:sp>
      <p:sp>
        <p:nvSpPr>
          <p:cNvPr id="21" name="Text 18"/>
          <p:cNvSpPr txBox="1"/>
          <p:nvPr/>
        </p:nvSpPr>
        <p:spPr>
          <a:xfrm>
            <a:off x="4663440" y="3611880"/>
            <a:ext cx="2834640" cy="411480"/>
          </a:xfrm>
          <a:prstGeom prst="rect">
            <a:avLst/>
          </a:prstGeom>
          <a:noFill/>
          <a:ln/>
        </p:spPr>
        <p:txBody>
          <a:bodyPr wrap="square" lIns="0" tIns="0" rIns="0" bIns="0" rtlCol="0" anchor="ctr"/>
          <a:lstStyle/>
          <a:p>
            <a:pPr indent="0" marL="0">
              <a:buNone/>
            </a:pPr>
            <a:r>
              <a:rPr lang="en-US" sz="1500" b="1" dirty="0">
                <a:solidFill>
                  <a:schemeClr val="bg1"/>
                </a:solidFill>
              </a:rPr>
              <a:t>eleves</a:t>
            </a:r>
            <a:endParaRPr lang="en-US" sz="1500" dirty="0"/>
          </a:p>
        </p:txBody>
      </p:sp>
      <p:sp>
        <p:nvSpPr>
          <p:cNvPr id="22" name="Colonnes eleves"/>
          <p:cNvSpPr/>
          <p:nvPr/>
        </p:nvSpPr>
        <p:spPr>
          <a:xfrm>
            <a:off x="4526280" y="4023360"/>
            <a:ext cx="3108960" cy="1600200"/>
          </a:xfrm>
          <a:prstGeom prst="rect">
            <a:avLst/>
          </a:prstGeom>
          <a:solidFill>
            <a:schemeClr val="bg2"/>
          </a:solidFill>
          <a:ln w="12700">
            <a:solidFill>
              <a:srgbClr val="E8EEFD"/>
            </a:solidFill>
            <a:prstDash val="solid"/>
          </a:ln>
        </p:spPr>
      </p:sp>
      <p:sp>
        <p:nvSpPr>
          <p:cNvPr id="23" name="Text 20"/>
          <p:cNvSpPr txBox="1"/>
          <p:nvPr/>
        </p:nvSpPr>
        <p:spPr>
          <a:xfrm>
            <a:off x="4663440" y="4087368"/>
            <a:ext cx="2834640" cy="1463040"/>
          </a:xfrm>
          <a:prstGeom prst="rect">
            <a:avLst/>
          </a:prstGeom>
          <a:noFill/>
          <a:ln/>
        </p:spPr>
        <p:txBody>
          <a:bodyPr wrap="square" lIns="0" tIns="0" rIns="0" bIns="0" rtlCol="0" anchor="t"/>
          <a:lstStyle/>
          <a:p>
            <a:pPr indent="0" marL="0">
              <a:buNone/>
            </a:pPr>
            <a:r>
              <a:rPr lang="en-US" sz="1200" b="1" dirty="0">
                <a:solidFill>
                  <a:schemeClr val="tx1"/>
                </a:solidFill>
              </a:rPr>
              <a:t>id (PK)</a:t>
            </a:r>
            <a:endParaRPr lang="en-US" sz="1200" dirty="0"/>
          </a:p>
          <a:p>
            <a:pPr indent="0" marL="0">
              <a:buNone/>
            </a:pPr>
            <a:r>
              <a:rPr lang="en-US" sz="1200" dirty="0">
                <a:solidFill>
                  <a:schemeClr val="tx1"/>
                </a:solidFill>
              </a:rPr>
              <a:t>matricule (UNIQUE)</a:t>
            </a:r>
            <a:endParaRPr lang="en-US" sz="1200" dirty="0"/>
          </a:p>
          <a:p>
            <a:pPr indent="0" marL="0">
              <a:buNone/>
            </a:pPr>
            <a:r>
              <a:rPr lang="en-US" sz="1200" dirty="0">
                <a:solidFill>
                  <a:schemeClr val="tx1"/>
                </a:solidFill>
              </a:rPr>
              <a:t>nom, prenom</a:t>
            </a:r>
            <a:endParaRPr lang="en-US" sz="1200" dirty="0"/>
          </a:p>
          <a:p>
            <a:pPr indent="0" marL="0">
              <a:buNone/>
            </a:pPr>
            <a:r>
              <a:rPr lang="en-US" sz="1200" dirty="0">
                <a:solidFill>
                  <a:schemeClr val="tx1"/>
                </a:solidFill>
              </a:rPr>
              <a:t>classe_id → classes</a:t>
            </a:r>
            <a:endParaRPr lang="en-US" sz="1200" dirty="0"/>
          </a:p>
          <a:p>
            <a:pPr indent="0" marL="0">
              <a:buNone/>
            </a:pPr>
            <a:r>
              <a:rPr lang="en-US" sz="1200" dirty="0">
                <a:solidFill>
                  <a:schemeClr val="tx1"/>
                </a:solidFill>
              </a:rPr>
              <a:t>code_empreinte</a:t>
            </a:r>
            <a:endParaRPr lang="en-US" sz="1200" dirty="0"/>
          </a:p>
        </p:txBody>
      </p:sp>
      <p:sp>
        <p:nvSpPr>
          <p:cNvPr id="24" name="Table notes"/>
          <p:cNvSpPr/>
          <p:nvPr/>
        </p:nvSpPr>
        <p:spPr>
          <a:xfrm>
            <a:off x="8503920" y="3611880"/>
            <a:ext cx="3108960" cy="411480"/>
          </a:xfrm>
          <a:prstGeom prst="rect">
            <a:avLst/>
          </a:prstGeom>
          <a:solidFill>
            <a:schemeClr val="accent1"/>
          </a:solidFill>
          <a:ln w="12700">
            <a:solidFill>
              <a:schemeClr val="accent1"/>
            </a:solidFill>
            <a:prstDash val="solid"/>
          </a:ln>
        </p:spPr>
      </p:sp>
      <p:sp>
        <p:nvSpPr>
          <p:cNvPr id="25" name="Text 22"/>
          <p:cNvSpPr txBox="1"/>
          <p:nvPr/>
        </p:nvSpPr>
        <p:spPr>
          <a:xfrm>
            <a:off x="8641080" y="3611880"/>
            <a:ext cx="2834640" cy="411480"/>
          </a:xfrm>
          <a:prstGeom prst="rect">
            <a:avLst/>
          </a:prstGeom>
          <a:noFill/>
          <a:ln/>
        </p:spPr>
        <p:txBody>
          <a:bodyPr wrap="square" lIns="0" tIns="0" rIns="0" bIns="0" rtlCol="0" anchor="ctr"/>
          <a:lstStyle/>
          <a:p>
            <a:pPr indent="0" marL="0">
              <a:buNone/>
            </a:pPr>
            <a:r>
              <a:rPr lang="en-US" sz="1500" b="1" dirty="0">
                <a:solidFill>
                  <a:schemeClr val="bg1"/>
                </a:solidFill>
              </a:rPr>
              <a:t>notes</a:t>
            </a:r>
            <a:endParaRPr lang="en-US" sz="1500" dirty="0"/>
          </a:p>
        </p:txBody>
      </p:sp>
      <p:sp>
        <p:nvSpPr>
          <p:cNvPr id="26" name="Colonnes notes"/>
          <p:cNvSpPr/>
          <p:nvPr/>
        </p:nvSpPr>
        <p:spPr>
          <a:xfrm>
            <a:off x="8503920" y="4023360"/>
            <a:ext cx="3108960" cy="1600200"/>
          </a:xfrm>
          <a:prstGeom prst="rect">
            <a:avLst/>
          </a:prstGeom>
          <a:solidFill>
            <a:schemeClr val="bg2"/>
          </a:solidFill>
          <a:ln w="12700">
            <a:solidFill>
              <a:srgbClr val="E8EEFD"/>
            </a:solidFill>
            <a:prstDash val="solid"/>
          </a:ln>
        </p:spPr>
      </p:sp>
      <p:sp>
        <p:nvSpPr>
          <p:cNvPr id="27" name="Text 24"/>
          <p:cNvSpPr txBox="1"/>
          <p:nvPr/>
        </p:nvSpPr>
        <p:spPr>
          <a:xfrm>
            <a:off x="8641080" y="4087368"/>
            <a:ext cx="2834640" cy="1463040"/>
          </a:xfrm>
          <a:prstGeom prst="rect">
            <a:avLst/>
          </a:prstGeom>
          <a:noFill/>
          <a:ln/>
        </p:spPr>
        <p:txBody>
          <a:bodyPr wrap="square" lIns="0" tIns="0" rIns="0" bIns="0" rtlCol="0" anchor="t"/>
          <a:lstStyle/>
          <a:p>
            <a:pPr indent="0" marL="0">
              <a:buNone/>
            </a:pPr>
            <a:r>
              <a:rPr lang="en-US" sz="1200" b="1" dirty="0">
                <a:solidFill>
                  <a:schemeClr val="tx1"/>
                </a:solidFill>
              </a:rPr>
              <a:t>id (PK)</a:t>
            </a:r>
            <a:endParaRPr lang="en-US" sz="1200" dirty="0"/>
          </a:p>
          <a:p>
            <a:pPr indent="0" marL="0">
              <a:buNone/>
            </a:pPr>
            <a:r>
              <a:rPr lang="en-US" sz="1200" dirty="0">
                <a:solidFill>
                  <a:schemeClr val="tx1"/>
                </a:solidFill>
              </a:rPr>
              <a:t>eleve_id → eleves</a:t>
            </a:r>
            <a:endParaRPr lang="en-US" sz="1200" dirty="0"/>
          </a:p>
          <a:p>
            <a:pPr indent="0" marL="0">
              <a:buNone/>
            </a:pPr>
            <a:r>
              <a:rPr lang="en-US" sz="1200" dirty="0">
                <a:solidFill>
                  <a:schemeClr val="tx1"/>
                </a:solidFill>
              </a:rPr>
              <a:t>matiere_id → matieres</a:t>
            </a:r>
            <a:endParaRPr lang="en-US" sz="1200" dirty="0"/>
          </a:p>
          <a:p>
            <a:pPr indent="0" marL="0">
              <a:buNone/>
            </a:pPr>
            <a:r>
              <a:rPr lang="en-US" sz="1200" dirty="0">
                <a:solidFill>
                  <a:schemeClr val="tx1"/>
                </a:solidFill>
              </a:rPr>
              <a:t>sequence (1 à 6)</a:t>
            </a:r>
            <a:endParaRPr lang="en-US" sz="1200" dirty="0"/>
          </a:p>
          <a:p>
            <a:pPr indent="0" marL="0">
              <a:buNone/>
            </a:pPr>
            <a:r>
              <a:rPr lang="en-US" sz="1200" dirty="0">
                <a:solidFill>
                  <a:schemeClr val="tx1"/>
                </a:solidFill>
              </a:rPr>
              <a:t>note (0 à 20)</a:t>
            </a:r>
            <a:endParaRPr lang="en-US" sz="1200" dirty="0"/>
          </a:p>
        </p:txBody>
      </p:sp>
      <p:sp>
        <p:nvSpPr>
          <p:cNvPr id="28" name="Lien"/>
          <p:cNvSpPr/>
          <p:nvPr/>
        </p:nvSpPr>
        <p:spPr>
          <a:xfrm flipH="1">
            <a:off x="3657600" y="2057400"/>
            <a:ext cx="868680" cy="914"/>
          </a:xfrm>
          <a:prstGeom prst="line">
            <a:avLst/>
          </a:prstGeom>
          <a:noFill/>
          <a:ln w="19050">
            <a:solidFill>
              <a:srgbClr val="94A3B8"/>
            </a:solidFill>
            <a:prstDash val="solid"/>
            <a:tailEnd type="triangle"/>
          </a:ln>
        </p:spPr>
      </p:sp>
      <p:sp>
        <p:nvSpPr>
          <p:cNvPr id="29" name="Lien"/>
          <p:cNvSpPr/>
          <p:nvPr/>
        </p:nvSpPr>
        <p:spPr>
          <a:xfrm>
            <a:off x="2103120" y="3246120"/>
            <a:ext cx="914" cy="365760"/>
          </a:xfrm>
          <a:prstGeom prst="line">
            <a:avLst/>
          </a:prstGeom>
          <a:noFill/>
          <a:ln w="19050">
            <a:solidFill>
              <a:srgbClr val="94A3B8"/>
            </a:solidFill>
            <a:prstDash val="solid"/>
            <a:tailEnd type="triangle"/>
          </a:ln>
        </p:spPr>
      </p:sp>
      <p:sp>
        <p:nvSpPr>
          <p:cNvPr id="30" name="Lien"/>
          <p:cNvSpPr/>
          <p:nvPr/>
        </p:nvSpPr>
        <p:spPr>
          <a:xfrm>
            <a:off x="6080760" y="3246120"/>
            <a:ext cx="914" cy="365760"/>
          </a:xfrm>
          <a:prstGeom prst="line">
            <a:avLst/>
          </a:prstGeom>
          <a:noFill/>
          <a:ln w="19050">
            <a:solidFill>
              <a:srgbClr val="94A3B8"/>
            </a:solidFill>
            <a:prstDash val="solid"/>
            <a:tailEnd type="triangle"/>
          </a:ln>
        </p:spPr>
      </p:sp>
      <p:sp>
        <p:nvSpPr>
          <p:cNvPr id="31" name="Lien"/>
          <p:cNvSpPr/>
          <p:nvPr/>
        </p:nvSpPr>
        <p:spPr>
          <a:xfrm flipH="1">
            <a:off x="7635240" y="2057400"/>
            <a:ext cx="868680" cy="914"/>
          </a:xfrm>
          <a:prstGeom prst="line">
            <a:avLst/>
          </a:prstGeom>
          <a:noFill/>
          <a:ln w="19050">
            <a:solidFill>
              <a:srgbClr val="94A3B8"/>
            </a:solidFill>
            <a:prstDash val="solid"/>
            <a:tailEnd type="triangle"/>
          </a:ln>
        </p:spPr>
      </p:sp>
      <p:sp>
        <p:nvSpPr>
          <p:cNvPr id="32" name="Lien"/>
          <p:cNvSpPr/>
          <p:nvPr/>
        </p:nvSpPr>
        <p:spPr>
          <a:xfrm flipH="1">
            <a:off x="7635240" y="4572000"/>
            <a:ext cx="868680" cy="914"/>
          </a:xfrm>
          <a:prstGeom prst="line">
            <a:avLst/>
          </a:prstGeom>
          <a:noFill/>
          <a:ln w="19050">
            <a:solidFill>
              <a:srgbClr val="94A3B8"/>
            </a:solidFill>
            <a:prstDash val="solid"/>
            <a:tailEnd type="triangle"/>
          </a:ln>
        </p:spPr>
      </p:sp>
      <p:sp>
        <p:nvSpPr>
          <p:cNvPr id="33" name="Table corrections"/>
          <p:cNvSpPr/>
          <p:nvPr/>
        </p:nvSpPr>
        <p:spPr>
          <a:xfrm>
            <a:off x="548640" y="5806440"/>
            <a:ext cx="11064240" cy="457200"/>
          </a:xfrm>
          <a:prstGeom prst="roundRect">
            <a:avLst>
              <a:gd name="adj" fmla="val 20000"/>
            </a:avLst>
          </a:prstGeom>
          <a:solidFill>
            <a:srgbClr val="E8EEFD"/>
          </a:solidFill>
          <a:ln w="12700">
            <a:solidFill>
              <a:srgbClr val="E8EEFD"/>
            </a:solidFill>
            <a:prstDash val="solid"/>
          </a:ln>
        </p:spPr>
      </p:sp>
      <p:sp>
        <p:nvSpPr>
          <p:cNvPr id="34" name="Text 31"/>
          <p:cNvSpPr txBox="1"/>
          <p:nvPr/>
        </p:nvSpPr>
        <p:spPr>
          <a:xfrm>
            <a:off x="731520" y="5806440"/>
            <a:ext cx="10698480" cy="457200"/>
          </a:xfrm>
          <a:prstGeom prst="rect">
            <a:avLst/>
          </a:prstGeom>
          <a:noFill/>
          <a:ln/>
        </p:spPr>
        <p:txBody>
          <a:bodyPr wrap="square" lIns="0" tIns="0" rIns="0" bIns="0" rtlCol="0" anchor="ctr"/>
          <a:lstStyle/>
          <a:p>
            <a:pPr indent="0" marL="0">
              <a:buNone/>
            </a:pPr>
            <a:r>
              <a:rPr lang="en-US" sz="1300" b="1" dirty="0">
                <a:solidFill>
                  <a:schemeClr val="accent1"/>
                </a:solidFill>
              </a:rPr>
              <a:t>corrections</a:t>
            </a:r>
            <a:pPr indent="0" marL="0">
              <a:buNone/>
            </a:pPr>
            <a:r>
              <a:rPr lang="en-US" sz="1300" dirty="0">
                <a:solidFill>
                  <a:schemeClr val="tx1"/>
                </a:solidFill>
              </a:rPr>
              <a:t> : note_id (FK → notes), ancienne_note, nouvelle_note, motif, enseignant_id (FK → enseignants), date_correction</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indent="0" marL="0">
              <a:buNone/>
            </a:pPr>
            <a:r>
              <a:rPr lang="en-US" sz="3000" b="1" dirty="0">
                <a:solidFill>
                  <a:schemeClr val="tx1"/>
                </a:solidFill>
              </a:rPr>
              <a:t>Contraintes : la base fait respecter les règles</a:t>
            </a:r>
            <a:endParaRPr lang="en-US" sz="3000" dirty="0"/>
          </a:p>
        </p:txBody>
      </p:sp>
      <p:sp>
        <p:nvSpPr>
          <p:cNvPr id="4" name="Liste"/>
          <p:cNvSpPr txBox="1"/>
          <p:nvPr/>
        </p:nvSpPr>
        <p:spPr>
          <a:xfrm>
            <a:off x="548640" y="1325880"/>
            <a:ext cx="5760720" cy="3566160"/>
          </a:xfrm>
          <a:prstGeom prst="rect">
            <a:avLst/>
          </a:prstGeom>
          <a:noFill/>
          <a:ln/>
        </p:spPr>
        <p:txBody>
          <a:bodyPr wrap="square" lIns="0" tIns="0" rIns="0" bIns="0" rtlCol="0" anchor="t"/>
          <a:lstStyle/>
          <a:p>
            <a:pPr marL="203200" indent="-203200">
              <a:spcAft>
                <a:spcPts val="800"/>
              </a:spcAft>
              <a:buSzPct val="100000"/>
              <a:buChar char="•"/>
            </a:pPr>
            <a:r>
              <a:rPr lang="en-US" sz="1500" b="1" dirty="0">
                <a:solidFill>
                  <a:schemeClr val="tx1"/>
                </a:solidFill>
                <a:latin typeface="Courier New" pitchFamily="34" charset="0"/>
                <a:ea typeface="Courier New" pitchFamily="34" charset="-122"/>
                <a:cs typeface="Courier New" pitchFamily="34" charset="-120"/>
              </a:rPr>
              <a:t>UNIQUE (eleve_id, matiere_id, sequence)</a:t>
            </a:r>
            <a:pPr indent="0" marL="0">
              <a:spcAft>
                <a:spcPts val="800"/>
              </a:spcAft>
              <a:buNone/>
            </a:pPr>
            <a:r>
              <a:rPr lang="en-US" sz="1500" dirty="0">
                <a:solidFill>
                  <a:schemeClr val="tx1"/>
                </a:solidFill>
              </a:rPr>
              <a:t> : une note ne peut pas être saisie deux fois.</a:t>
            </a:r>
            <a:endParaRPr lang="en-US" sz="1500" dirty="0"/>
          </a:p>
          <a:p>
            <a:pPr marL="203200" indent="-203200">
              <a:spcAft>
                <a:spcPts val="800"/>
              </a:spcAft>
              <a:buSzPct val="100000"/>
              <a:buChar char="•"/>
            </a:pPr>
            <a:r>
              <a:rPr lang="en-US" sz="1500" b="1" dirty="0">
                <a:solidFill>
                  <a:schemeClr val="tx1"/>
                </a:solidFill>
                <a:latin typeface="Courier New" pitchFamily="34" charset="0"/>
                <a:ea typeface="Courier New" pitchFamily="34" charset="-122"/>
                <a:cs typeface="Courier New" pitchFamily="34" charset="-120"/>
              </a:rPr>
              <a:t>CHECK (note BETWEEN 0 AND 20)</a:t>
            </a:r>
            <a:pPr indent="0" marL="0">
              <a:spcAft>
                <a:spcPts val="800"/>
              </a:spcAft>
              <a:buNone/>
            </a:pPr>
            <a:r>
              <a:rPr lang="en-US" sz="1500" dirty="0">
                <a:solidFill>
                  <a:schemeClr val="tx1"/>
                </a:solidFill>
              </a:rPr>
              <a:t> et séquence de 1 à 6.</a:t>
            </a:r>
            <a:endParaRPr lang="en-US" sz="1500" dirty="0"/>
          </a:p>
          <a:p>
            <a:pPr marL="203200" indent="-203200">
              <a:spcAft>
                <a:spcPts val="800"/>
              </a:spcAft>
              <a:buSzPct val="100000"/>
              <a:buChar char="•"/>
            </a:pPr>
            <a:r>
              <a:rPr lang="en-US" sz="1500" b="1" dirty="0">
                <a:solidFill>
                  <a:schemeClr val="tx1"/>
                </a:solidFill>
                <a:latin typeface="Courier New" pitchFamily="34" charset="0"/>
                <a:ea typeface="Courier New" pitchFamily="34" charset="-122"/>
                <a:cs typeface="Courier New" pitchFamily="34" charset="-120"/>
              </a:rPr>
              <a:t>UNIQUE (classe_id, matiere_id, sequence)</a:t>
            </a:r>
            <a:pPr indent="0" marL="0">
              <a:spcAft>
                <a:spcPts val="800"/>
              </a:spcAft>
              <a:buNone/>
            </a:pPr>
            <a:r>
              <a:rPr lang="en-US" sz="1500" dirty="0">
                <a:solidFill>
                  <a:schemeClr val="tx1"/>
                </a:solidFill>
              </a:rPr>
              <a:t> : une évaluation par séquence.</a:t>
            </a:r>
            <a:endParaRPr lang="en-US" sz="1500" dirty="0"/>
          </a:p>
          <a:p>
            <a:pPr marL="203200" indent="-203200">
              <a:spcAft>
                <a:spcPts val="800"/>
              </a:spcAft>
              <a:buSzPct val="100000"/>
              <a:buChar char="•"/>
            </a:pPr>
            <a:r>
              <a:rPr lang="en-US" sz="1500" b="1" dirty="0">
                <a:solidFill>
                  <a:schemeClr val="tx1"/>
                </a:solidFill>
              </a:rPr>
              <a:t>Clés étrangères </a:t>
            </a:r>
            <a:pPr indent="0" marL="0">
              <a:spcAft>
                <a:spcPts val="800"/>
              </a:spcAft>
              <a:buNone/>
            </a:pPr>
            <a:r>
              <a:rPr lang="en-US" sz="1500" dirty="0">
                <a:solidFill>
                  <a:schemeClr val="tx1"/>
                </a:solidFill>
              </a:rPr>
              <a:t>activées à chaque connexion (PRAGMA foreign_keys = ON), suppression en cascade des notes d'un élève.</a:t>
            </a:r>
            <a:endParaRPr lang="en-US" sz="1500" dirty="0"/>
          </a:p>
          <a:p>
            <a:pPr marL="203200" indent="-203200">
              <a:spcAft>
                <a:spcPts val="800"/>
              </a:spcAft>
              <a:buSzPct val="100000"/>
              <a:buChar char="•"/>
            </a:pPr>
            <a:r>
              <a:rPr lang="en-US" sz="1500" b="1" dirty="0">
                <a:solidFill>
                  <a:schemeClr val="tx1"/>
                </a:solidFill>
              </a:rPr>
              <a:t>Matricule et identifiant </a:t>
            </a:r>
            <a:pPr indent="0" marL="0">
              <a:spcAft>
                <a:spcPts val="800"/>
              </a:spcAft>
              <a:buNone/>
            </a:pPr>
            <a:r>
              <a:rPr lang="en-US" sz="1500" dirty="0">
                <a:solidFill>
                  <a:schemeClr val="tx1"/>
                </a:solidFill>
              </a:rPr>
              <a:t>uniques ; mots de passe et codes stockés en empreinte.</a:t>
            </a:r>
            <a:endParaRPr lang="en-US" sz="1500" dirty="0"/>
          </a:p>
        </p:txBody>
      </p:sp>
      <p:sp>
        <p:nvSpPr>
          <p:cNvPr id="5" name="Fond du code"/>
          <p:cNvSpPr/>
          <p:nvPr/>
        </p:nvSpPr>
        <p:spPr>
          <a:xfrm>
            <a:off x="6583680" y="1325880"/>
            <a:ext cx="5029200" cy="3566160"/>
          </a:xfrm>
          <a:prstGeom prst="roundRect">
            <a:avLst>
              <a:gd name="adj" fmla="val 2051"/>
            </a:avLst>
          </a:prstGeom>
          <a:solidFill>
            <a:schemeClr val="tx1"/>
          </a:solidFill>
          <a:ln w="12700">
            <a:solidFill>
              <a:schemeClr val="tx1"/>
            </a:solidFill>
            <a:prstDash val="solid"/>
          </a:ln>
        </p:spPr>
      </p:sp>
      <p:sp>
        <p:nvSpPr>
          <p:cNvPr id="6" name="Extrait de code"/>
          <p:cNvSpPr txBox="1"/>
          <p:nvPr/>
        </p:nvSpPr>
        <p:spPr>
          <a:xfrm>
            <a:off x="6766560" y="1463040"/>
            <a:ext cx="4663440" cy="3291840"/>
          </a:xfrm>
          <a:prstGeom prst="rect">
            <a:avLst/>
          </a:prstGeom>
          <a:noFill/>
          <a:ln/>
        </p:spPr>
        <p:txBody>
          <a:bodyPr wrap="square" lIns="0" tIns="0" rIns="0" bIns="0" rtlCol="0" anchor="t"/>
          <a:lstStyle/>
          <a:p>
            <a:pPr indent="0" marL="0">
              <a:buNone/>
            </a:pPr>
            <a:r>
              <a:rPr lang="en-US" sz="1200" dirty="0">
                <a:solidFill>
                  <a:srgbClr val="E2E8F0"/>
                </a:solidFill>
                <a:latin typeface="Courier New" pitchFamily="34" charset="0"/>
                <a:ea typeface="Courier New" pitchFamily="34" charset="-122"/>
                <a:cs typeface="Courier New" pitchFamily="34" charset="-120"/>
              </a:rPr>
              <a:t>CREATE TABLE notes (</a:t>
            </a:r>
            <a:endParaRPr lang="en-US" sz="1200" dirty="0"/>
          </a:p>
          <a:p>
            <a:pPr indent="0" marL="0">
              <a:buNone/>
            </a:pPr>
            <a:r>
              <a:rPr lang="en-US" sz="1200" dirty="0">
                <a:solidFill>
                  <a:srgbClr val="E2E8F0"/>
                </a:solidFill>
                <a:latin typeface="Courier New" pitchFamily="34" charset="0"/>
                <a:ea typeface="Courier New" pitchFamily="34" charset="-122"/>
                <a:cs typeface="Courier New" pitchFamily="34" charset="-120"/>
              </a:rPr>
              <a:t>  id         INTEGER PRIMARY KEY,</a:t>
            </a:r>
            <a:endParaRPr lang="en-US" sz="1200" dirty="0"/>
          </a:p>
          <a:p>
            <a:pPr indent="0" marL="0">
              <a:buNone/>
            </a:pPr>
            <a:r>
              <a:rPr lang="en-US" sz="1200" dirty="0">
                <a:solidFill>
                  <a:srgbClr val="E2E8F0"/>
                </a:solidFill>
                <a:latin typeface="Courier New" pitchFamily="34" charset="0"/>
                <a:ea typeface="Courier New" pitchFamily="34" charset="-122"/>
                <a:cs typeface="Courier New" pitchFamily="34" charset="-120"/>
              </a:rPr>
              <a:t>  eleve_id   INTEGER NOT NULL</a:t>
            </a:r>
            <a:endParaRPr lang="en-US" sz="1200" dirty="0"/>
          </a:p>
          <a:p>
            <a:pPr indent="0" marL="0">
              <a:buNone/>
            </a:pPr>
            <a:r>
              <a:rPr lang="en-US" sz="1200" dirty="0">
                <a:solidFill>
                  <a:srgbClr val="E2E8F0"/>
                </a:solidFill>
                <a:latin typeface="Courier New" pitchFamily="34" charset="0"/>
                <a:ea typeface="Courier New" pitchFamily="34" charset="-122"/>
                <a:cs typeface="Courier New" pitchFamily="34" charset="-120"/>
              </a:rPr>
              <a:t>             REFERENCES eleves (id)</a:t>
            </a:r>
            <a:endParaRPr lang="en-US" sz="1200" dirty="0"/>
          </a:p>
          <a:p>
            <a:pPr indent="0" marL="0">
              <a:buNone/>
            </a:pPr>
            <a:r>
              <a:rPr lang="en-US" sz="1200" dirty="0">
                <a:solidFill>
                  <a:srgbClr val="E2E8F0"/>
                </a:solidFill>
                <a:latin typeface="Courier New" pitchFamily="34" charset="0"/>
                <a:ea typeface="Courier New" pitchFamily="34" charset="-122"/>
                <a:cs typeface="Courier New" pitchFamily="34" charset="-120"/>
              </a:rPr>
              <a:t>             ON DELETE CASCADE,</a:t>
            </a:r>
            <a:endParaRPr lang="en-US" sz="1200" dirty="0"/>
          </a:p>
          <a:p>
            <a:pPr indent="0" marL="0">
              <a:buNone/>
            </a:pPr>
            <a:r>
              <a:rPr lang="en-US" sz="1200" dirty="0">
                <a:solidFill>
                  <a:srgbClr val="E2E8F0"/>
                </a:solidFill>
                <a:latin typeface="Courier New" pitchFamily="34" charset="0"/>
                <a:ea typeface="Courier New" pitchFamily="34" charset="-122"/>
                <a:cs typeface="Courier New" pitchFamily="34" charset="-120"/>
              </a:rPr>
              <a:t>  matiere_id INTEGER NOT NULL</a:t>
            </a:r>
            <a:endParaRPr lang="en-US" sz="1200" dirty="0"/>
          </a:p>
          <a:p>
            <a:pPr indent="0" marL="0">
              <a:buNone/>
            </a:pPr>
            <a:r>
              <a:rPr lang="en-US" sz="1200" dirty="0">
                <a:solidFill>
                  <a:srgbClr val="E2E8F0"/>
                </a:solidFill>
                <a:latin typeface="Courier New" pitchFamily="34" charset="0"/>
                <a:ea typeface="Courier New" pitchFamily="34" charset="-122"/>
                <a:cs typeface="Courier New" pitchFamily="34" charset="-120"/>
              </a:rPr>
              <a:t>             REFERENCES matieres (id),</a:t>
            </a:r>
            <a:endParaRPr lang="en-US" sz="1200" dirty="0"/>
          </a:p>
          <a:p>
            <a:pPr indent="0" marL="0">
              <a:buNone/>
            </a:pPr>
            <a:r>
              <a:rPr lang="en-US" sz="1200" dirty="0">
                <a:solidFill>
                  <a:srgbClr val="E2E8F0"/>
                </a:solidFill>
                <a:latin typeface="Courier New" pitchFamily="34" charset="0"/>
                <a:ea typeface="Courier New" pitchFamily="34" charset="-122"/>
                <a:cs typeface="Courier New" pitchFamily="34" charset="-120"/>
              </a:rPr>
              <a:t>  sequence   INTEGER NOT NULL</a:t>
            </a:r>
            <a:endParaRPr lang="en-US" sz="1200" dirty="0"/>
          </a:p>
          <a:p>
            <a:pPr indent="0" marL="0">
              <a:buNone/>
            </a:pPr>
            <a:r>
              <a:rPr lang="en-US" sz="1200" dirty="0">
                <a:solidFill>
                  <a:srgbClr val="E2E8F0"/>
                </a:solidFill>
                <a:latin typeface="Courier New" pitchFamily="34" charset="0"/>
                <a:ea typeface="Courier New" pitchFamily="34" charset="-122"/>
                <a:cs typeface="Courier New" pitchFamily="34" charset="-120"/>
              </a:rPr>
              <a:t>             CHECK (sequence BETWEEN 1 AND 6),</a:t>
            </a:r>
            <a:endParaRPr lang="en-US" sz="1200" dirty="0"/>
          </a:p>
          <a:p>
            <a:pPr indent="0" marL="0">
              <a:buNone/>
            </a:pPr>
            <a:r>
              <a:rPr lang="en-US" sz="1200" dirty="0">
                <a:solidFill>
                  <a:srgbClr val="E2E8F0"/>
                </a:solidFill>
                <a:latin typeface="Courier New" pitchFamily="34" charset="0"/>
                <a:ea typeface="Courier New" pitchFamily="34" charset="-122"/>
                <a:cs typeface="Courier New" pitchFamily="34" charset="-120"/>
              </a:rPr>
              <a:t>  note       REAL NOT NULL</a:t>
            </a:r>
            <a:endParaRPr lang="en-US" sz="1200" dirty="0"/>
          </a:p>
          <a:p>
            <a:pPr indent="0" marL="0">
              <a:buNone/>
            </a:pPr>
            <a:r>
              <a:rPr lang="en-US" sz="1200" dirty="0">
                <a:solidFill>
                  <a:srgbClr val="E2E8F0"/>
                </a:solidFill>
                <a:latin typeface="Courier New" pitchFamily="34" charset="0"/>
                <a:ea typeface="Courier New" pitchFamily="34" charset="-122"/>
                <a:cs typeface="Courier New" pitchFamily="34" charset="-120"/>
              </a:rPr>
              <a:t>             CHECK (note BETWEEN 0 AND 20),</a:t>
            </a:r>
            <a:endParaRPr lang="en-US" sz="1200" dirty="0"/>
          </a:p>
          <a:p>
            <a:pPr indent="0" marL="0">
              <a:buNone/>
            </a:pPr>
            <a:r>
              <a:rPr lang="en-US" sz="1200" dirty="0">
                <a:solidFill>
                  <a:srgbClr val="E2E8F0"/>
                </a:solidFill>
                <a:latin typeface="Courier New" pitchFamily="34" charset="0"/>
                <a:ea typeface="Courier New" pitchFamily="34" charset="-122"/>
                <a:cs typeface="Courier New" pitchFamily="34" charset="-120"/>
              </a:rPr>
              <a:t>  UNIQUE (eleve_id, matiere_id, sequence)</a:t>
            </a:r>
            <a:endParaRPr lang="en-US" sz="1200" dirty="0"/>
          </a:p>
          <a:p>
            <a:pPr indent="0" marL="0">
              <a:buNone/>
            </a:pPr>
            <a:r>
              <a:rPr lang="en-US" sz="1200" dirty="0">
                <a:solidFill>
                  <a:srgbClr val="E2E8F0"/>
                </a:solidFill>
                <a:latin typeface="Courier New" pitchFamily="34" charset="0"/>
                <a:ea typeface="Courier New" pitchFamily="34" charset="-122"/>
                <a:cs typeface="Courier New" pitchFamily="34" charset="-120"/>
              </a:rPr>
              <a:t>);</a:t>
            </a:r>
            <a:endParaRPr lang="en-US" sz="1200" dirty="0"/>
          </a:p>
        </p:txBody>
      </p:sp>
      <p:sp>
        <p:nvSpPr>
          <p:cNvPr id="7" name="Légende"/>
          <p:cNvSpPr txBox="1"/>
          <p:nvPr/>
        </p:nvSpPr>
        <p:spPr>
          <a:xfrm>
            <a:off x="6583680" y="4956048"/>
            <a:ext cx="5029200" cy="292608"/>
          </a:xfrm>
          <a:prstGeom prst="rect">
            <a:avLst/>
          </a:prstGeom>
          <a:noFill/>
          <a:ln/>
        </p:spPr>
        <p:txBody>
          <a:bodyPr wrap="square" lIns="0" tIns="0" rIns="0" bIns="0" rtlCol="0" anchor="ctr"/>
          <a:lstStyle/>
          <a:p>
            <a:pPr indent="0" marL="0">
              <a:buNone/>
            </a:pPr>
            <a:r>
              <a:rPr lang="en-US" sz="1100" i="1" dirty="0">
                <a:solidFill>
                  <a:schemeClr val="accent5"/>
                </a:solidFill>
              </a:rPr>
              <a:t>Extrait de schema.sql : la table des notes.</a:t>
            </a:r>
            <a:endParaRPr lang="en-US" sz="1100" dirty="0"/>
          </a:p>
        </p:txBody>
      </p:sp>
      <p:sp>
        <p:nvSpPr>
          <p:cNvPr id="8" name="Volume élèves"/>
          <p:cNvSpPr/>
          <p:nvPr/>
        </p:nvSpPr>
        <p:spPr>
          <a:xfrm>
            <a:off x="548640" y="5349240"/>
            <a:ext cx="2057400" cy="868680"/>
          </a:xfrm>
          <a:prstGeom prst="roundRect">
            <a:avLst>
              <a:gd name="adj" fmla="val 10526"/>
            </a:avLst>
          </a:prstGeom>
          <a:solidFill>
            <a:schemeClr val="bg2"/>
          </a:solidFill>
          <a:ln w="12700">
            <a:solidFill>
              <a:schemeClr val="bg2"/>
            </a:solidFill>
            <a:prstDash val="solid"/>
          </a:ln>
        </p:spPr>
      </p:sp>
      <p:sp>
        <p:nvSpPr>
          <p:cNvPr id="9" name="Text 6"/>
          <p:cNvSpPr txBox="1"/>
          <p:nvPr/>
        </p:nvSpPr>
        <p:spPr>
          <a:xfrm>
            <a:off x="685800" y="5349240"/>
            <a:ext cx="1828800" cy="868680"/>
          </a:xfrm>
          <a:prstGeom prst="rect">
            <a:avLst/>
          </a:prstGeom>
          <a:noFill/>
          <a:ln/>
        </p:spPr>
        <p:txBody>
          <a:bodyPr wrap="square" lIns="0" tIns="0" rIns="0" bIns="0" rtlCol="0" anchor="ctr"/>
          <a:lstStyle/>
          <a:p>
            <a:pPr indent="0" marL="0">
              <a:buNone/>
            </a:pPr>
            <a:r>
              <a:rPr lang="en-US" sz="2600" b="1" dirty="0">
                <a:solidFill>
                  <a:schemeClr val="accent1"/>
                </a:solidFill>
              </a:rPr>
              <a:t>120</a:t>
            </a:r>
            <a:pPr indent="0" marL="0">
              <a:buNone/>
            </a:pPr>
            <a:r>
              <a:rPr lang="en-US" sz="1400" dirty="0">
                <a:solidFill>
                  <a:schemeClr val="accent5"/>
                </a:solidFill>
              </a:rPr>
              <a:t>  élèves</a:t>
            </a:r>
            <a:endParaRPr lang="en-US" sz="2600" dirty="0"/>
          </a:p>
        </p:txBody>
      </p:sp>
      <p:sp>
        <p:nvSpPr>
          <p:cNvPr id="10" name="Volume classes"/>
          <p:cNvSpPr/>
          <p:nvPr/>
        </p:nvSpPr>
        <p:spPr>
          <a:xfrm>
            <a:off x="2788920" y="5349240"/>
            <a:ext cx="2057400" cy="868680"/>
          </a:xfrm>
          <a:prstGeom prst="roundRect">
            <a:avLst>
              <a:gd name="adj" fmla="val 10526"/>
            </a:avLst>
          </a:prstGeom>
          <a:solidFill>
            <a:schemeClr val="bg2"/>
          </a:solidFill>
          <a:ln w="12700">
            <a:solidFill>
              <a:schemeClr val="bg2"/>
            </a:solidFill>
            <a:prstDash val="solid"/>
          </a:ln>
        </p:spPr>
      </p:sp>
      <p:sp>
        <p:nvSpPr>
          <p:cNvPr id="11" name="Text 8"/>
          <p:cNvSpPr txBox="1"/>
          <p:nvPr/>
        </p:nvSpPr>
        <p:spPr>
          <a:xfrm>
            <a:off x="2926080" y="5349240"/>
            <a:ext cx="1828800" cy="868680"/>
          </a:xfrm>
          <a:prstGeom prst="rect">
            <a:avLst/>
          </a:prstGeom>
          <a:noFill/>
          <a:ln/>
        </p:spPr>
        <p:txBody>
          <a:bodyPr wrap="square" lIns="0" tIns="0" rIns="0" bIns="0" rtlCol="0" anchor="ctr"/>
          <a:lstStyle/>
          <a:p>
            <a:pPr indent="0" marL="0">
              <a:buNone/>
            </a:pPr>
            <a:r>
              <a:rPr lang="en-US" sz="2600" b="1" dirty="0">
                <a:solidFill>
                  <a:schemeClr val="accent1"/>
                </a:solidFill>
              </a:rPr>
              <a:t>4</a:t>
            </a:r>
            <a:pPr indent="0" marL="0">
              <a:buNone/>
            </a:pPr>
            <a:r>
              <a:rPr lang="en-US" sz="1400" dirty="0">
                <a:solidFill>
                  <a:schemeClr val="accent5"/>
                </a:solidFill>
              </a:rPr>
              <a:t>  classes</a:t>
            </a:r>
            <a:endParaRPr lang="en-US" sz="2600" dirty="0"/>
          </a:p>
        </p:txBody>
      </p:sp>
      <p:sp>
        <p:nvSpPr>
          <p:cNvPr id="12" name="Volume matières"/>
          <p:cNvSpPr/>
          <p:nvPr/>
        </p:nvSpPr>
        <p:spPr>
          <a:xfrm>
            <a:off x="5029200" y="5349240"/>
            <a:ext cx="2057400" cy="868680"/>
          </a:xfrm>
          <a:prstGeom prst="roundRect">
            <a:avLst>
              <a:gd name="adj" fmla="val 10526"/>
            </a:avLst>
          </a:prstGeom>
          <a:solidFill>
            <a:schemeClr val="bg2"/>
          </a:solidFill>
          <a:ln w="12700">
            <a:solidFill>
              <a:schemeClr val="bg2"/>
            </a:solidFill>
            <a:prstDash val="solid"/>
          </a:ln>
        </p:spPr>
      </p:sp>
      <p:sp>
        <p:nvSpPr>
          <p:cNvPr id="13" name="Text 10"/>
          <p:cNvSpPr txBox="1"/>
          <p:nvPr/>
        </p:nvSpPr>
        <p:spPr>
          <a:xfrm>
            <a:off x="5166360" y="5349240"/>
            <a:ext cx="1828800" cy="868680"/>
          </a:xfrm>
          <a:prstGeom prst="rect">
            <a:avLst/>
          </a:prstGeom>
          <a:noFill/>
          <a:ln/>
        </p:spPr>
        <p:txBody>
          <a:bodyPr wrap="square" lIns="0" tIns="0" rIns="0" bIns="0" rtlCol="0" anchor="ctr"/>
          <a:lstStyle/>
          <a:p>
            <a:pPr indent="0" marL="0">
              <a:buNone/>
            </a:pPr>
            <a:r>
              <a:rPr lang="en-US" sz="2600" b="1" dirty="0">
                <a:solidFill>
                  <a:schemeClr val="accent1"/>
                </a:solidFill>
              </a:rPr>
              <a:t>8</a:t>
            </a:r>
            <a:pPr indent="0" marL="0">
              <a:buNone/>
            </a:pPr>
            <a:r>
              <a:rPr lang="en-US" sz="1400" dirty="0">
                <a:solidFill>
                  <a:schemeClr val="accent5"/>
                </a:solidFill>
              </a:rPr>
              <a:t>  matières</a:t>
            </a:r>
            <a:endParaRPr lang="en-US" sz="2600" dirty="0"/>
          </a:p>
        </p:txBody>
      </p:sp>
      <p:sp>
        <p:nvSpPr>
          <p:cNvPr id="14" name="Volume évaluations"/>
          <p:cNvSpPr/>
          <p:nvPr/>
        </p:nvSpPr>
        <p:spPr>
          <a:xfrm>
            <a:off x="7269480" y="5349240"/>
            <a:ext cx="2057400" cy="868680"/>
          </a:xfrm>
          <a:prstGeom prst="roundRect">
            <a:avLst>
              <a:gd name="adj" fmla="val 10526"/>
            </a:avLst>
          </a:prstGeom>
          <a:solidFill>
            <a:schemeClr val="bg2"/>
          </a:solidFill>
          <a:ln w="12700">
            <a:solidFill>
              <a:schemeClr val="bg2"/>
            </a:solidFill>
            <a:prstDash val="solid"/>
          </a:ln>
        </p:spPr>
      </p:sp>
      <p:sp>
        <p:nvSpPr>
          <p:cNvPr id="15" name="Text 12"/>
          <p:cNvSpPr txBox="1"/>
          <p:nvPr/>
        </p:nvSpPr>
        <p:spPr>
          <a:xfrm>
            <a:off x="7406640" y="5349240"/>
            <a:ext cx="1828800" cy="868680"/>
          </a:xfrm>
          <a:prstGeom prst="rect">
            <a:avLst/>
          </a:prstGeom>
          <a:noFill/>
          <a:ln/>
        </p:spPr>
        <p:txBody>
          <a:bodyPr wrap="square" lIns="0" tIns="0" rIns="0" bIns="0" rtlCol="0" anchor="ctr"/>
          <a:lstStyle/>
          <a:p>
            <a:pPr indent="0" marL="0">
              <a:buNone/>
            </a:pPr>
            <a:r>
              <a:rPr lang="en-US" sz="2600" b="1" dirty="0">
                <a:solidFill>
                  <a:schemeClr val="accent1"/>
                </a:solidFill>
              </a:rPr>
              <a:t>72</a:t>
            </a:r>
            <a:pPr indent="0" marL="0">
              <a:buNone/>
            </a:pPr>
            <a:r>
              <a:rPr lang="en-US" sz="1400" dirty="0">
                <a:solidFill>
                  <a:schemeClr val="accent5"/>
                </a:solidFill>
              </a:rPr>
              <a:t>  évaluations</a:t>
            </a:r>
            <a:endParaRPr lang="en-US" sz="2600" dirty="0"/>
          </a:p>
        </p:txBody>
      </p:sp>
      <p:sp>
        <p:nvSpPr>
          <p:cNvPr id="16" name="Volume notes"/>
          <p:cNvSpPr/>
          <p:nvPr/>
        </p:nvSpPr>
        <p:spPr>
          <a:xfrm>
            <a:off x="9509760" y="5349240"/>
            <a:ext cx="2057400" cy="868680"/>
          </a:xfrm>
          <a:prstGeom prst="roundRect">
            <a:avLst>
              <a:gd name="adj" fmla="val 10526"/>
            </a:avLst>
          </a:prstGeom>
          <a:solidFill>
            <a:schemeClr val="bg2"/>
          </a:solidFill>
          <a:ln w="12700">
            <a:solidFill>
              <a:schemeClr val="bg2"/>
            </a:solidFill>
            <a:prstDash val="solid"/>
          </a:ln>
        </p:spPr>
      </p:sp>
      <p:sp>
        <p:nvSpPr>
          <p:cNvPr id="17" name="Text 14"/>
          <p:cNvSpPr txBox="1"/>
          <p:nvPr/>
        </p:nvSpPr>
        <p:spPr>
          <a:xfrm>
            <a:off x="9646920" y="5349240"/>
            <a:ext cx="1828800" cy="868680"/>
          </a:xfrm>
          <a:prstGeom prst="rect">
            <a:avLst/>
          </a:prstGeom>
          <a:noFill/>
          <a:ln/>
        </p:spPr>
        <p:txBody>
          <a:bodyPr wrap="square" lIns="0" tIns="0" rIns="0" bIns="0" rtlCol="0" anchor="ctr"/>
          <a:lstStyle/>
          <a:p>
            <a:pPr indent="0" marL="0">
              <a:buNone/>
            </a:pPr>
            <a:r>
              <a:rPr lang="en-US" sz="2600" b="1" dirty="0">
                <a:solidFill>
                  <a:schemeClr val="accent1"/>
                </a:solidFill>
              </a:rPr>
              <a:t>1 920</a:t>
            </a:r>
            <a:pPr indent="0" marL="0">
              <a:buNone/>
            </a:pPr>
            <a:r>
              <a:rPr lang="en-US" sz="1400" dirty="0">
                <a:solidFill>
                  <a:schemeClr val="accent5"/>
                </a:solidFill>
              </a:rPr>
              <a:t>  notes</a:t>
            </a:r>
            <a:endParaRPr lang="en-US" sz="2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indent="0" marL="0">
              <a:buNone/>
            </a:pPr>
            <a:r>
              <a:rPr lang="en-US" sz="3000" b="1" dirty="0">
                <a:solidFill>
                  <a:schemeClr val="tx1"/>
                </a:solidFill>
              </a:rPr>
              <a:t>Routes Flask : 34 adresses</a:t>
            </a:r>
            <a:endParaRPr lang="en-US" sz="3000" dirty="0"/>
          </a:p>
        </p:txBody>
      </p:sp>
      <p:graphicFrame>
        <p:nvGraphicFramePr>
          <p:cNvPr id="8" name="Tableau des routes"/>
          <p:cNvGraphicFramePr>
            <a:graphicFrameLocks noGrp="1"/>
          </p:cNvGraphicFramePr>
          <p:nvPr>
            <p:extLst>
              <p:ext uri="{D42A27DB-BD31-4B8C-83A1-F6EECF244321}">
                <p14:modId xmlns:p14="http://schemas.microsoft.com/office/powerpoint/2010/main" val="1579011935"/>
              </p:ext>
            </p:extLst>
          </p:nvPr>
        </p:nvGraphicFramePr>
        <p:xfrm>
          <a:off x="548640" y="1280160"/>
          <a:ext cx="5486400" cy="914400"/>
        </p:xfrm>
        <a:graphic>
          <a:graphicData uri="http://schemas.openxmlformats.org/drawingml/2006/table">
            <a:tbl>
              <a:tblPr/>
              <a:tblGrid>
                <a:gridCol w="2971800"/>
                <a:gridCol w="914400"/>
                <a:gridCol w="1600200"/>
              </a:tblGrid>
              <a:tr h="365760">
                <a:tc>
                  <a:txBody>
                    <a:bodyPr/>
                    <a:lstStyle/>
                    <a:p>
                      <a:pPr indent="0" marL="0">
                        <a:buNone/>
                      </a:pPr>
                      <a:r>
                        <a:rPr lang="en-US" sz="1200" b="1" dirty="0">
                          <a:solidFill>
                            <a:srgbClr val="FFFFFF"/>
                          </a:solidFill>
                        </a:rPr>
                        <a:t>Adresse</a:t>
                      </a:r>
                      <a:endParaRPr lang="en-US" sz="12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c>
                  <a:txBody>
                    <a:bodyPr/>
                    <a:lstStyle/>
                    <a:p>
                      <a:pPr indent="0" marL="0">
                        <a:buNone/>
                      </a:pPr>
                      <a:r>
                        <a:rPr lang="en-US" sz="1200" b="1" dirty="0">
                          <a:solidFill>
                            <a:srgbClr val="FFFFFF"/>
                          </a:solidFill>
                        </a:rPr>
                        <a:t>Méthode</a:t>
                      </a:r>
                      <a:endParaRPr lang="en-US" sz="12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c>
                  <a:txBody>
                    <a:bodyPr/>
                    <a:lstStyle/>
                    <a:p>
                      <a:pPr indent="0" marL="0">
                        <a:buNone/>
                      </a:pPr>
                      <a:r>
                        <a:rPr lang="en-US" sz="1200" b="1" dirty="0">
                          <a:solidFill>
                            <a:srgbClr val="FFFFFF"/>
                          </a:solidFill>
                        </a:rPr>
                        <a:t>Rôle</a:t>
                      </a:r>
                      <a:endParaRPr lang="en-US" sz="12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r>
              <a:tr h="365760">
                <a:tc>
                  <a:txBody>
                    <a:bodyPr/>
                    <a:lstStyle/>
                    <a:p>
                      <a:pPr indent="0" marL="0">
                        <a:buNone/>
                      </a:pPr>
                      <a:r>
                        <a:rPr lang="en-US" sz="1100" dirty="0">
                          <a:solidFill>
                            <a:srgbClr val="0F172A"/>
                          </a:solidFill>
                          <a:latin typeface="Courier New" pitchFamily="34" charset="0"/>
                          <a:ea typeface="Courier New" pitchFamily="34" charset="-122"/>
                          <a:cs typeface="Courier New" pitchFamily="34" charset="-120"/>
                        </a:rPr>
                        <a:t>/</a:t>
                      </a:r>
                      <a:endParaRPr lang="en-US" sz="1100" dirty="0">
                        <a:latin typeface="Courier New" charset="0"/>
                        <a:ea typeface="Courier New" charset="0"/>
                        <a:cs typeface="Courier New" charset="0"/>
                      </a:endParaRPr>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200" b="1" dirty="0">
                          <a:solidFill>
                            <a:srgbClr val="0F172A"/>
                          </a:solidFill>
                        </a:rPr>
                        <a:t>GET</a:t>
                      </a:r>
                      <a:endParaRPr lang="en-US" sz="12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200" dirty="0">
                          <a:solidFill>
                            <a:srgbClr val="0F172A"/>
                          </a:solidFill>
                        </a:rPr>
                        <a:t>Accueil, connexion</a:t>
                      </a:r>
                      <a:endParaRPr lang="en-US" sz="12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r>
              <a:tr h="365760">
                <a:tc>
                  <a:txBody>
                    <a:bodyPr/>
                    <a:lstStyle/>
                    <a:p>
                      <a:pPr indent="0" marL="0">
                        <a:buNone/>
                      </a:pPr>
                      <a:r>
                        <a:rPr lang="en-US" sz="1100" dirty="0">
                          <a:solidFill>
                            <a:srgbClr val="0F172A"/>
                          </a:solidFill>
                          <a:latin typeface="Courier New" pitchFamily="34" charset="0"/>
                          <a:ea typeface="Courier New" pitchFamily="34" charset="-122"/>
                          <a:cs typeface="Courier New" pitchFamily="34" charset="-120"/>
                        </a:rPr>
                        <a:t>/connexion/eleve</a:t>
                      </a:r>
                      <a:endParaRPr lang="en-US" sz="1100" dirty="0">
                        <a:latin typeface="Courier New" charset="0"/>
                        <a:ea typeface="Courier New" charset="0"/>
                        <a:cs typeface="Courier New" charset="0"/>
                      </a:endParaRPr>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b="1" dirty="0">
                          <a:solidFill>
                            <a:srgbClr val="B45309"/>
                          </a:solidFill>
                        </a:rPr>
                        <a:t>POST</a:t>
                      </a:r>
                      <a:endParaRPr lang="en-US" sz="12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0F172A"/>
                          </a:solidFill>
                        </a:rPr>
                        <a:t>Connexion élève</a:t>
                      </a:r>
                      <a:endParaRPr lang="en-US" sz="12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65760">
                <a:tc>
                  <a:txBody>
                    <a:bodyPr/>
                    <a:lstStyle/>
                    <a:p>
                      <a:pPr indent="0" marL="0">
                        <a:buNone/>
                      </a:pPr>
                      <a:r>
                        <a:rPr lang="en-US" sz="1100" dirty="0">
                          <a:solidFill>
                            <a:srgbClr val="0F172A"/>
                          </a:solidFill>
                          <a:latin typeface="Courier New" pitchFamily="34" charset="0"/>
                          <a:ea typeface="Courier New" pitchFamily="34" charset="-122"/>
                          <a:cs typeface="Courier New" pitchFamily="34" charset="-120"/>
                        </a:rPr>
                        <a:t>/connexion/enseignant</a:t>
                      </a:r>
                      <a:endParaRPr lang="en-US" sz="1100" dirty="0">
                        <a:latin typeface="Courier New" charset="0"/>
                        <a:ea typeface="Courier New" charset="0"/>
                        <a:cs typeface="Courier New" charset="0"/>
                      </a:endParaRPr>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200" b="1" dirty="0">
                          <a:solidFill>
                            <a:srgbClr val="B45309"/>
                          </a:solidFill>
                        </a:rPr>
                        <a:t>POST</a:t>
                      </a:r>
                      <a:endParaRPr lang="en-US" sz="12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200" dirty="0">
                          <a:solidFill>
                            <a:srgbClr val="0F172A"/>
                          </a:solidFill>
                        </a:rPr>
                        <a:t>Connexion enseignant</a:t>
                      </a:r>
                      <a:endParaRPr lang="en-US" sz="12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r>
              <a:tr h="365760">
                <a:tc>
                  <a:txBody>
                    <a:bodyPr/>
                    <a:lstStyle/>
                    <a:p>
                      <a:pPr indent="0" marL="0">
                        <a:buNone/>
                      </a:pPr>
                      <a:r>
                        <a:rPr lang="en-US" sz="1100" dirty="0">
                          <a:solidFill>
                            <a:srgbClr val="0F172A"/>
                          </a:solidFill>
                          <a:latin typeface="Courier New" pitchFamily="34" charset="0"/>
                          <a:ea typeface="Courier New" pitchFamily="34" charset="-122"/>
                          <a:cs typeface="Courier New" pitchFamily="34" charset="-120"/>
                        </a:rPr>
                        <a:t>/deconnexion</a:t>
                      </a:r>
                      <a:endParaRPr lang="en-US" sz="1100" dirty="0">
                        <a:latin typeface="Courier New" charset="0"/>
                        <a:ea typeface="Courier New" charset="0"/>
                        <a:cs typeface="Courier New" charset="0"/>
                      </a:endParaRPr>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b="1" dirty="0">
                          <a:solidFill>
                            <a:srgbClr val="B45309"/>
                          </a:solidFill>
                        </a:rPr>
                        <a:t>POST</a:t>
                      </a:r>
                      <a:endParaRPr lang="en-US" sz="12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0F172A"/>
                          </a:solidFill>
                        </a:rPr>
                        <a:t>Déconnexion</a:t>
                      </a:r>
                      <a:endParaRPr lang="en-US" sz="12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65760">
                <a:tc>
                  <a:txBody>
                    <a:bodyPr/>
                    <a:lstStyle/>
                    <a:p>
                      <a:pPr indent="0" marL="0">
                        <a:buNone/>
                      </a:pPr>
                      <a:r>
                        <a:rPr lang="en-US" sz="1100" dirty="0">
                          <a:solidFill>
                            <a:srgbClr val="0F172A"/>
                          </a:solidFill>
                          <a:latin typeface="Courier New" pitchFamily="34" charset="0"/>
                          <a:ea typeface="Courier New" pitchFamily="34" charset="-122"/>
                          <a:cs typeface="Courier New" pitchFamily="34" charset="-120"/>
                        </a:rPr>
                        <a:t>/eleve/bulletin/&lt;s&gt;</a:t>
                      </a:r>
                      <a:endParaRPr lang="en-US" sz="1100" dirty="0">
                        <a:latin typeface="Courier New" charset="0"/>
                        <a:ea typeface="Courier New" charset="0"/>
                        <a:cs typeface="Courier New" charset="0"/>
                      </a:endParaRPr>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200" b="1" dirty="0">
                          <a:solidFill>
                            <a:srgbClr val="0F172A"/>
                          </a:solidFill>
                        </a:rPr>
                        <a:t>GET</a:t>
                      </a:r>
                      <a:endParaRPr lang="en-US" sz="12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200" dirty="0">
                          <a:solidFill>
                            <a:srgbClr val="0F172A"/>
                          </a:solidFill>
                        </a:rPr>
                        <a:t>Bulletin d'une séquence</a:t>
                      </a:r>
                      <a:endParaRPr lang="en-US" sz="12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r>
              <a:tr h="365760">
                <a:tc>
                  <a:txBody>
                    <a:bodyPr/>
                    <a:lstStyle/>
                    <a:p>
                      <a:pPr indent="0" marL="0">
                        <a:buNone/>
                      </a:pPr>
                      <a:r>
                        <a:rPr lang="en-US" sz="1100" dirty="0">
                          <a:solidFill>
                            <a:srgbClr val="0F172A"/>
                          </a:solidFill>
                          <a:latin typeface="Courier New" pitchFamily="34" charset="0"/>
                          <a:ea typeface="Courier New" pitchFamily="34" charset="-122"/>
                          <a:cs typeface="Courier New" pitchFamily="34" charset="-120"/>
                        </a:rPr>
                        <a:t>/enseignant</a:t>
                      </a:r>
                      <a:endParaRPr lang="en-US" sz="1100" dirty="0">
                        <a:latin typeface="Courier New" charset="0"/>
                        <a:ea typeface="Courier New" charset="0"/>
                        <a:cs typeface="Courier New" charset="0"/>
                      </a:endParaRPr>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b="1" dirty="0">
                          <a:solidFill>
                            <a:srgbClr val="0F172A"/>
                          </a:solidFill>
                        </a:rPr>
                        <a:t>GET</a:t>
                      </a:r>
                      <a:endParaRPr lang="en-US" sz="12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0F172A"/>
                          </a:solidFill>
                        </a:rPr>
                        <a:t>Tableau de bord</a:t>
                      </a:r>
                      <a:endParaRPr lang="en-US" sz="12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65760">
                <a:tc>
                  <a:txBody>
                    <a:bodyPr/>
                    <a:lstStyle/>
                    <a:p>
                      <a:pPr indent="0" marL="0">
                        <a:buNone/>
                      </a:pPr>
                      <a:r>
                        <a:rPr lang="en-US" sz="1100" dirty="0">
                          <a:solidFill>
                            <a:srgbClr val="0F172A"/>
                          </a:solidFill>
                          <a:latin typeface="Courier New" pitchFamily="34" charset="0"/>
                          <a:ea typeface="Courier New" pitchFamily="34" charset="-122"/>
                          <a:cs typeface="Courier New" pitchFamily="34" charset="-120"/>
                        </a:rPr>
                        <a:t>/enseignant/evaluations</a:t>
                      </a:r>
                      <a:endParaRPr lang="en-US" sz="1100" dirty="0">
                        <a:latin typeface="Courier New" charset="0"/>
                        <a:ea typeface="Courier New" charset="0"/>
                        <a:cs typeface="Courier New" charset="0"/>
                      </a:endParaRPr>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200" b="1" dirty="0">
                          <a:solidFill>
                            <a:srgbClr val="B45309"/>
                          </a:solidFill>
                        </a:rPr>
                        <a:t>GET POST</a:t>
                      </a:r>
                      <a:endParaRPr lang="en-US" sz="12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200" dirty="0">
                          <a:solidFill>
                            <a:srgbClr val="0F172A"/>
                          </a:solidFill>
                        </a:rPr>
                        <a:t>Liste, création</a:t>
                      </a:r>
                      <a:endParaRPr lang="en-US" sz="12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r>
              <a:tr h="365760">
                <a:tc>
                  <a:txBody>
                    <a:bodyPr/>
                    <a:lstStyle/>
                    <a:p>
                      <a:pPr indent="0" marL="0">
                        <a:buNone/>
                      </a:pPr>
                      <a:r>
                        <a:rPr lang="en-US" sz="1100" dirty="0">
                          <a:solidFill>
                            <a:srgbClr val="0F172A"/>
                          </a:solidFill>
                          <a:latin typeface="Courier New" pitchFamily="34" charset="0"/>
                          <a:ea typeface="Courier New" pitchFamily="34" charset="-122"/>
                          <a:cs typeface="Courier New" pitchFamily="34" charset="-120"/>
                        </a:rPr>
                        <a:t>/enseignant/evaluations/&lt;id&gt;/saisie</a:t>
                      </a:r>
                      <a:endParaRPr lang="en-US" sz="1100" dirty="0">
                        <a:latin typeface="Courier New" charset="0"/>
                        <a:ea typeface="Courier New" charset="0"/>
                        <a:cs typeface="Courier New" charset="0"/>
                      </a:endParaRPr>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b="1" dirty="0">
                          <a:solidFill>
                            <a:srgbClr val="B45309"/>
                          </a:solidFill>
                        </a:rPr>
                        <a:t>GET POST</a:t>
                      </a:r>
                      <a:endParaRPr lang="en-US" sz="12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0F172A"/>
                          </a:solidFill>
                        </a:rPr>
                        <a:t>Saisie des notes</a:t>
                      </a:r>
                      <a:endParaRPr lang="en-US" sz="12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65760">
                <a:tc>
                  <a:txBody>
                    <a:bodyPr/>
                    <a:lstStyle/>
                    <a:p>
                      <a:pPr indent="0" marL="0">
                        <a:buNone/>
                      </a:pPr>
                      <a:r>
                        <a:rPr lang="en-US" sz="1100" dirty="0">
                          <a:solidFill>
                            <a:srgbClr val="0F172A"/>
                          </a:solidFill>
                          <a:latin typeface="Courier New" pitchFamily="34" charset="0"/>
                          <a:ea typeface="Courier New" pitchFamily="34" charset="-122"/>
                          <a:cs typeface="Courier New" pitchFamily="34" charset="-120"/>
                        </a:rPr>
                        <a:t>…/evaluations/&lt;id&gt;/cloturer</a:t>
                      </a:r>
                      <a:endParaRPr lang="en-US" sz="1100" dirty="0">
                        <a:latin typeface="Courier New" charset="0"/>
                        <a:ea typeface="Courier New" charset="0"/>
                        <a:cs typeface="Courier New" charset="0"/>
                      </a:endParaRPr>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200" b="1" dirty="0">
                          <a:solidFill>
                            <a:srgbClr val="B45309"/>
                          </a:solidFill>
                        </a:rPr>
                        <a:t>POST</a:t>
                      </a:r>
                      <a:endParaRPr lang="en-US" sz="12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200" dirty="0">
                          <a:solidFill>
                            <a:srgbClr val="0F172A"/>
                          </a:solidFill>
                        </a:rPr>
                        <a:t>Clôture</a:t>
                      </a:r>
                      <a:endParaRPr lang="en-US" sz="12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r>
              <a:tr h="365760">
                <a:tc>
                  <a:txBody>
                    <a:bodyPr/>
                    <a:lstStyle/>
                    <a:p>
                      <a:pPr indent="0" marL="0">
                        <a:buNone/>
                      </a:pPr>
                      <a:r>
                        <a:rPr lang="en-US" sz="1100" dirty="0">
                          <a:solidFill>
                            <a:srgbClr val="0F172A"/>
                          </a:solidFill>
                          <a:latin typeface="Courier New" pitchFamily="34" charset="0"/>
                          <a:ea typeface="Courier New" pitchFamily="34" charset="-122"/>
                          <a:cs typeface="Courier New" pitchFamily="34" charset="-120"/>
                        </a:rPr>
                        <a:t>/enseignant/notes/&lt;id&gt;/correction</a:t>
                      </a:r>
                      <a:endParaRPr lang="en-US" sz="1100" dirty="0">
                        <a:latin typeface="Courier New" charset="0"/>
                        <a:ea typeface="Courier New" charset="0"/>
                        <a:cs typeface="Courier New" charset="0"/>
                      </a:endParaRPr>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b="1" dirty="0">
                          <a:solidFill>
                            <a:srgbClr val="B45309"/>
                          </a:solidFill>
                        </a:rPr>
                        <a:t>GET POST</a:t>
                      </a:r>
                      <a:endParaRPr lang="en-US" sz="12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0F172A"/>
                          </a:solidFill>
                        </a:rPr>
                        <a:t>Correction motivée</a:t>
                      </a:r>
                      <a:endParaRPr lang="en-US" sz="12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65760">
                <a:tc>
                  <a:txBody>
                    <a:bodyPr/>
                    <a:lstStyle/>
                    <a:p>
                      <a:pPr indent="0" marL="0">
                        <a:buNone/>
                      </a:pPr>
                      <a:r>
                        <a:rPr lang="en-US" sz="1100" dirty="0">
                          <a:solidFill>
                            <a:srgbClr val="0F172A"/>
                          </a:solidFill>
                          <a:latin typeface="Courier New" pitchFamily="34" charset="0"/>
                          <a:ea typeface="Courier New" pitchFamily="34" charset="-122"/>
                          <a:cs typeface="Courier New" pitchFamily="34" charset="-120"/>
                        </a:rPr>
                        <a:t>/enseignant/classes/&lt;id&gt;</a:t>
                      </a:r>
                      <a:endParaRPr lang="en-US" sz="1100" dirty="0">
                        <a:latin typeface="Courier New" charset="0"/>
                        <a:ea typeface="Courier New" charset="0"/>
                        <a:cs typeface="Courier New" charset="0"/>
                      </a:endParaRPr>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200" b="1" dirty="0">
                          <a:solidFill>
                            <a:srgbClr val="0F172A"/>
                          </a:solidFill>
                        </a:rPr>
                        <a:t>GET</a:t>
                      </a:r>
                      <a:endParaRPr lang="en-US" sz="12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200" dirty="0">
                          <a:solidFill>
                            <a:srgbClr val="0F172A"/>
                          </a:solidFill>
                        </a:rPr>
                        <a:t>Liste de classe, rangs</a:t>
                      </a:r>
                      <a:endParaRPr lang="en-US" sz="12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r>
              <a:tr h="365760">
                <a:tc>
                  <a:txBody>
                    <a:bodyPr/>
                    <a:lstStyle/>
                    <a:p>
                      <a:pPr indent="0" marL="0">
                        <a:buNone/>
                      </a:pPr>
                      <a:r>
                        <a:rPr lang="en-US" sz="1100" dirty="0">
                          <a:solidFill>
                            <a:srgbClr val="0F172A"/>
                          </a:solidFill>
                          <a:latin typeface="Courier New" pitchFamily="34" charset="0"/>
                          <a:ea typeface="Courier New" pitchFamily="34" charset="-122"/>
                          <a:cs typeface="Courier New" pitchFamily="34" charset="-120"/>
                        </a:rPr>
                        <a:t>/enseignant/eleves/&lt;id&gt;</a:t>
                      </a:r>
                      <a:endParaRPr lang="en-US" sz="1100" dirty="0">
                        <a:latin typeface="Courier New" charset="0"/>
                        <a:ea typeface="Courier New" charset="0"/>
                        <a:cs typeface="Courier New" charset="0"/>
                      </a:endParaRPr>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b="1" dirty="0">
                          <a:solidFill>
                            <a:srgbClr val="0F172A"/>
                          </a:solidFill>
                        </a:rPr>
                        <a:t>GET</a:t>
                      </a:r>
                      <a:endParaRPr lang="en-US" sz="12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0F172A"/>
                          </a:solidFill>
                        </a:rPr>
                        <a:t>Fiche de notes</a:t>
                      </a:r>
                      <a:endParaRPr lang="en-US" sz="12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bl>
          </a:graphicData>
        </a:graphic>
      </p:graphicFrame>
      <p:graphicFrame>
        <p:nvGraphicFramePr>
          <p:cNvPr id="15" name="Tableau des routes"/>
          <p:cNvGraphicFramePr>
            <a:graphicFrameLocks noGrp="1"/>
          </p:cNvGraphicFramePr>
          <p:nvPr>
            <p:extLst>
              <p:ext uri="{D42A27DB-BD31-4B8C-83A1-F6EECF244321}">
                <p14:modId xmlns:p14="http://schemas.microsoft.com/office/powerpoint/2010/main" val="1579011935"/>
              </p:ext>
            </p:extLst>
          </p:nvPr>
        </p:nvGraphicFramePr>
        <p:xfrm>
          <a:off x="6126480" y="1280160"/>
          <a:ext cx="5486400" cy="914400"/>
        </p:xfrm>
        <a:graphic>
          <a:graphicData uri="http://schemas.openxmlformats.org/drawingml/2006/table">
            <a:tbl>
              <a:tblPr/>
              <a:tblGrid>
                <a:gridCol w="2971800"/>
                <a:gridCol w="914400"/>
                <a:gridCol w="1600200"/>
              </a:tblGrid>
              <a:tr h="365760">
                <a:tc>
                  <a:txBody>
                    <a:bodyPr/>
                    <a:lstStyle/>
                    <a:p>
                      <a:pPr indent="0" marL="0">
                        <a:buNone/>
                      </a:pPr>
                      <a:r>
                        <a:rPr lang="en-US" sz="1200" b="1" dirty="0">
                          <a:solidFill>
                            <a:srgbClr val="FFFFFF"/>
                          </a:solidFill>
                        </a:rPr>
                        <a:t>Adresse</a:t>
                      </a:r>
                      <a:endParaRPr lang="en-US" sz="12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c>
                  <a:txBody>
                    <a:bodyPr/>
                    <a:lstStyle/>
                    <a:p>
                      <a:pPr indent="0" marL="0">
                        <a:buNone/>
                      </a:pPr>
                      <a:r>
                        <a:rPr lang="en-US" sz="1200" b="1" dirty="0">
                          <a:solidFill>
                            <a:srgbClr val="FFFFFF"/>
                          </a:solidFill>
                        </a:rPr>
                        <a:t>Méthode</a:t>
                      </a:r>
                      <a:endParaRPr lang="en-US" sz="12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c>
                  <a:txBody>
                    <a:bodyPr/>
                    <a:lstStyle/>
                    <a:p>
                      <a:pPr indent="0" marL="0">
                        <a:buNone/>
                      </a:pPr>
                      <a:r>
                        <a:rPr lang="en-US" sz="1200" b="1" dirty="0">
                          <a:solidFill>
                            <a:srgbClr val="FFFFFF"/>
                          </a:solidFill>
                        </a:rPr>
                        <a:t>Rôle</a:t>
                      </a:r>
                      <a:endParaRPr lang="en-US" sz="12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r>
              <a:tr h="365760">
                <a:tc>
                  <a:txBody>
                    <a:bodyPr/>
                    <a:lstStyle/>
                    <a:p>
                      <a:pPr indent="0" marL="0">
                        <a:buNone/>
                      </a:pPr>
                      <a:r>
                        <a:rPr lang="en-US" sz="1100" dirty="0">
                          <a:solidFill>
                            <a:srgbClr val="0F172A"/>
                          </a:solidFill>
                          <a:latin typeface="Courier New" pitchFamily="34" charset="0"/>
                          <a:ea typeface="Courier New" pitchFamily="34" charset="-122"/>
                          <a:cs typeface="Courier New" pitchFamily="34" charset="-120"/>
                        </a:rPr>
                        <a:t>/enseignant/statistiques</a:t>
                      </a:r>
                      <a:endParaRPr lang="en-US" sz="1100" dirty="0">
                        <a:latin typeface="Courier New" charset="0"/>
                        <a:ea typeface="Courier New" charset="0"/>
                        <a:cs typeface="Courier New" charset="0"/>
                      </a:endParaRPr>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200" b="1" dirty="0">
                          <a:solidFill>
                            <a:srgbClr val="0F172A"/>
                          </a:solidFill>
                        </a:rPr>
                        <a:t>GET</a:t>
                      </a:r>
                      <a:endParaRPr lang="en-US" sz="12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200" dirty="0">
                          <a:solidFill>
                            <a:srgbClr val="0F172A"/>
                          </a:solidFill>
                        </a:rPr>
                        <a:t>Statistiques</a:t>
                      </a:r>
                      <a:endParaRPr lang="en-US" sz="12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r>
              <a:tr h="365760">
                <a:tc>
                  <a:txBody>
                    <a:bodyPr/>
                    <a:lstStyle/>
                    <a:p>
                      <a:pPr indent="0" marL="0">
                        <a:buNone/>
                      </a:pPr>
                      <a:r>
                        <a:rPr lang="en-US" sz="1100" dirty="0">
                          <a:solidFill>
                            <a:srgbClr val="0F172A"/>
                          </a:solidFill>
                          <a:latin typeface="Courier New" pitchFamily="34" charset="0"/>
                          <a:ea typeface="Courier New" pitchFamily="34" charset="-122"/>
                          <a:cs typeface="Courier New" pitchFamily="34" charset="-120"/>
                        </a:rPr>
                        <a:t>/admin/classes</a:t>
                      </a:r>
                      <a:endParaRPr lang="en-US" sz="1100" dirty="0">
                        <a:latin typeface="Courier New" charset="0"/>
                        <a:ea typeface="Courier New" charset="0"/>
                        <a:cs typeface="Courier New" charset="0"/>
                      </a:endParaRPr>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b="1" dirty="0">
                          <a:solidFill>
                            <a:srgbClr val="B45309"/>
                          </a:solidFill>
                        </a:rPr>
                        <a:t>GET POST</a:t>
                      </a:r>
                      <a:endParaRPr lang="en-US" sz="12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0F172A"/>
                          </a:solidFill>
                        </a:rPr>
                        <a:t>Classes</a:t>
                      </a:r>
                      <a:endParaRPr lang="en-US" sz="12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65760">
                <a:tc>
                  <a:txBody>
                    <a:bodyPr/>
                    <a:lstStyle/>
                    <a:p>
                      <a:pPr indent="0" marL="0">
                        <a:buNone/>
                      </a:pPr>
                      <a:r>
                        <a:rPr lang="en-US" sz="1100" dirty="0">
                          <a:solidFill>
                            <a:srgbClr val="0F172A"/>
                          </a:solidFill>
                          <a:latin typeface="Courier New" pitchFamily="34" charset="0"/>
                          <a:ea typeface="Courier New" pitchFamily="34" charset="-122"/>
                          <a:cs typeface="Courier New" pitchFamily="34" charset="-120"/>
                        </a:rPr>
                        <a:t>/admin/eleves</a:t>
                      </a:r>
                      <a:endParaRPr lang="en-US" sz="1100" dirty="0">
                        <a:latin typeface="Courier New" charset="0"/>
                        <a:ea typeface="Courier New" charset="0"/>
                        <a:cs typeface="Courier New" charset="0"/>
                      </a:endParaRPr>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200" b="1" dirty="0">
                          <a:solidFill>
                            <a:srgbClr val="B45309"/>
                          </a:solidFill>
                        </a:rPr>
                        <a:t>GET POST</a:t>
                      </a:r>
                      <a:endParaRPr lang="en-US" sz="12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200" dirty="0">
                          <a:solidFill>
                            <a:srgbClr val="0F172A"/>
                          </a:solidFill>
                        </a:rPr>
                        <a:t>Élèves, ajout</a:t>
                      </a:r>
                      <a:endParaRPr lang="en-US" sz="12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r>
              <a:tr h="365760">
                <a:tc>
                  <a:txBody>
                    <a:bodyPr/>
                    <a:lstStyle/>
                    <a:p>
                      <a:pPr indent="0" marL="0">
                        <a:buNone/>
                      </a:pPr>
                      <a:r>
                        <a:rPr lang="en-US" sz="1100" dirty="0">
                          <a:solidFill>
                            <a:srgbClr val="0F172A"/>
                          </a:solidFill>
                          <a:latin typeface="Courier New" pitchFamily="34" charset="0"/>
                          <a:ea typeface="Courier New" pitchFamily="34" charset="-122"/>
                          <a:cs typeface="Courier New" pitchFamily="34" charset="-120"/>
                        </a:rPr>
                        <a:t>/admin/eleves/&lt;id&gt;/nouveau-code</a:t>
                      </a:r>
                      <a:endParaRPr lang="en-US" sz="1100" dirty="0">
                        <a:latin typeface="Courier New" charset="0"/>
                        <a:ea typeface="Courier New" charset="0"/>
                        <a:cs typeface="Courier New" charset="0"/>
                      </a:endParaRPr>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b="1" dirty="0">
                          <a:solidFill>
                            <a:srgbClr val="B45309"/>
                          </a:solidFill>
                        </a:rPr>
                        <a:t>POST</a:t>
                      </a:r>
                      <a:endParaRPr lang="en-US" sz="12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0F172A"/>
                          </a:solidFill>
                        </a:rPr>
                        <a:t>Nouveau code</a:t>
                      </a:r>
                      <a:endParaRPr lang="en-US" sz="12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65760">
                <a:tc>
                  <a:txBody>
                    <a:bodyPr/>
                    <a:lstStyle/>
                    <a:p>
                      <a:pPr indent="0" marL="0">
                        <a:buNone/>
                      </a:pPr>
                      <a:r>
                        <a:rPr lang="en-US" sz="1100" dirty="0">
                          <a:solidFill>
                            <a:srgbClr val="0F172A"/>
                          </a:solidFill>
                          <a:latin typeface="Courier New" pitchFamily="34" charset="0"/>
                          <a:ea typeface="Courier New" pitchFamily="34" charset="-122"/>
                          <a:cs typeface="Courier New" pitchFamily="34" charset="-120"/>
                        </a:rPr>
                        <a:t>/admin/eleves/export.csv</a:t>
                      </a:r>
                      <a:endParaRPr lang="en-US" sz="1100" dirty="0">
                        <a:latin typeface="Courier New" charset="0"/>
                        <a:ea typeface="Courier New" charset="0"/>
                        <a:cs typeface="Courier New" charset="0"/>
                      </a:endParaRPr>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200" b="1" dirty="0">
                          <a:solidFill>
                            <a:srgbClr val="0F172A"/>
                          </a:solidFill>
                        </a:rPr>
                        <a:t>GET</a:t>
                      </a:r>
                      <a:endParaRPr lang="en-US" sz="12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200" dirty="0">
                          <a:solidFill>
                            <a:srgbClr val="0F172A"/>
                          </a:solidFill>
                        </a:rPr>
                        <a:t>Export CSV</a:t>
                      </a:r>
                      <a:endParaRPr lang="en-US" sz="12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r>
              <a:tr h="365760">
                <a:tc>
                  <a:txBody>
                    <a:bodyPr/>
                    <a:lstStyle/>
                    <a:p>
                      <a:pPr indent="0" marL="0">
                        <a:buNone/>
                      </a:pPr>
                      <a:r>
                        <a:rPr lang="en-US" sz="1100" dirty="0">
                          <a:solidFill>
                            <a:srgbClr val="0F172A"/>
                          </a:solidFill>
                          <a:latin typeface="Courier New" pitchFamily="34" charset="0"/>
                          <a:ea typeface="Courier New" pitchFamily="34" charset="-122"/>
                          <a:cs typeface="Courier New" pitchFamily="34" charset="-120"/>
                        </a:rPr>
                        <a:t>/admin/import/analyse</a:t>
                      </a:r>
                      <a:endParaRPr lang="en-US" sz="1100" dirty="0">
                        <a:latin typeface="Courier New" charset="0"/>
                        <a:ea typeface="Courier New" charset="0"/>
                        <a:cs typeface="Courier New" charset="0"/>
                      </a:endParaRPr>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b="1" dirty="0">
                          <a:solidFill>
                            <a:srgbClr val="B45309"/>
                          </a:solidFill>
                        </a:rPr>
                        <a:t>POST</a:t>
                      </a:r>
                      <a:endParaRPr lang="en-US" sz="12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0F172A"/>
                          </a:solidFill>
                        </a:rPr>
                        <a:t>Import : vérification</a:t>
                      </a:r>
                      <a:endParaRPr lang="en-US" sz="12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65760">
                <a:tc>
                  <a:txBody>
                    <a:bodyPr/>
                    <a:lstStyle/>
                    <a:p>
                      <a:pPr indent="0" marL="0">
                        <a:buNone/>
                      </a:pPr>
                      <a:r>
                        <a:rPr lang="en-US" sz="1100" dirty="0">
                          <a:solidFill>
                            <a:srgbClr val="0F172A"/>
                          </a:solidFill>
                          <a:latin typeface="Courier New" pitchFamily="34" charset="0"/>
                          <a:ea typeface="Courier New" pitchFamily="34" charset="-122"/>
                          <a:cs typeface="Courier New" pitchFamily="34" charset="-120"/>
                        </a:rPr>
                        <a:t>/admin/import/confirmer</a:t>
                      </a:r>
                      <a:endParaRPr lang="en-US" sz="1100" dirty="0">
                        <a:latin typeface="Courier New" charset="0"/>
                        <a:ea typeface="Courier New" charset="0"/>
                        <a:cs typeface="Courier New" charset="0"/>
                      </a:endParaRPr>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200" b="1" dirty="0">
                          <a:solidFill>
                            <a:srgbClr val="B45309"/>
                          </a:solidFill>
                        </a:rPr>
                        <a:t>POST</a:t>
                      </a:r>
                      <a:endParaRPr lang="en-US" sz="12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200" dirty="0">
                          <a:solidFill>
                            <a:srgbClr val="0F172A"/>
                          </a:solidFill>
                        </a:rPr>
                        <a:t>Import : enregistrement</a:t>
                      </a:r>
                      <a:endParaRPr lang="en-US" sz="12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r>
              <a:tr h="365760">
                <a:tc>
                  <a:txBody>
                    <a:bodyPr/>
                    <a:lstStyle/>
                    <a:p>
                      <a:pPr indent="0" marL="0">
                        <a:buNone/>
                      </a:pPr>
                      <a:r>
                        <a:rPr lang="en-US" sz="1100" dirty="0">
                          <a:solidFill>
                            <a:srgbClr val="0F172A"/>
                          </a:solidFill>
                          <a:latin typeface="Courier New" pitchFamily="34" charset="0"/>
                          <a:ea typeface="Courier New" pitchFamily="34" charset="-122"/>
                          <a:cs typeface="Courier New" pitchFamily="34" charset="-120"/>
                        </a:rPr>
                        <a:t>/api/eleves/&lt;id&gt;/evolution</a:t>
                      </a:r>
                      <a:endParaRPr lang="en-US" sz="1100" dirty="0">
                        <a:latin typeface="Courier New" charset="0"/>
                        <a:ea typeface="Courier New" charset="0"/>
                        <a:cs typeface="Courier New" charset="0"/>
                      </a:endParaRPr>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b="1" dirty="0">
                          <a:solidFill>
                            <a:srgbClr val="0F172A"/>
                          </a:solidFill>
                        </a:rPr>
                        <a:t>GET</a:t>
                      </a:r>
                      <a:endParaRPr lang="en-US" sz="12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0F172A"/>
                          </a:solidFill>
                        </a:rPr>
                        <a:t>JSON : évolution</a:t>
                      </a:r>
                      <a:endParaRPr lang="en-US" sz="12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65760">
                <a:tc>
                  <a:txBody>
                    <a:bodyPr/>
                    <a:lstStyle/>
                    <a:p>
                      <a:pPr indent="0" marL="0">
                        <a:buNone/>
                      </a:pPr>
                      <a:r>
                        <a:rPr lang="en-US" sz="1100" dirty="0">
                          <a:solidFill>
                            <a:srgbClr val="0F172A"/>
                          </a:solidFill>
                          <a:latin typeface="Courier New" pitchFamily="34" charset="0"/>
                          <a:ea typeface="Courier New" pitchFamily="34" charset="-122"/>
                          <a:cs typeface="Courier New" pitchFamily="34" charset="-120"/>
                        </a:rPr>
                        <a:t>/api/classe/&lt;id&gt;/moyennes</a:t>
                      </a:r>
                      <a:endParaRPr lang="en-US" sz="1100" dirty="0">
                        <a:latin typeface="Courier New" charset="0"/>
                        <a:ea typeface="Courier New" charset="0"/>
                        <a:cs typeface="Courier New" charset="0"/>
                      </a:endParaRPr>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200" b="1" dirty="0">
                          <a:solidFill>
                            <a:srgbClr val="0F172A"/>
                          </a:solidFill>
                        </a:rPr>
                        <a:t>GET</a:t>
                      </a:r>
                      <a:endParaRPr lang="en-US" sz="12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200" dirty="0">
                          <a:solidFill>
                            <a:srgbClr val="0F172A"/>
                          </a:solidFill>
                        </a:rPr>
                        <a:t>JSON : moyennes, rangs</a:t>
                      </a:r>
                      <a:endParaRPr lang="en-US" sz="12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r>
              <a:tr h="365760">
                <a:tc>
                  <a:txBody>
                    <a:bodyPr/>
                    <a:lstStyle/>
                    <a:p>
                      <a:pPr indent="0" marL="0">
                        <a:buNone/>
                      </a:pPr>
                      <a:r>
                        <a:rPr lang="en-US" sz="1100" dirty="0">
                          <a:solidFill>
                            <a:srgbClr val="0F172A"/>
                          </a:solidFill>
                          <a:latin typeface="Courier New" pitchFamily="34" charset="0"/>
                          <a:ea typeface="Courier New" pitchFamily="34" charset="-122"/>
                          <a:cs typeface="Courier New" pitchFamily="34" charset="-120"/>
                        </a:rPr>
                        <a:t>/api/statistiques</a:t>
                      </a:r>
                      <a:endParaRPr lang="en-US" sz="1100" dirty="0">
                        <a:latin typeface="Courier New" charset="0"/>
                        <a:ea typeface="Courier New" charset="0"/>
                        <a:cs typeface="Courier New" charset="0"/>
                      </a:endParaRPr>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b="1" dirty="0">
                          <a:solidFill>
                            <a:srgbClr val="0F172A"/>
                          </a:solidFill>
                        </a:rPr>
                        <a:t>GET</a:t>
                      </a:r>
                      <a:endParaRPr lang="en-US" sz="12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0F172A"/>
                          </a:solidFill>
                        </a:rPr>
                        <a:t>JSON : statistiques</a:t>
                      </a:r>
                      <a:endParaRPr lang="en-US" sz="12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365760">
                <a:tc>
                  <a:txBody>
                    <a:bodyPr/>
                    <a:lstStyle/>
                    <a:p>
                      <a:pPr indent="0" marL="0">
                        <a:buNone/>
                      </a:pPr>
                      <a:r>
                        <a:rPr lang="en-US" sz="1100" dirty="0">
                          <a:solidFill>
                            <a:srgbClr val="0F172A"/>
                          </a:solidFill>
                          <a:latin typeface="Courier New" pitchFamily="34" charset="0"/>
                          <a:ea typeface="Courier New" pitchFamily="34" charset="-122"/>
                          <a:cs typeface="Courier New" pitchFamily="34" charset="-120"/>
                        </a:rPr>
                        <a:t>404 / 403 / 500</a:t>
                      </a:r>
                      <a:endParaRPr lang="en-US" sz="1100" dirty="0">
                        <a:latin typeface="Courier New" charset="0"/>
                        <a:ea typeface="Courier New" charset="0"/>
                        <a:cs typeface="Courier New" charset="0"/>
                      </a:endParaRPr>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200" b="1" dirty="0">
                          <a:solidFill>
                            <a:srgbClr val="0F172A"/>
                          </a:solidFill>
                        </a:rPr>
                        <a:t>—</a:t>
                      </a:r>
                      <a:endParaRPr lang="en-US" sz="12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200" dirty="0">
                          <a:solidFill>
                            <a:srgbClr val="0F172A"/>
                          </a:solidFill>
                        </a:rPr>
                        <a:t>Pages d'erreur</a:t>
                      </a:r>
                      <a:endParaRPr lang="en-US" sz="12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r>
              <a:tr h="365760">
                <a:tc>
                  <a:txBody>
                    <a:bodyPr/>
                    <a:lstStyle/>
                    <a:p>
                      <a:pPr indent="0" marL="0">
                        <a:buNone/>
                      </a:pPr>
                      <a:r>
                        <a:rPr lang="en-US" sz="1100" dirty="0">
                          <a:solidFill>
                            <a:srgbClr val="0F172A"/>
                          </a:solidFill>
                          <a:latin typeface="Courier New" pitchFamily="34" charset="0"/>
                          <a:ea typeface="Courier New" pitchFamily="34" charset="-122"/>
                          <a:cs typeface="Courier New" pitchFamily="34" charset="-120"/>
                        </a:rPr>
                        <a:t>…</a:t>
                      </a:r>
                      <a:endParaRPr lang="en-US" sz="1100" dirty="0">
                        <a:latin typeface="Courier New" charset="0"/>
                        <a:ea typeface="Courier New" charset="0"/>
                        <a:cs typeface="Courier New" charset="0"/>
                      </a:endParaRPr>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endParaRPr lang="en-US" sz="12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0F172A"/>
                          </a:solidFill>
                        </a:rPr>
                        <a:t>+ 12 autres (README)</a:t>
                      </a:r>
                      <a:endParaRPr lang="en-US" sz="1200" dirty="0"/>
                    </a:p>
                  </a:txBody>
                  <a:tcPr marL="73152" marR="73152" marT="27432" marB="27432"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indent="0" marL="0">
              <a:buNone/>
            </a:pPr>
            <a:r>
              <a:rPr lang="en-US" sz="3000" b="1" dirty="0">
                <a:solidFill>
                  <a:schemeClr val="tx1"/>
                </a:solidFill>
              </a:rPr>
              <a:t>Réalisation 1 : le bulletin de l'élève</a:t>
            </a:r>
            <a:endParaRPr lang="en-US" sz="3000" dirty="0"/>
          </a:p>
        </p:txBody>
      </p:sp>
      <p:sp>
        <p:nvSpPr>
          <p:cNvPr id="4" name="Capture : bulletin de l'élève (cadre)"/>
          <p:cNvSpPr/>
          <p:nvPr/>
        </p:nvSpPr>
        <p:spPr>
          <a:xfrm>
            <a:off x="649224" y="1280160"/>
            <a:ext cx="7388352" cy="4617720"/>
          </a:xfrm>
          <a:prstGeom prst="rect">
            <a:avLst/>
          </a:prstGeom>
          <a:solidFill>
            <a:schemeClr val="bg1"/>
          </a:solidFill>
          <a:ln w="12700">
            <a:solidFill>
              <a:schemeClr val="accent6"/>
            </a:solidFill>
            <a:prstDash val="solid"/>
          </a:ln>
          <a:effectLst>
            <a:outerShdw sx="100000" sy="100000" kx="0" ky="0" algn="bl" rotWithShape="0" blurRad="101600" dist="25400" dir="5400000">
              <a:srgbClr val="0F172A">
                <a:alpha val="18000"/>
              </a:srgbClr>
            </a:outerShdw>
          </a:effectLst>
        </p:spPr>
      </p:sp>
      <p:pic>
        <p:nvPicPr>
          <p:cNvPr id="5" name="Capture : bulletin de l'élève" descr="Capture : bulletin de l'élève">    </p:cNvPr>
          <p:cNvPicPr>
            <a:picLocks noChangeAspect="1"/>
          </p:cNvPicPr>
          <p:nvPr/>
        </p:nvPicPr>
        <p:blipFill>
          <a:blip r:embed="rId1"/>
          <a:stretch>
            <a:fillRect/>
          </a:stretch>
        </p:blipFill>
        <p:spPr>
          <a:xfrm>
            <a:off x="649224" y="1280160"/>
            <a:ext cx="7388352" cy="4617720"/>
          </a:xfrm>
          <a:prstGeom prst="rect">
            <a:avLst/>
          </a:prstGeom>
        </p:spPr>
      </p:pic>
      <p:sp>
        <p:nvSpPr>
          <p:cNvPr id="6" name="Légende"/>
          <p:cNvSpPr txBox="1"/>
          <p:nvPr/>
        </p:nvSpPr>
        <p:spPr>
          <a:xfrm>
            <a:off x="548640" y="5989320"/>
            <a:ext cx="7589520" cy="292608"/>
          </a:xfrm>
          <a:prstGeom prst="rect">
            <a:avLst/>
          </a:prstGeom>
          <a:noFill/>
          <a:ln/>
        </p:spPr>
        <p:txBody>
          <a:bodyPr wrap="square" lIns="0" tIns="0" rIns="0" bIns="0" rtlCol="0" anchor="ctr"/>
          <a:lstStyle/>
          <a:p>
            <a:pPr indent="0" marL="0">
              <a:buNone/>
            </a:pPr>
            <a:r>
              <a:rPr lang="en-US" sz="1100" i="1" dirty="0">
                <a:solidFill>
                  <a:schemeClr val="accent5"/>
                </a:solidFill>
              </a:rPr>
              <a:t>Bulletin de la séquence 2 d'un élève de 2e année F3, sur ordinateur.</a:t>
            </a:r>
            <a:endParaRPr lang="en-US" sz="1100" dirty="0"/>
          </a:p>
        </p:txBody>
      </p:sp>
      <p:sp>
        <p:nvSpPr>
          <p:cNvPr id="7" name="Liste"/>
          <p:cNvSpPr txBox="1"/>
          <p:nvPr/>
        </p:nvSpPr>
        <p:spPr>
          <a:xfrm>
            <a:off x="8458200" y="1371600"/>
            <a:ext cx="3154680" cy="4572000"/>
          </a:xfrm>
          <a:prstGeom prst="rect">
            <a:avLst/>
          </a:prstGeom>
          <a:noFill/>
          <a:ln/>
        </p:spPr>
        <p:txBody>
          <a:bodyPr wrap="square" lIns="0" tIns="0" rIns="0" bIns="0" rtlCol="0" anchor="t"/>
          <a:lstStyle/>
          <a:p>
            <a:pPr marL="203200" indent="-203200">
              <a:spcAft>
                <a:spcPts val="800"/>
              </a:spcAft>
              <a:buSzPct val="100000"/>
              <a:buChar char="•"/>
            </a:pPr>
            <a:r>
              <a:rPr lang="en-US" sz="1400" b="1" dirty="0">
                <a:solidFill>
                  <a:schemeClr val="tx1"/>
                </a:solidFill>
              </a:rPr>
              <a:t>Identité lue dans la session : </a:t>
            </a:r>
            <a:pPr indent="0" marL="0">
              <a:spcAft>
                <a:spcPts val="800"/>
              </a:spcAft>
              <a:buNone/>
            </a:pPr>
            <a:r>
              <a:rPr lang="en-US" sz="1400" dirty="0">
                <a:solidFill>
                  <a:schemeClr val="tx1"/>
                </a:solidFill>
              </a:rPr>
              <a:t>un élève ne voit que son propre bulletin.</a:t>
            </a:r>
            <a:endParaRPr lang="en-US" sz="1400" dirty="0"/>
          </a:p>
          <a:p>
            <a:pPr marL="203200" indent="-203200">
              <a:spcAft>
                <a:spcPts val="800"/>
              </a:spcAft>
              <a:buSzPct val="100000"/>
              <a:buChar char="•"/>
            </a:pPr>
            <a:r>
              <a:rPr lang="en-US" sz="1400" b="1" dirty="0">
                <a:solidFill>
                  <a:schemeClr val="tx1"/>
                </a:solidFill>
              </a:rPr>
              <a:t>Moyenne coefficientée </a:t>
            </a:r>
            <a:pPr indent="0" marL="0">
              <a:spcAft>
                <a:spcPts val="800"/>
              </a:spcAft>
              <a:buNone/>
            </a:pPr>
            <a:r>
              <a:rPr lang="en-US" sz="1400" dirty="0">
                <a:solidFill>
                  <a:schemeClr val="tx1"/>
                </a:solidFill>
              </a:rPr>
              <a:t>= Σ(note × coef) / Σ(coef).</a:t>
            </a:r>
            <a:endParaRPr lang="en-US" sz="1400" dirty="0"/>
          </a:p>
          <a:p>
            <a:pPr marL="203200" indent="-203200">
              <a:spcAft>
                <a:spcPts val="800"/>
              </a:spcAft>
              <a:buSzPct val="100000"/>
              <a:buChar char="•"/>
            </a:pPr>
            <a:r>
              <a:rPr lang="en-US" sz="1400" b="1" dirty="0">
                <a:solidFill>
                  <a:schemeClr val="tx1"/>
                </a:solidFill>
              </a:rPr>
              <a:t>Rang </a:t>
            </a:r>
            <a:pPr indent="0" marL="0">
              <a:spcAft>
                <a:spcPts val="800"/>
              </a:spcAft>
              <a:buNone/>
            </a:pPr>
            <a:r>
              <a:rPr lang="en-US" sz="1400" dirty="0">
                <a:solidFill>
                  <a:schemeClr val="tx1"/>
                </a:solidFill>
              </a:rPr>
              <a:t>avec ex æquo, extrêmes et moyenne de la classe.</a:t>
            </a:r>
            <a:endParaRPr lang="en-US" sz="1400" dirty="0"/>
          </a:p>
          <a:p>
            <a:pPr marL="203200" indent="-203200">
              <a:spcAft>
                <a:spcPts val="800"/>
              </a:spcAft>
              <a:buSzPct val="100000"/>
              <a:buChar char="•"/>
            </a:pPr>
            <a:r>
              <a:rPr lang="en-US" sz="1400" b="1" dirty="0">
                <a:solidFill>
                  <a:schemeClr val="tx1"/>
                </a:solidFill>
              </a:rPr>
              <a:t>Appréciation automatique </a:t>
            </a:r>
            <a:pPr indent="0" marL="0">
              <a:spcAft>
                <a:spcPts val="800"/>
              </a:spcAft>
              <a:buNone/>
            </a:pPr>
            <a:r>
              <a:rPr lang="en-US" sz="1400" dirty="0">
                <a:solidFill>
                  <a:schemeClr val="tx1"/>
                </a:solidFill>
              </a:rPr>
              <a:t>(bonus) et bouton Imprimer (bonus @media print).</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indent="0" marL="0">
              <a:buNone/>
            </a:pPr>
            <a:r>
              <a:rPr lang="en-US" sz="3000" b="1" dirty="0">
                <a:solidFill>
                  <a:schemeClr val="tx1"/>
                </a:solidFill>
              </a:rPr>
              <a:t>Réalisation 2 : des rangs justes, ex æquo compris</a:t>
            </a:r>
            <a:endParaRPr lang="en-US" sz="3000" dirty="0"/>
          </a:p>
        </p:txBody>
      </p:sp>
      <p:sp>
        <p:nvSpPr>
          <p:cNvPr id="4" name="Fond du code"/>
          <p:cNvSpPr/>
          <p:nvPr/>
        </p:nvSpPr>
        <p:spPr>
          <a:xfrm>
            <a:off x="548640" y="1280160"/>
            <a:ext cx="5486400" cy="4160520"/>
          </a:xfrm>
          <a:prstGeom prst="roundRect">
            <a:avLst>
              <a:gd name="adj" fmla="val 1758"/>
            </a:avLst>
          </a:prstGeom>
          <a:solidFill>
            <a:schemeClr val="tx1"/>
          </a:solidFill>
          <a:ln w="12700">
            <a:solidFill>
              <a:schemeClr val="tx1"/>
            </a:solidFill>
            <a:prstDash val="solid"/>
          </a:ln>
        </p:spPr>
      </p:sp>
      <p:sp>
        <p:nvSpPr>
          <p:cNvPr id="5" name="Extrait de code"/>
          <p:cNvSpPr txBox="1"/>
          <p:nvPr/>
        </p:nvSpPr>
        <p:spPr>
          <a:xfrm>
            <a:off x="731520" y="1417320"/>
            <a:ext cx="5120640" cy="3886200"/>
          </a:xfrm>
          <a:prstGeom prst="rect">
            <a:avLst/>
          </a:prstGeom>
          <a:noFill/>
          <a:ln/>
        </p:spPr>
        <p:txBody>
          <a:bodyPr wrap="square" lIns="0" tIns="0" rIns="0" bIns="0" rtlCol="0" anchor="t"/>
          <a:lstStyle/>
          <a:p>
            <a:pPr indent="0" marL="0">
              <a:buNone/>
            </a:pPr>
            <a:r>
              <a:rPr lang="en-US" sz="1200" dirty="0">
                <a:solidFill>
                  <a:srgbClr val="E2E8F0"/>
                </a:solidFill>
                <a:latin typeface="Courier New" pitchFamily="34" charset="0"/>
                <a:ea typeface="Courier New" pitchFamily="34" charset="-122"/>
                <a:cs typeface="Courier New" pitchFamily="34" charset="-120"/>
              </a:rPr>
              <a:t>def classer(moyennes):</a:t>
            </a:r>
            <a:endParaRPr lang="en-US" sz="1200" dirty="0"/>
          </a:p>
          <a:p>
            <a:pPr indent="0" marL="0">
              <a:buNone/>
            </a:pPr>
            <a:r>
              <a:rPr lang="en-US" sz="1200" dirty="0">
                <a:solidFill>
                  <a:srgbClr val="E2E8F0"/>
                </a:solidFill>
                <a:latin typeface="Courier New" pitchFamily="34" charset="0"/>
                <a:ea typeface="Courier New" pitchFamily="34" charset="-122"/>
                <a:cs typeface="Courier New" pitchFamily="34" charset="-120"/>
              </a:rPr>
              <a:t>    """Même moyenne = même rang ;</a:t>
            </a:r>
            <a:endParaRPr lang="en-US" sz="1200" dirty="0"/>
          </a:p>
          <a:p>
            <a:pPr indent="0" marL="0">
              <a:buNone/>
            </a:pPr>
            <a:r>
              <a:rPr lang="en-US" sz="1200" dirty="0">
                <a:solidFill>
                  <a:srgbClr val="E2E8F0"/>
                </a:solidFill>
                <a:latin typeface="Courier New" pitchFamily="34" charset="0"/>
                <a:ea typeface="Courier New" pitchFamily="34" charset="-122"/>
                <a:cs typeface="Courier New" pitchFamily="34" charset="-120"/>
              </a:rPr>
              <a:t>    le suivant prend le rang d'après."""</a:t>
            </a:r>
            <a:endParaRPr lang="en-US" sz="1200" dirty="0"/>
          </a:p>
          <a:p>
            <a:pPr indent="0" marL="0">
              <a:buNone/>
            </a:pPr>
            <a:r>
              <a:rPr lang="en-US" sz="1200" dirty="0">
                <a:solidFill>
                  <a:srgbClr val="E2E8F0"/>
                </a:solidFill>
                <a:latin typeface="Courier New" pitchFamily="34" charset="0"/>
                <a:ea typeface="Courier New" pitchFamily="34" charset="-122"/>
                <a:cs typeface="Courier New" pitchFamily="34" charset="-120"/>
              </a:rPr>
              <a:t>    classes = sorted(</a:t>
            </a:r>
            <a:endParaRPr lang="en-US" sz="1200" dirty="0"/>
          </a:p>
          <a:p>
            <a:pPr indent="0" marL="0">
              <a:buNone/>
            </a:pPr>
            <a:r>
              <a:rPr lang="en-US" sz="1200" dirty="0">
                <a:solidFill>
                  <a:srgbClr val="E2E8F0"/>
                </a:solidFill>
                <a:latin typeface="Courier New" pitchFamily="34" charset="0"/>
                <a:ea typeface="Courier New" pitchFamily="34" charset="-122"/>
                <a:cs typeface="Courier New" pitchFamily="34" charset="-120"/>
              </a:rPr>
              <a:t>        ((arrondir(m), cle)</a:t>
            </a:r>
            <a:endParaRPr lang="en-US" sz="1200" dirty="0"/>
          </a:p>
          <a:p>
            <a:pPr indent="0" marL="0">
              <a:buNone/>
            </a:pPr>
            <a:r>
              <a:rPr lang="en-US" sz="1200" dirty="0">
                <a:solidFill>
                  <a:srgbClr val="E2E8F0"/>
                </a:solidFill>
                <a:latin typeface="Courier New" pitchFamily="34" charset="0"/>
                <a:ea typeface="Courier New" pitchFamily="34" charset="-122"/>
                <a:cs typeface="Courier New" pitchFamily="34" charset="-120"/>
              </a:rPr>
              <a:t>         for cle, m in moyennes.items()</a:t>
            </a:r>
            <a:endParaRPr lang="en-US" sz="1200" dirty="0"/>
          </a:p>
          <a:p>
            <a:pPr indent="0" marL="0">
              <a:buNone/>
            </a:pPr>
            <a:r>
              <a:rPr lang="en-US" sz="1200" dirty="0">
                <a:solidFill>
                  <a:srgbClr val="E2E8F0"/>
                </a:solidFill>
                <a:latin typeface="Courier New" pitchFamily="34" charset="0"/>
                <a:ea typeface="Courier New" pitchFamily="34" charset="-122"/>
                <a:cs typeface="Courier New" pitchFamily="34" charset="-120"/>
              </a:rPr>
              <a:t>         if m is not None),</a:t>
            </a:r>
            <a:endParaRPr lang="en-US" sz="1200" dirty="0"/>
          </a:p>
          <a:p>
            <a:pPr indent="0" marL="0">
              <a:buNone/>
            </a:pPr>
            <a:r>
              <a:rPr lang="en-US" sz="1200" dirty="0">
                <a:solidFill>
                  <a:srgbClr val="E2E8F0"/>
                </a:solidFill>
                <a:latin typeface="Courier New" pitchFamily="34" charset="0"/>
                <a:ea typeface="Courier New" pitchFamily="34" charset="-122"/>
                <a:cs typeface="Courier New" pitchFamily="34" charset="-120"/>
              </a:rPr>
              <a:t>        key=lambda p: p[0], reverse=True)</a:t>
            </a:r>
            <a:endParaRPr lang="en-US" sz="1200" dirty="0"/>
          </a:p>
          <a:p>
            <a:pPr indent="0" marL="0">
              <a:buNone/>
            </a:pPr>
            <a:r>
              <a:rPr lang="en-US" sz="1200" dirty="0">
                <a:solidFill>
                  <a:srgbClr val="E2E8F0"/>
                </a:solidFill>
                <a:latin typeface="Courier New" pitchFamily="34" charset="0"/>
                <a:ea typeface="Courier New" pitchFamily="34" charset="-122"/>
                <a:cs typeface="Courier New" pitchFamily="34" charset="-120"/>
              </a:rPr>
              <a:t>    rangs = {cle: None for cle in moyennes}</a:t>
            </a:r>
            <a:endParaRPr lang="en-US" sz="1200" dirty="0"/>
          </a:p>
          <a:p>
            <a:pPr indent="0" marL="0">
              <a:buNone/>
            </a:pPr>
            <a:r>
              <a:rPr lang="en-US" sz="1200" dirty="0">
                <a:solidFill>
                  <a:srgbClr val="E2E8F0"/>
                </a:solidFill>
                <a:latin typeface="Courier New" pitchFamily="34" charset="0"/>
                <a:ea typeface="Courier New" pitchFamily="34" charset="-122"/>
                <a:cs typeface="Courier New" pitchFamily="34" charset="-120"/>
              </a:rPr>
              <a:t>    rang, precedente = 0, None</a:t>
            </a:r>
            <a:endParaRPr lang="en-US" sz="1200" dirty="0"/>
          </a:p>
          <a:p>
            <a:pPr indent="0" marL="0">
              <a:buNone/>
            </a:pPr>
            <a:r>
              <a:rPr lang="en-US" sz="1200" dirty="0">
                <a:solidFill>
                  <a:srgbClr val="E2E8F0"/>
                </a:solidFill>
                <a:latin typeface="Courier New" pitchFamily="34" charset="0"/>
                <a:ea typeface="Courier New" pitchFamily="34" charset="-122"/>
                <a:cs typeface="Courier New" pitchFamily="34" charset="-120"/>
              </a:rPr>
              <a:t>    for position, (moyenne, cle) in \</a:t>
            </a:r>
            <a:endParaRPr lang="en-US" sz="1200" dirty="0"/>
          </a:p>
          <a:p>
            <a:pPr indent="0" marL="0">
              <a:buNone/>
            </a:pPr>
            <a:r>
              <a:rPr lang="en-US" sz="1200" dirty="0">
                <a:solidFill>
                  <a:srgbClr val="E2E8F0"/>
                </a:solidFill>
                <a:latin typeface="Courier New" pitchFamily="34" charset="0"/>
                <a:ea typeface="Courier New" pitchFamily="34" charset="-122"/>
                <a:cs typeface="Courier New" pitchFamily="34" charset="-120"/>
              </a:rPr>
              <a:t>            enumerate(classes, start=1):</a:t>
            </a:r>
            <a:endParaRPr lang="en-US" sz="1200" dirty="0"/>
          </a:p>
          <a:p>
            <a:pPr indent="0" marL="0">
              <a:buNone/>
            </a:pPr>
            <a:r>
              <a:rPr lang="en-US" sz="1200" dirty="0">
                <a:solidFill>
                  <a:srgbClr val="E2E8F0"/>
                </a:solidFill>
                <a:latin typeface="Courier New" pitchFamily="34" charset="0"/>
                <a:ea typeface="Courier New" pitchFamily="34" charset="-122"/>
                <a:cs typeface="Courier New" pitchFamily="34" charset="-120"/>
              </a:rPr>
              <a:t>        if moyenne != precedente:</a:t>
            </a:r>
            <a:endParaRPr lang="en-US" sz="1200" dirty="0"/>
          </a:p>
          <a:p>
            <a:pPr indent="0" marL="0">
              <a:buNone/>
            </a:pPr>
            <a:r>
              <a:rPr lang="en-US" sz="1200" dirty="0">
                <a:solidFill>
                  <a:srgbClr val="E2E8F0"/>
                </a:solidFill>
                <a:latin typeface="Courier New" pitchFamily="34" charset="0"/>
                <a:ea typeface="Courier New" pitchFamily="34" charset="-122"/>
                <a:cs typeface="Courier New" pitchFamily="34" charset="-120"/>
              </a:rPr>
              <a:t>            rang = position</a:t>
            </a:r>
            <a:endParaRPr lang="en-US" sz="1200" dirty="0"/>
          </a:p>
          <a:p>
            <a:pPr indent="0" marL="0">
              <a:buNone/>
            </a:pPr>
            <a:r>
              <a:rPr lang="en-US" sz="1200" dirty="0">
                <a:solidFill>
                  <a:srgbClr val="E2E8F0"/>
                </a:solidFill>
                <a:latin typeface="Courier New" pitchFamily="34" charset="0"/>
                <a:ea typeface="Courier New" pitchFamily="34" charset="-122"/>
                <a:cs typeface="Courier New" pitchFamily="34" charset="-120"/>
              </a:rPr>
              <a:t>            precedente = moyenne</a:t>
            </a:r>
            <a:endParaRPr lang="en-US" sz="1200" dirty="0"/>
          </a:p>
          <a:p>
            <a:pPr indent="0" marL="0">
              <a:buNone/>
            </a:pPr>
            <a:r>
              <a:rPr lang="en-US" sz="1200" dirty="0">
                <a:solidFill>
                  <a:srgbClr val="E2E8F0"/>
                </a:solidFill>
                <a:latin typeface="Courier New" pitchFamily="34" charset="0"/>
                <a:ea typeface="Courier New" pitchFamily="34" charset="-122"/>
                <a:cs typeface="Courier New" pitchFamily="34" charset="-120"/>
              </a:rPr>
              <a:t>        rangs[cle] = rang</a:t>
            </a:r>
            <a:endParaRPr lang="en-US" sz="1200" dirty="0"/>
          </a:p>
          <a:p>
            <a:pPr indent="0" marL="0">
              <a:buNone/>
            </a:pPr>
            <a:r>
              <a:rPr lang="en-US" sz="1200" dirty="0">
                <a:solidFill>
                  <a:srgbClr val="E2E8F0"/>
                </a:solidFill>
                <a:latin typeface="Courier New" pitchFamily="34" charset="0"/>
                <a:ea typeface="Courier New" pitchFamily="34" charset="-122"/>
                <a:cs typeface="Courier New" pitchFamily="34" charset="-120"/>
              </a:rPr>
              <a:t>    return rangs</a:t>
            </a:r>
            <a:endParaRPr lang="en-US" sz="1200" dirty="0"/>
          </a:p>
        </p:txBody>
      </p:sp>
      <p:sp>
        <p:nvSpPr>
          <p:cNvPr id="6" name="Légende"/>
          <p:cNvSpPr txBox="1"/>
          <p:nvPr/>
        </p:nvSpPr>
        <p:spPr>
          <a:xfrm>
            <a:off x="548640" y="5532120"/>
            <a:ext cx="5486400" cy="292608"/>
          </a:xfrm>
          <a:prstGeom prst="rect">
            <a:avLst/>
          </a:prstGeom>
          <a:noFill/>
          <a:ln/>
        </p:spPr>
        <p:txBody>
          <a:bodyPr wrap="square" lIns="0" tIns="0" rIns="0" bIns="0" rtlCol="0" anchor="ctr"/>
          <a:lstStyle/>
          <a:p>
            <a:pPr indent="0" marL="0">
              <a:buNone/>
            </a:pPr>
            <a:r>
              <a:rPr lang="en-US" sz="1100" i="1" dirty="0">
                <a:solidFill>
                  <a:schemeClr val="accent5"/>
                </a:solidFill>
              </a:rPr>
              <a:t>Extrait de calculs.py : calcul des rangs (testé par 12 tests automatiques).</a:t>
            </a:r>
            <a:endParaRPr lang="en-US" sz="1100" dirty="0"/>
          </a:p>
        </p:txBody>
      </p:sp>
      <p:sp>
        <p:nvSpPr>
          <p:cNvPr id="7" name="Capture : liste de classe (cadre)"/>
          <p:cNvSpPr/>
          <p:nvPr/>
        </p:nvSpPr>
        <p:spPr>
          <a:xfrm>
            <a:off x="6309360" y="1776730"/>
            <a:ext cx="5303520" cy="3167380"/>
          </a:xfrm>
          <a:prstGeom prst="rect">
            <a:avLst/>
          </a:prstGeom>
          <a:solidFill>
            <a:schemeClr val="bg1"/>
          </a:solidFill>
          <a:ln w="12700">
            <a:solidFill>
              <a:schemeClr val="accent6"/>
            </a:solidFill>
            <a:prstDash val="solid"/>
          </a:ln>
          <a:effectLst>
            <a:outerShdw sx="100000" sy="100000" kx="0" ky="0" algn="bl" rotWithShape="0" blurRad="101600" dist="25400" dir="5400000">
              <a:srgbClr val="0F172A">
                <a:alpha val="18000"/>
              </a:srgbClr>
            </a:outerShdw>
          </a:effectLst>
        </p:spPr>
      </p:sp>
      <p:pic>
        <p:nvPicPr>
          <p:cNvPr id="8" name="Capture : liste de classe" descr="Capture : liste de classe">    </p:cNvPr>
          <p:cNvPicPr>
            <a:picLocks noChangeAspect="1"/>
          </p:cNvPicPr>
          <p:nvPr/>
        </p:nvPicPr>
        <p:blipFill>
          <a:blip r:embed="rId1"/>
          <a:stretch>
            <a:fillRect/>
          </a:stretch>
        </p:blipFill>
        <p:spPr>
          <a:xfrm>
            <a:off x="6309360" y="1776730"/>
            <a:ext cx="5303520" cy="3167380"/>
          </a:xfrm>
          <a:prstGeom prst="rect">
            <a:avLst/>
          </a:prstGeom>
        </p:spPr>
      </p:pic>
      <p:sp>
        <p:nvSpPr>
          <p:cNvPr id="9" name="Légende"/>
          <p:cNvSpPr txBox="1"/>
          <p:nvPr/>
        </p:nvSpPr>
        <p:spPr>
          <a:xfrm>
            <a:off x="6309360" y="5035550"/>
            <a:ext cx="5303520" cy="292608"/>
          </a:xfrm>
          <a:prstGeom prst="rect">
            <a:avLst/>
          </a:prstGeom>
          <a:noFill/>
          <a:ln/>
        </p:spPr>
        <p:txBody>
          <a:bodyPr wrap="square" lIns="0" tIns="0" rIns="0" bIns="0" rtlCol="0" anchor="ctr"/>
          <a:lstStyle/>
          <a:p>
            <a:pPr indent="0" marL="0">
              <a:buNone/>
            </a:pPr>
            <a:r>
              <a:rPr lang="en-US" sz="1100" i="1" dirty="0">
                <a:solidFill>
                  <a:schemeClr val="accent5"/>
                </a:solidFill>
              </a:rPr>
              <a:t>Liste de classe : rangs 6 et 6 « ex », puis 8.</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indent="0" marL="0">
              <a:buNone/>
            </a:pPr>
            <a:r>
              <a:rPr lang="en-US" sz="3000" b="1" dirty="0">
                <a:solidFill>
                  <a:schemeClr val="tx1"/>
                </a:solidFill>
              </a:rPr>
              <a:t>Réalisation 3 : saisie des notes de toute une classe</a:t>
            </a:r>
            <a:endParaRPr lang="en-US" sz="3000" dirty="0"/>
          </a:p>
        </p:txBody>
      </p:sp>
      <p:sp>
        <p:nvSpPr>
          <p:cNvPr id="4" name="Capture : saisie des notes (cadre)"/>
          <p:cNvSpPr/>
          <p:nvPr/>
        </p:nvSpPr>
        <p:spPr>
          <a:xfrm>
            <a:off x="614562" y="1280160"/>
            <a:ext cx="7731996" cy="4617720"/>
          </a:xfrm>
          <a:prstGeom prst="rect">
            <a:avLst/>
          </a:prstGeom>
          <a:solidFill>
            <a:schemeClr val="bg1"/>
          </a:solidFill>
          <a:ln w="12700">
            <a:solidFill>
              <a:schemeClr val="accent6"/>
            </a:solidFill>
            <a:prstDash val="solid"/>
          </a:ln>
          <a:effectLst>
            <a:outerShdw sx="100000" sy="100000" kx="0" ky="0" algn="bl" rotWithShape="0" blurRad="101600" dist="25400" dir="5400000">
              <a:srgbClr val="0F172A">
                <a:alpha val="18000"/>
              </a:srgbClr>
            </a:outerShdw>
          </a:effectLst>
        </p:spPr>
      </p:sp>
      <p:pic>
        <p:nvPicPr>
          <p:cNvPr id="5" name="Capture : saisie des notes" descr="Capture : saisie des notes">    </p:cNvPr>
          <p:cNvPicPr>
            <a:picLocks noChangeAspect="1"/>
          </p:cNvPicPr>
          <p:nvPr/>
        </p:nvPicPr>
        <p:blipFill>
          <a:blip r:embed="rId1"/>
          <a:stretch>
            <a:fillRect/>
          </a:stretch>
        </p:blipFill>
        <p:spPr>
          <a:xfrm>
            <a:off x="614562" y="1280160"/>
            <a:ext cx="7731996" cy="4617720"/>
          </a:xfrm>
          <a:prstGeom prst="rect">
            <a:avLst/>
          </a:prstGeom>
        </p:spPr>
      </p:pic>
      <p:sp>
        <p:nvSpPr>
          <p:cNvPr id="6" name="Légende"/>
          <p:cNvSpPr txBox="1"/>
          <p:nvPr/>
        </p:nvSpPr>
        <p:spPr>
          <a:xfrm>
            <a:off x="548640" y="5989320"/>
            <a:ext cx="7863840" cy="292608"/>
          </a:xfrm>
          <a:prstGeom prst="rect">
            <a:avLst/>
          </a:prstGeom>
          <a:noFill/>
          <a:ln/>
        </p:spPr>
        <p:txBody>
          <a:bodyPr wrap="square" lIns="0" tIns="0" rIns="0" bIns="0" rtlCol="0" anchor="ctr"/>
          <a:lstStyle/>
          <a:p>
            <a:pPr indent="0" marL="0">
              <a:buNone/>
            </a:pPr>
            <a:r>
              <a:rPr lang="en-US" sz="1100" i="1" dirty="0">
                <a:solidFill>
                  <a:schemeClr val="accent5"/>
                </a:solidFill>
              </a:rPr>
              <a:t>Saisie en direct : « 22 » et « abc » refusés, moyenne recalculée, bouton bloqué.</a:t>
            </a:r>
            <a:endParaRPr lang="en-US" sz="1100" dirty="0"/>
          </a:p>
        </p:txBody>
      </p:sp>
      <p:sp>
        <p:nvSpPr>
          <p:cNvPr id="7" name="Liste"/>
          <p:cNvSpPr txBox="1"/>
          <p:nvPr/>
        </p:nvSpPr>
        <p:spPr>
          <a:xfrm>
            <a:off x="8686800" y="1371600"/>
            <a:ext cx="2926080" cy="4572000"/>
          </a:xfrm>
          <a:prstGeom prst="rect">
            <a:avLst/>
          </a:prstGeom>
          <a:noFill/>
          <a:ln/>
        </p:spPr>
        <p:txBody>
          <a:bodyPr wrap="square" lIns="0" tIns="0" rIns="0" bIns="0" rtlCol="0" anchor="t"/>
          <a:lstStyle/>
          <a:p>
            <a:pPr marL="203200" indent="-203200">
              <a:spcAft>
                <a:spcPts val="800"/>
              </a:spcAft>
              <a:buSzPct val="100000"/>
              <a:buChar char="•"/>
            </a:pPr>
            <a:r>
              <a:rPr lang="en-US" sz="1400" dirty="0">
                <a:solidFill>
                  <a:schemeClr val="tx1"/>
                </a:solidFill>
              </a:rPr>
              <a:t>Évaluation créée par classe, matière et séquence (statuts : planifiée, à saisir, en cours, complète, clôturée).</a:t>
            </a:r>
            <a:endParaRPr lang="en-US" sz="1400" dirty="0"/>
          </a:p>
          <a:p>
            <a:pPr marL="203200" indent="-203200">
              <a:spcAft>
                <a:spcPts val="800"/>
              </a:spcAft>
              <a:buSzPct val="100000"/>
              <a:buChar char="•"/>
            </a:pPr>
            <a:r>
              <a:rPr lang="en-US" sz="1400" dirty="0">
                <a:solidFill>
                  <a:schemeClr val="tx1"/>
                </a:solidFill>
              </a:rPr>
              <a:t>Virgule ou point acceptés ; cases vides ignorées.</a:t>
            </a:r>
            <a:endParaRPr lang="en-US" sz="1400" dirty="0"/>
          </a:p>
          <a:p>
            <a:pPr marL="203200" indent="-203200">
              <a:spcAft>
                <a:spcPts val="800"/>
              </a:spcAft>
              <a:buSzPct val="100000"/>
              <a:buChar char="•"/>
            </a:pPr>
            <a:r>
              <a:rPr lang="en-US" sz="1400" dirty="0">
                <a:solidFill>
                  <a:schemeClr val="tx1"/>
                </a:solidFill>
              </a:rPr>
              <a:t>Tout ou rien : une seule note invalide et rien n'est enregistré (transaction).</a:t>
            </a:r>
            <a:endParaRPr lang="en-US" sz="1400" dirty="0"/>
          </a:p>
          <a:p>
            <a:pPr marL="203200" indent="-203200">
              <a:spcAft>
                <a:spcPts val="800"/>
              </a:spcAft>
              <a:buSzPct val="100000"/>
              <a:buChar char="•"/>
            </a:pPr>
            <a:r>
              <a:rPr lang="en-US" sz="1400" dirty="0">
                <a:solidFill>
                  <a:schemeClr val="tx1"/>
                </a:solidFill>
              </a:rPr>
              <a:t>Une note existante n'est jamais écrasée : elle se corrige.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indent="0" marL="0">
              <a:buNone/>
            </a:pPr>
            <a:r>
              <a:rPr lang="en-US" sz="3000" b="1" dirty="0">
                <a:solidFill>
                  <a:schemeClr val="tx1"/>
                </a:solidFill>
              </a:rPr>
              <a:t>Réalisation 4 : correction motivée d'une note</a:t>
            </a:r>
            <a:endParaRPr lang="en-US" sz="3000" dirty="0"/>
          </a:p>
        </p:txBody>
      </p:sp>
      <p:sp>
        <p:nvSpPr>
          <p:cNvPr id="4" name="Capture : correction d'une note (cadre)"/>
          <p:cNvSpPr/>
          <p:nvPr/>
        </p:nvSpPr>
        <p:spPr>
          <a:xfrm>
            <a:off x="548640" y="1926590"/>
            <a:ext cx="6766560" cy="2913380"/>
          </a:xfrm>
          <a:prstGeom prst="rect">
            <a:avLst/>
          </a:prstGeom>
          <a:solidFill>
            <a:schemeClr val="bg1"/>
          </a:solidFill>
          <a:ln w="12700">
            <a:solidFill>
              <a:schemeClr val="accent6"/>
            </a:solidFill>
            <a:prstDash val="solid"/>
          </a:ln>
          <a:effectLst>
            <a:outerShdw sx="100000" sy="100000" kx="0" ky="0" algn="bl" rotWithShape="0" blurRad="101600" dist="25400" dir="5400000">
              <a:srgbClr val="0F172A">
                <a:alpha val="18000"/>
              </a:srgbClr>
            </a:outerShdw>
          </a:effectLst>
        </p:spPr>
      </p:sp>
      <p:pic>
        <p:nvPicPr>
          <p:cNvPr id="5" name="Capture : correction d'une note" descr="Capture : correction d'une note">    </p:cNvPr>
          <p:cNvPicPr>
            <a:picLocks noChangeAspect="1"/>
          </p:cNvPicPr>
          <p:nvPr/>
        </p:nvPicPr>
        <p:blipFill>
          <a:blip r:embed="rId1"/>
          <a:stretch>
            <a:fillRect/>
          </a:stretch>
        </p:blipFill>
        <p:spPr>
          <a:xfrm>
            <a:off x="548640" y="1926590"/>
            <a:ext cx="6766560" cy="2913380"/>
          </a:xfrm>
          <a:prstGeom prst="rect">
            <a:avLst/>
          </a:prstGeom>
        </p:spPr>
      </p:pic>
      <p:sp>
        <p:nvSpPr>
          <p:cNvPr id="6" name="Légende"/>
          <p:cNvSpPr txBox="1"/>
          <p:nvPr/>
        </p:nvSpPr>
        <p:spPr>
          <a:xfrm>
            <a:off x="548640" y="4931410"/>
            <a:ext cx="6766560" cy="292608"/>
          </a:xfrm>
          <a:prstGeom prst="rect">
            <a:avLst/>
          </a:prstGeom>
          <a:noFill/>
          <a:ln/>
        </p:spPr>
        <p:txBody>
          <a:bodyPr wrap="square" lIns="0" tIns="0" rIns="0" bIns="0" rtlCol="0" anchor="ctr"/>
          <a:lstStyle/>
          <a:p>
            <a:pPr indent="0" marL="0">
              <a:buNone/>
            </a:pPr>
            <a:r>
              <a:rPr lang="en-US" sz="1100" i="1" dirty="0">
                <a:solidFill>
                  <a:schemeClr val="accent5"/>
                </a:solidFill>
              </a:rPr>
              <a:t>Formulaire de correction : note actuelle, nouvelle note, motif et historique.</a:t>
            </a:r>
            <a:endParaRPr lang="en-US" sz="1100" dirty="0"/>
          </a:p>
        </p:txBody>
      </p:sp>
      <p:sp>
        <p:nvSpPr>
          <p:cNvPr id="7" name="Fond du code"/>
          <p:cNvSpPr/>
          <p:nvPr/>
        </p:nvSpPr>
        <p:spPr>
          <a:xfrm>
            <a:off x="7589520" y="1280160"/>
            <a:ext cx="4023360" cy="3657600"/>
          </a:xfrm>
          <a:prstGeom prst="roundRect">
            <a:avLst>
              <a:gd name="adj" fmla="val 2000"/>
            </a:avLst>
          </a:prstGeom>
          <a:solidFill>
            <a:schemeClr val="tx1"/>
          </a:solidFill>
          <a:ln w="12700">
            <a:solidFill>
              <a:schemeClr val="tx1"/>
            </a:solidFill>
            <a:prstDash val="solid"/>
          </a:ln>
        </p:spPr>
      </p:sp>
      <p:sp>
        <p:nvSpPr>
          <p:cNvPr id="8" name="Extrait de code"/>
          <p:cNvSpPr txBox="1"/>
          <p:nvPr/>
        </p:nvSpPr>
        <p:spPr>
          <a:xfrm>
            <a:off x="7772400" y="1417320"/>
            <a:ext cx="3657600" cy="3383280"/>
          </a:xfrm>
          <a:prstGeom prst="rect">
            <a:avLst/>
          </a:prstGeom>
          <a:noFill/>
          <a:ln/>
        </p:spPr>
        <p:txBody>
          <a:bodyPr wrap="square" lIns="0" tIns="0" rIns="0" bIns="0" rtlCol="0" anchor="t"/>
          <a:lstStyle/>
          <a:p>
            <a:pPr indent="0" marL="0">
              <a:buNone/>
            </a:pPr>
            <a:r>
              <a:rPr lang="en-US" sz="1100" dirty="0">
                <a:solidFill>
                  <a:srgbClr val="E2E8F0"/>
                </a:solidFill>
                <a:latin typeface="Courier New" pitchFamily="34" charset="0"/>
                <a:ea typeface="Courier New" pitchFamily="34" charset="-122"/>
                <a:cs typeface="Courier New" pitchFamily="34" charset="-120"/>
              </a:rPr>
              <a:t>with db:  # tout ou rien</a:t>
            </a:r>
            <a:endParaRPr lang="en-US" sz="1100" dirty="0"/>
          </a:p>
          <a:p>
            <a:pPr indent="0" marL="0">
              <a:buNone/>
            </a:pPr>
            <a:r>
              <a:rPr lang="en-US" sz="1100" dirty="0">
                <a:solidFill>
                  <a:srgbClr val="E2E8F0"/>
                </a:solidFill>
                <a:latin typeface="Courier New" pitchFamily="34" charset="0"/>
                <a:ea typeface="Courier New" pitchFamily="34" charset="-122"/>
                <a:cs typeface="Courier New" pitchFamily="34" charset="-120"/>
              </a:rPr>
              <a:t>  db.execute(</a:t>
            </a:r>
            <a:endParaRPr lang="en-US" sz="1100" dirty="0"/>
          </a:p>
          <a:p>
            <a:pPr indent="0" marL="0">
              <a:buNone/>
            </a:pPr>
            <a:r>
              <a:rPr lang="en-US" sz="1100" dirty="0">
                <a:solidFill>
                  <a:srgbClr val="E2E8F0"/>
                </a:solidFill>
                <a:latin typeface="Courier New" pitchFamily="34" charset="0"/>
                <a:ea typeface="Courier New" pitchFamily="34" charset="-122"/>
                <a:cs typeface="Courier New" pitchFamily="34" charset="-120"/>
              </a:rPr>
              <a:t>    "INSERT INTO corrections "</a:t>
            </a:r>
            <a:endParaRPr lang="en-US" sz="1100" dirty="0"/>
          </a:p>
          <a:p>
            <a:pPr indent="0" marL="0">
              <a:buNone/>
            </a:pPr>
            <a:r>
              <a:rPr lang="en-US" sz="1100" dirty="0">
                <a:solidFill>
                  <a:srgbClr val="E2E8F0"/>
                </a:solidFill>
                <a:latin typeface="Courier New" pitchFamily="34" charset="0"/>
                <a:ea typeface="Courier New" pitchFamily="34" charset="-122"/>
                <a:cs typeface="Courier New" pitchFamily="34" charset="-120"/>
              </a:rPr>
              <a:t>    "(note_id, ancienne_note, "</a:t>
            </a:r>
            <a:endParaRPr lang="en-US" sz="1100" dirty="0"/>
          </a:p>
          <a:p>
            <a:pPr indent="0" marL="0">
              <a:buNone/>
            </a:pPr>
            <a:r>
              <a:rPr lang="en-US" sz="1100" dirty="0">
                <a:solidFill>
                  <a:srgbClr val="E2E8F0"/>
                </a:solidFill>
                <a:latin typeface="Courier New" pitchFamily="34" charset="0"/>
                <a:ea typeface="Courier New" pitchFamily="34" charset="-122"/>
                <a:cs typeface="Courier New" pitchFamily="34" charset="-120"/>
              </a:rPr>
              <a:t>    "nouvelle_note, motif, "</a:t>
            </a:r>
            <a:endParaRPr lang="en-US" sz="1100" dirty="0"/>
          </a:p>
          <a:p>
            <a:pPr indent="0" marL="0">
              <a:buNone/>
            </a:pPr>
            <a:r>
              <a:rPr lang="en-US" sz="1100" dirty="0">
                <a:solidFill>
                  <a:srgbClr val="E2E8F0"/>
                </a:solidFill>
                <a:latin typeface="Courier New" pitchFamily="34" charset="0"/>
                <a:ea typeface="Courier New" pitchFamily="34" charset="-122"/>
                <a:cs typeface="Courier New" pitchFamily="34" charset="-120"/>
              </a:rPr>
              <a:t>    "enseignant_id, date_correction)"</a:t>
            </a:r>
            <a:endParaRPr lang="en-US" sz="1100" dirty="0"/>
          </a:p>
          <a:p>
            <a:pPr indent="0" marL="0">
              <a:buNone/>
            </a:pPr>
            <a:r>
              <a:rPr lang="en-US" sz="1100" dirty="0">
                <a:solidFill>
                  <a:srgbClr val="E2E8F0"/>
                </a:solidFill>
                <a:latin typeface="Courier New" pitchFamily="34" charset="0"/>
                <a:ea typeface="Courier New" pitchFamily="34" charset="-122"/>
                <a:cs typeface="Courier New" pitchFamily="34" charset="-120"/>
              </a:rPr>
              <a:t>    " VALUES (?, ?, ?, ?, ?, ?)",</a:t>
            </a:r>
            <a:endParaRPr lang="en-US" sz="1100" dirty="0"/>
          </a:p>
          <a:p>
            <a:pPr indent="0" marL="0">
              <a:buNone/>
            </a:pPr>
            <a:r>
              <a:rPr lang="en-US" sz="1100" dirty="0">
                <a:solidFill>
                  <a:srgbClr val="E2E8F0"/>
                </a:solidFill>
                <a:latin typeface="Courier New" pitchFamily="34" charset="0"/>
                <a:ea typeface="Courier New" pitchFamily="34" charset="-122"/>
                <a:cs typeface="Courier New" pitchFamily="34" charset="-120"/>
              </a:rPr>
              <a:t>    (note_id, note["note"], nouvelle,</a:t>
            </a:r>
            <a:endParaRPr lang="en-US" sz="1100" dirty="0"/>
          </a:p>
          <a:p>
            <a:pPr indent="0" marL="0">
              <a:buNone/>
            </a:pPr>
            <a:r>
              <a:rPr lang="en-US" sz="1100" dirty="0">
                <a:solidFill>
                  <a:srgbClr val="E2E8F0"/>
                </a:solidFill>
                <a:latin typeface="Courier New" pitchFamily="34" charset="0"/>
                <a:ea typeface="Courier New" pitchFamily="34" charset="-122"/>
                <a:cs typeface="Courier New" pitchFamily="34" charset="-120"/>
              </a:rPr>
              <a:t>     motif, g.enseignant["id"],</a:t>
            </a:r>
            <a:endParaRPr lang="en-US" sz="1100" dirty="0"/>
          </a:p>
          <a:p>
            <a:pPr indent="0" marL="0">
              <a:buNone/>
            </a:pPr>
            <a:r>
              <a:rPr lang="en-US" sz="1100" dirty="0">
                <a:solidFill>
                  <a:srgbClr val="E2E8F0"/>
                </a:solidFill>
                <a:latin typeface="Courier New" pitchFamily="34" charset="0"/>
                <a:ea typeface="Courier New" pitchFamily="34" charset="-122"/>
                <a:cs typeface="Courier New" pitchFamily="34" charset="-120"/>
              </a:rPr>
              <a:t>     aujourdhui))</a:t>
            </a:r>
            <a:endParaRPr lang="en-US" sz="1100" dirty="0"/>
          </a:p>
          <a:p>
            <a:pPr indent="0" marL="0">
              <a:buNone/>
            </a:pPr>
            <a:r>
              <a:rPr lang="en-US" sz="1100" dirty="0">
                <a:solidFill>
                  <a:srgbClr val="E2E8F0"/>
                </a:solidFill>
                <a:latin typeface="Courier New" pitchFamily="34" charset="0"/>
                <a:ea typeface="Courier New" pitchFamily="34" charset="-122"/>
                <a:cs typeface="Courier New" pitchFamily="34" charset="-120"/>
              </a:rPr>
              <a:t>  db.execute(</a:t>
            </a:r>
            <a:endParaRPr lang="en-US" sz="1100" dirty="0"/>
          </a:p>
          <a:p>
            <a:pPr indent="0" marL="0">
              <a:buNone/>
            </a:pPr>
            <a:r>
              <a:rPr lang="en-US" sz="1100" dirty="0">
                <a:solidFill>
                  <a:srgbClr val="E2E8F0"/>
                </a:solidFill>
                <a:latin typeface="Courier New" pitchFamily="34" charset="0"/>
                <a:ea typeface="Courier New" pitchFamily="34" charset="-122"/>
                <a:cs typeface="Courier New" pitchFamily="34" charset="-120"/>
              </a:rPr>
              <a:t>    "UPDATE notes SET note = ? "</a:t>
            </a:r>
            <a:endParaRPr lang="en-US" sz="1100" dirty="0"/>
          </a:p>
          <a:p>
            <a:pPr indent="0" marL="0">
              <a:buNone/>
            </a:pPr>
            <a:r>
              <a:rPr lang="en-US" sz="1100" dirty="0">
                <a:solidFill>
                  <a:srgbClr val="E2E8F0"/>
                </a:solidFill>
                <a:latin typeface="Courier New" pitchFamily="34" charset="0"/>
                <a:ea typeface="Courier New" pitchFamily="34" charset="-122"/>
                <a:cs typeface="Courier New" pitchFamily="34" charset="-120"/>
              </a:rPr>
              <a:t>    "WHERE id = ?", (nouvelle, note_id))</a:t>
            </a:r>
            <a:endParaRPr lang="en-US" sz="1100" dirty="0"/>
          </a:p>
        </p:txBody>
      </p:sp>
      <p:sp>
        <p:nvSpPr>
          <p:cNvPr id="9" name="Légende"/>
          <p:cNvSpPr txBox="1"/>
          <p:nvPr/>
        </p:nvSpPr>
        <p:spPr>
          <a:xfrm>
            <a:off x="7589520" y="5029200"/>
            <a:ext cx="4023360" cy="292608"/>
          </a:xfrm>
          <a:prstGeom prst="rect">
            <a:avLst/>
          </a:prstGeom>
          <a:noFill/>
          <a:ln/>
        </p:spPr>
        <p:txBody>
          <a:bodyPr wrap="square" lIns="0" tIns="0" rIns="0" bIns="0" rtlCol="0" anchor="ctr"/>
          <a:lstStyle/>
          <a:p>
            <a:pPr indent="0" marL="0">
              <a:buNone/>
            </a:pPr>
            <a:r>
              <a:rPr lang="en-US" sz="1100" i="1" dirty="0">
                <a:solidFill>
                  <a:schemeClr val="accent5"/>
                </a:solidFill>
              </a:rPr>
              <a:t>Extrait de app.py : requêtes paramétrées (?).</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indent="0" marL="0">
              <a:buNone/>
            </a:pPr>
            <a:r>
              <a:rPr lang="en-US" sz="3000" b="1" dirty="0">
                <a:solidFill>
                  <a:schemeClr val="tx1"/>
                </a:solidFill>
              </a:rPr>
              <a:t>Réalisation 5 : les statistiques demandées</a:t>
            </a:r>
            <a:endParaRPr lang="en-US" sz="3000" dirty="0"/>
          </a:p>
        </p:txBody>
      </p:sp>
      <p:sp>
        <p:nvSpPr>
          <p:cNvPr id="4" name="Capture : statistiques (cadre)"/>
          <p:cNvSpPr/>
          <p:nvPr/>
        </p:nvSpPr>
        <p:spPr>
          <a:xfrm>
            <a:off x="786384" y="1280160"/>
            <a:ext cx="7388352" cy="4617720"/>
          </a:xfrm>
          <a:prstGeom prst="rect">
            <a:avLst/>
          </a:prstGeom>
          <a:solidFill>
            <a:schemeClr val="bg1"/>
          </a:solidFill>
          <a:ln w="12700">
            <a:solidFill>
              <a:schemeClr val="accent6"/>
            </a:solidFill>
            <a:prstDash val="solid"/>
          </a:ln>
          <a:effectLst>
            <a:outerShdw sx="100000" sy="100000" kx="0" ky="0" algn="bl" rotWithShape="0" blurRad="101600" dist="25400" dir="5400000">
              <a:srgbClr val="0F172A">
                <a:alpha val="18000"/>
              </a:srgbClr>
            </a:outerShdw>
          </a:effectLst>
        </p:spPr>
      </p:sp>
      <p:pic>
        <p:nvPicPr>
          <p:cNvPr id="5" name="Capture : statistiques" descr="Capture : statistiques">    </p:cNvPr>
          <p:cNvPicPr>
            <a:picLocks noChangeAspect="1"/>
          </p:cNvPicPr>
          <p:nvPr/>
        </p:nvPicPr>
        <p:blipFill>
          <a:blip r:embed="rId1"/>
          <a:stretch>
            <a:fillRect/>
          </a:stretch>
        </p:blipFill>
        <p:spPr>
          <a:xfrm>
            <a:off x="786384" y="1280160"/>
            <a:ext cx="7388352" cy="4617720"/>
          </a:xfrm>
          <a:prstGeom prst="rect">
            <a:avLst/>
          </a:prstGeom>
        </p:spPr>
      </p:pic>
      <p:sp>
        <p:nvSpPr>
          <p:cNvPr id="6" name="Légende"/>
          <p:cNvSpPr txBox="1"/>
          <p:nvPr/>
        </p:nvSpPr>
        <p:spPr>
          <a:xfrm>
            <a:off x="548640" y="5989320"/>
            <a:ext cx="7863840" cy="292608"/>
          </a:xfrm>
          <a:prstGeom prst="rect">
            <a:avLst/>
          </a:prstGeom>
          <a:noFill/>
          <a:ln/>
        </p:spPr>
        <p:txBody>
          <a:bodyPr wrap="square" lIns="0" tIns="0" rIns="0" bIns="0" rtlCol="0" anchor="ctr"/>
          <a:lstStyle/>
          <a:p>
            <a:pPr indent="0" marL="0">
              <a:buNone/>
            </a:pPr>
            <a:r>
              <a:rPr lang="en-US" sz="1100" i="1" dirty="0">
                <a:solidFill>
                  <a:schemeClr val="accent5"/>
                </a:solidFill>
              </a:rPr>
              <a:t>Page des statistiques de la séquence 2 (graphiques Chart.js).</a:t>
            </a:r>
            <a:endParaRPr lang="en-US" sz="1100" dirty="0"/>
          </a:p>
        </p:txBody>
      </p:sp>
      <p:sp>
        <p:nvSpPr>
          <p:cNvPr id="7" name="Pastille"/>
          <p:cNvSpPr/>
          <p:nvPr/>
        </p:nvSpPr>
        <p:spPr>
          <a:xfrm>
            <a:off x="8686800" y="1417320"/>
            <a:ext cx="548640" cy="548640"/>
          </a:xfrm>
          <a:prstGeom prst="ellipse">
            <a:avLst/>
          </a:prstGeom>
          <a:solidFill>
            <a:srgbClr val="E8EEFD"/>
          </a:solidFill>
          <a:ln w="12700">
            <a:solidFill>
              <a:srgbClr val="E8EEFD"/>
            </a:solidFill>
            <a:prstDash val="solid"/>
          </a:ln>
        </p:spPr>
      </p:sp>
      <p:pic>
        <p:nvPicPr>
          <p:cNvPr id="8" name="Icône LuTarget" descr="preencoded.png">    </p:cNvPr>
          <p:cNvPicPr>
            <a:picLocks noChangeAspect="1"/>
          </p:cNvPicPr>
          <p:nvPr/>
        </p:nvPicPr>
        <p:blipFill>
          <a:blip r:embed="rId2"/>
          <a:stretch>
            <a:fillRect/>
          </a:stretch>
        </p:blipFill>
        <p:spPr>
          <a:xfrm>
            <a:off x="8807501" y="1538021"/>
            <a:ext cx="307238" cy="307238"/>
          </a:xfrm>
          <a:prstGeom prst="rect">
            <a:avLst/>
          </a:prstGeom>
        </p:spPr>
      </p:pic>
      <p:sp>
        <p:nvSpPr>
          <p:cNvPr id="9" name="Text 4"/>
          <p:cNvSpPr txBox="1"/>
          <p:nvPr/>
        </p:nvSpPr>
        <p:spPr>
          <a:xfrm>
            <a:off x="9372600" y="1371600"/>
            <a:ext cx="2240280" cy="685800"/>
          </a:xfrm>
          <a:prstGeom prst="rect">
            <a:avLst/>
          </a:prstGeom>
          <a:noFill/>
          <a:ln/>
        </p:spPr>
        <p:txBody>
          <a:bodyPr wrap="square" lIns="0" tIns="0" rIns="0" bIns="0" rtlCol="0" anchor="ctr"/>
          <a:lstStyle/>
          <a:p>
            <a:pPr indent="0" marL="0">
              <a:buNone/>
            </a:pPr>
            <a:r>
              <a:rPr lang="en-US" sz="1400" dirty="0">
                <a:solidFill>
                  <a:schemeClr val="tx1"/>
                </a:solidFill>
              </a:rPr>
              <a:t>Moyenne générale et taux de réussite (≥ 10) par classe</a:t>
            </a:r>
            <a:endParaRPr lang="en-US" sz="1400" dirty="0"/>
          </a:p>
        </p:txBody>
      </p:sp>
      <p:sp>
        <p:nvSpPr>
          <p:cNvPr id="10" name="Pastille"/>
          <p:cNvSpPr/>
          <p:nvPr/>
        </p:nvSpPr>
        <p:spPr>
          <a:xfrm>
            <a:off x="8686800" y="2514600"/>
            <a:ext cx="548640" cy="548640"/>
          </a:xfrm>
          <a:prstGeom prst="ellipse">
            <a:avLst/>
          </a:prstGeom>
          <a:solidFill>
            <a:srgbClr val="E8EEFD"/>
          </a:solidFill>
          <a:ln w="12700">
            <a:solidFill>
              <a:srgbClr val="E8EEFD"/>
            </a:solidFill>
            <a:prstDash val="solid"/>
          </a:ln>
        </p:spPr>
      </p:sp>
      <p:pic>
        <p:nvPicPr>
          <p:cNvPr id="11" name="Icône LuListChecks" descr="preencoded.png">    </p:cNvPr>
          <p:cNvPicPr>
            <a:picLocks noChangeAspect="1"/>
          </p:cNvPicPr>
          <p:nvPr/>
        </p:nvPicPr>
        <p:blipFill>
          <a:blip r:embed="rId3"/>
          <a:stretch>
            <a:fillRect/>
          </a:stretch>
        </p:blipFill>
        <p:spPr>
          <a:xfrm>
            <a:off x="8807501" y="2635301"/>
            <a:ext cx="307238" cy="307238"/>
          </a:xfrm>
          <a:prstGeom prst="rect">
            <a:avLst/>
          </a:prstGeom>
        </p:spPr>
      </p:pic>
      <p:sp>
        <p:nvSpPr>
          <p:cNvPr id="12" name="Text 6"/>
          <p:cNvSpPr txBox="1"/>
          <p:nvPr/>
        </p:nvSpPr>
        <p:spPr>
          <a:xfrm>
            <a:off x="9372600" y="2468880"/>
            <a:ext cx="2240280" cy="685800"/>
          </a:xfrm>
          <a:prstGeom prst="rect">
            <a:avLst/>
          </a:prstGeom>
          <a:noFill/>
          <a:ln/>
        </p:spPr>
        <p:txBody>
          <a:bodyPr wrap="square" lIns="0" tIns="0" rIns="0" bIns="0" rtlCol="0" anchor="ctr"/>
          <a:lstStyle/>
          <a:p>
            <a:pPr indent="0" marL="0">
              <a:buNone/>
            </a:pPr>
            <a:r>
              <a:rPr lang="en-US" sz="1400" dirty="0">
                <a:solidFill>
                  <a:schemeClr val="tx1"/>
                </a:solidFill>
              </a:rPr>
              <a:t>Moyenne de chaque matière par classe (tableau coloré)</a:t>
            </a:r>
            <a:endParaRPr lang="en-US" sz="1400" dirty="0"/>
          </a:p>
        </p:txBody>
      </p:sp>
      <p:sp>
        <p:nvSpPr>
          <p:cNvPr id="13" name="Pastille"/>
          <p:cNvSpPr/>
          <p:nvPr/>
        </p:nvSpPr>
        <p:spPr>
          <a:xfrm>
            <a:off x="8686800" y="3611880"/>
            <a:ext cx="548640" cy="548640"/>
          </a:xfrm>
          <a:prstGeom prst="ellipse">
            <a:avLst/>
          </a:prstGeom>
          <a:solidFill>
            <a:srgbClr val="E8EEFD"/>
          </a:solidFill>
          <a:ln w="12700">
            <a:solidFill>
              <a:srgbClr val="E8EEFD"/>
            </a:solidFill>
            <a:prstDash val="solid"/>
          </a:ln>
        </p:spPr>
      </p:sp>
      <p:pic>
        <p:nvPicPr>
          <p:cNvPr id="14" name="Icône LuTrophy" descr="preencoded.png">    </p:cNvPr>
          <p:cNvPicPr>
            <a:picLocks noChangeAspect="1"/>
          </p:cNvPicPr>
          <p:nvPr/>
        </p:nvPicPr>
        <p:blipFill>
          <a:blip r:embed="rId4"/>
          <a:stretch>
            <a:fillRect/>
          </a:stretch>
        </p:blipFill>
        <p:spPr>
          <a:xfrm>
            <a:off x="8807501" y="3732581"/>
            <a:ext cx="307238" cy="307238"/>
          </a:xfrm>
          <a:prstGeom prst="rect">
            <a:avLst/>
          </a:prstGeom>
        </p:spPr>
      </p:pic>
      <p:sp>
        <p:nvSpPr>
          <p:cNvPr id="15" name="Text 8"/>
          <p:cNvSpPr txBox="1"/>
          <p:nvPr/>
        </p:nvSpPr>
        <p:spPr>
          <a:xfrm>
            <a:off x="9372600" y="3566160"/>
            <a:ext cx="2240280" cy="685800"/>
          </a:xfrm>
          <a:prstGeom prst="rect">
            <a:avLst/>
          </a:prstGeom>
          <a:noFill/>
          <a:ln/>
        </p:spPr>
        <p:txBody>
          <a:bodyPr wrap="square" lIns="0" tIns="0" rIns="0" bIns="0" rtlCol="0" anchor="ctr"/>
          <a:lstStyle/>
          <a:p>
            <a:pPr indent="0" marL="0">
              <a:buNone/>
            </a:pPr>
            <a:r>
              <a:rPr lang="en-US" sz="1400" dirty="0">
                <a:solidFill>
                  <a:schemeClr val="tx1"/>
                </a:solidFill>
              </a:rPr>
              <a:t>Les 3 premiers de chaque classe, ex æquo inclus</a:t>
            </a:r>
            <a:endParaRPr lang="en-US" sz="1400" dirty="0"/>
          </a:p>
        </p:txBody>
      </p:sp>
      <p:sp>
        <p:nvSpPr>
          <p:cNvPr id="16" name="Pastille"/>
          <p:cNvSpPr/>
          <p:nvPr/>
        </p:nvSpPr>
        <p:spPr>
          <a:xfrm>
            <a:off x="8686800" y="4709160"/>
            <a:ext cx="548640" cy="548640"/>
          </a:xfrm>
          <a:prstGeom prst="ellipse">
            <a:avLst/>
          </a:prstGeom>
          <a:solidFill>
            <a:srgbClr val="E8EEFD"/>
          </a:solidFill>
          <a:ln w="12700">
            <a:solidFill>
              <a:srgbClr val="E8EEFD"/>
            </a:solidFill>
            <a:prstDash val="solid"/>
          </a:ln>
        </p:spPr>
      </p:sp>
      <p:pic>
        <p:nvPicPr>
          <p:cNvPr id="17" name="Icône LuChartColumn" descr="preencoded.png">    </p:cNvPr>
          <p:cNvPicPr>
            <a:picLocks noChangeAspect="1"/>
          </p:cNvPicPr>
          <p:nvPr/>
        </p:nvPicPr>
        <p:blipFill>
          <a:blip r:embed="rId5"/>
          <a:stretch>
            <a:fillRect/>
          </a:stretch>
        </p:blipFill>
        <p:spPr>
          <a:xfrm>
            <a:off x="8807501" y="4829861"/>
            <a:ext cx="307238" cy="307238"/>
          </a:xfrm>
          <a:prstGeom prst="rect">
            <a:avLst/>
          </a:prstGeom>
        </p:spPr>
      </p:pic>
      <p:sp>
        <p:nvSpPr>
          <p:cNvPr id="18" name="Text 10"/>
          <p:cNvSpPr txBox="1"/>
          <p:nvPr/>
        </p:nvSpPr>
        <p:spPr>
          <a:xfrm>
            <a:off x="9372600" y="4663440"/>
            <a:ext cx="2240280" cy="685800"/>
          </a:xfrm>
          <a:prstGeom prst="rect">
            <a:avLst/>
          </a:prstGeom>
          <a:noFill/>
          <a:ln/>
        </p:spPr>
        <p:txBody>
          <a:bodyPr wrap="square" lIns="0" tIns="0" rIns="0" bIns="0" rtlCol="0" anchor="ctr"/>
          <a:lstStyle/>
          <a:p>
            <a:pPr indent="0" marL="0">
              <a:buNone/>
            </a:pPr>
            <a:r>
              <a:rPr lang="en-US" sz="1400" dirty="0">
                <a:solidFill>
                  <a:schemeClr val="tx1"/>
                </a:solidFill>
              </a:rPr>
              <a:t>Répartition : &lt; 8, 8-10, 10-12, 12-14, ≥ 14</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indent="0" marL="0">
              <a:buNone/>
            </a:pPr>
            <a:r>
              <a:rPr lang="en-US" sz="3000" b="1" dirty="0">
                <a:solidFill>
                  <a:schemeClr val="tx1"/>
                </a:solidFill>
              </a:rPr>
              <a:t>Réalisation 6 : administration et import d'élèves</a:t>
            </a:r>
            <a:endParaRPr lang="en-US" sz="3000" dirty="0"/>
          </a:p>
        </p:txBody>
      </p:sp>
      <p:sp>
        <p:nvSpPr>
          <p:cNvPr id="4" name="Capture : vérification de l'import (cadre)"/>
          <p:cNvSpPr/>
          <p:nvPr/>
        </p:nvSpPr>
        <p:spPr>
          <a:xfrm>
            <a:off x="548640" y="1805940"/>
            <a:ext cx="5486400" cy="3429000"/>
          </a:xfrm>
          <a:prstGeom prst="rect">
            <a:avLst/>
          </a:prstGeom>
          <a:solidFill>
            <a:schemeClr val="bg1"/>
          </a:solidFill>
          <a:ln w="12700">
            <a:solidFill>
              <a:schemeClr val="accent6"/>
            </a:solidFill>
            <a:prstDash val="solid"/>
          </a:ln>
          <a:effectLst>
            <a:outerShdw sx="100000" sy="100000" kx="0" ky="0" algn="bl" rotWithShape="0" blurRad="101600" dist="25400" dir="5400000">
              <a:srgbClr val="0F172A">
                <a:alpha val="18000"/>
              </a:srgbClr>
            </a:outerShdw>
          </a:effectLst>
        </p:spPr>
      </p:sp>
      <p:pic>
        <p:nvPicPr>
          <p:cNvPr id="5" name="Capture : vérification de l'import" descr="Capture : vérification de l'import">    </p:cNvPr>
          <p:cNvPicPr>
            <a:picLocks noChangeAspect="1"/>
          </p:cNvPicPr>
          <p:nvPr/>
        </p:nvPicPr>
        <p:blipFill>
          <a:blip r:embed="rId1"/>
          <a:stretch>
            <a:fillRect/>
          </a:stretch>
        </p:blipFill>
        <p:spPr>
          <a:xfrm>
            <a:off x="548640" y="1805940"/>
            <a:ext cx="5486400" cy="3429000"/>
          </a:xfrm>
          <a:prstGeom prst="rect">
            <a:avLst/>
          </a:prstGeom>
        </p:spPr>
      </p:pic>
      <p:sp>
        <p:nvSpPr>
          <p:cNvPr id="6" name="Légende"/>
          <p:cNvSpPr txBox="1"/>
          <p:nvPr/>
        </p:nvSpPr>
        <p:spPr>
          <a:xfrm>
            <a:off x="548640" y="5326380"/>
            <a:ext cx="5486400" cy="292608"/>
          </a:xfrm>
          <a:prstGeom prst="rect">
            <a:avLst/>
          </a:prstGeom>
          <a:noFill/>
          <a:ln/>
        </p:spPr>
        <p:txBody>
          <a:bodyPr wrap="square" lIns="0" tIns="0" rIns="0" bIns="0" rtlCol="0" anchor="ctr"/>
          <a:lstStyle/>
          <a:p>
            <a:pPr indent="0" marL="0">
              <a:buNone/>
            </a:pPr>
            <a:r>
              <a:rPr lang="en-US" sz="1100" i="1" dirty="0">
                <a:solidFill>
                  <a:schemeClr val="accent5"/>
                </a:solidFill>
              </a:rPr>
              <a:t>Import : lignes en erreur et doublon signalés avant l'import.</a:t>
            </a:r>
            <a:endParaRPr lang="en-US" sz="1100" dirty="0"/>
          </a:p>
        </p:txBody>
      </p:sp>
      <p:sp>
        <p:nvSpPr>
          <p:cNvPr id="7" name="Capture : ajout d'un élève (cadre)"/>
          <p:cNvSpPr/>
          <p:nvPr/>
        </p:nvSpPr>
        <p:spPr>
          <a:xfrm>
            <a:off x="6172200" y="2072640"/>
            <a:ext cx="5486400" cy="2895600"/>
          </a:xfrm>
          <a:prstGeom prst="rect">
            <a:avLst/>
          </a:prstGeom>
          <a:solidFill>
            <a:schemeClr val="bg1"/>
          </a:solidFill>
          <a:ln w="12700">
            <a:solidFill>
              <a:schemeClr val="accent6"/>
            </a:solidFill>
            <a:prstDash val="solid"/>
          </a:ln>
          <a:effectLst>
            <a:outerShdw sx="100000" sy="100000" kx="0" ky="0" algn="bl" rotWithShape="0" blurRad="101600" dist="25400" dir="5400000">
              <a:srgbClr val="0F172A">
                <a:alpha val="18000"/>
              </a:srgbClr>
            </a:outerShdw>
          </a:effectLst>
        </p:spPr>
      </p:sp>
      <p:pic>
        <p:nvPicPr>
          <p:cNvPr id="8" name="Capture : ajout d'un élève" descr="Capture : ajout d'un élève">    </p:cNvPr>
          <p:cNvPicPr>
            <a:picLocks noChangeAspect="1"/>
          </p:cNvPicPr>
          <p:nvPr/>
        </p:nvPicPr>
        <p:blipFill>
          <a:blip r:embed="rId2"/>
          <a:stretch>
            <a:fillRect/>
          </a:stretch>
        </p:blipFill>
        <p:spPr>
          <a:xfrm>
            <a:off x="6172200" y="2072640"/>
            <a:ext cx="5486400" cy="2895600"/>
          </a:xfrm>
          <a:prstGeom prst="rect">
            <a:avLst/>
          </a:prstGeom>
        </p:spPr>
      </p:pic>
      <p:sp>
        <p:nvSpPr>
          <p:cNvPr id="9" name="Légende"/>
          <p:cNvSpPr txBox="1"/>
          <p:nvPr/>
        </p:nvSpPr>
        <p:spPr>
          <a:xfrm>
            <a:off x="6172200" y="5059680"/>
            <a:ext cx="5486400" cy="292608"/>
          </a:xfrm>
          <a:prstGeom prst="rect">
            <a:avLst/>
          </a:prstGeom>
          <a:noFill/>
          <a:ln/>
        </p:spPr>
        <p:txBody>
          <a:bodyPr wrap="square" lIns="0" tIns="0" rIns="0" bIns="0" rtlCol="0" anchor="ctr"/>
          <a:lstStyle/>
          <a:p>
            <a:pPr indent="0" marL="0">
              <a:buNone/>
            </a:pPr>
            <a:r>
              <a:rPr lang="en-US" sz="1100" i="1" dirty="0">
                <a:solidFill>
                  <a:schemeClr val="accent5"/>
                </a:solidFill>
              </a:rPr>
              <a:t>Ajout d'un élève : matricule généré, code affiché une seule fois.</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indent="0" marL="0">
              <a:buNone/>
            </a:pPr>
            <a:r>
              <a:rPr lang="en-US" sz="3000" b="1" dirty="0">
                <a:solidFill>
                  <a:schemeClr val="tx1"/>
                </a:solidFill>
              </a:rPr>
              <a:t>Un site confortable sur téléphone</a:t>
            </a:r>
            <a:endParaRPr lang="en-US" sz="3000" dirty="0"/>
          </a:p>
        </p:txBody>
      </p:sp>
      <p:sp>
        <p:nvSpPr>
          <p:cNvPr id="4" name="Capture téléphone 1 (cadre)"/>
          <p:cNvSpPr/>
          <p:nvPr/>
        </p:nvSpPr>
        <p:spPr>
          <a:xfrm>
            <a:off x="619549" y="1280160"/>
            <a:ext cx="2007021" cy="4343400"/>
          </a:xfrm>
          <a:prstGeom prst="rect">
            <a:avLst/>
          </a:prstGeom>
          <a:solidFill>
            <a:schemeClr val="bg1"/>
          </a:solidFill>
          <a:ln w="12700">
            <a:solidFill>
              <a:schemeClr val="accent6"/>
            </a:solidFill>
            <a:prstDash val="solid"/>
          </a:ln>
          <a:effectLst>
            <a:outerShdw sx="100000" sy="100000" kx="0" ky="0" algn="bl" rotWithShape="0" blurRad="101600" dist="25400" dir="5400000">
              <a:srgbClr val="0F172A">
                <a:alpha val="18000"/>
              </a:srgbClr>
            </a:outerShdw>
          </a:effectLst>
        </p:spPr>
      </p:sp>
      <p:pic>
        <p:nvPicPr>
          <p:cNvPr id="5" name="Capture téléphone 1" descr="Capture téléphone 1">    </p:cNvPr>
          <p:cNvPicPr>
            <a:picLocks noChangeAspect="1"/>
          </p:cNvPicPr>
          <p:nvPr/>
        </p:nvPicPr>
        <p:blipFill>
          <a:blip r:embed="rId1"/>
          <a:stretch>
            <a:fillRect/>
          </a:stretch>
        </p:blipFill>
        <p:spPr>
          <a:xfrm>
            <a:off x="619549" y="1280160"/>
            <a:ext cx="2007021" cy="4343400"/>
          </a:xfrm>
          <a:prstGeom prst="rect">
            <a:avLst/>
          </a:prstGeom>
        </p:spPr>
      </p:pic>
      <p:sp>
        <p:nvSpPr>
          <p:cNvPr id="6" name="Légende"/>
          <p:cNvSpPr txBox="1"/>
          <p:nvPr/>
        </p:nvSpPr>
        <p:spPr>
          <a:xfrm>
            <a:off x="548640" y="5696712"/>
            <a:ext cx="2148840" cy="292608"/>
          </a:xfrm>
          <a:prstGeom prst="rect">
            <a:avLst/>
          </a:prstGeom>
          <a:noFill/>
          <a:ln/>
        </p:spPr>
        <p:txBody>
          <a:bodyPr wrap="square" lIns="0" tIns="0" rIns="0" bIns="0" rtlCol="0" anchor="ctr"/>
          <a:lstStyle/>
          <a:p>
            <a:pPr indent="0" marL="0">
              <a:buNone/>
            </a:pPr>
            <a:r>
              <a:rPr lang="en-US" sz="1100" i="1" dirty="0">
                <a:solidFill>
                  <a:schemeClr val="accent5"/>
                </a:solidFill>
              </a:rPr>
              <a:t>Bulletin : indicateurs empilés</a:t>
            </a:r>
            <a:endParaRPr lang="en-US" sz="1100" dirty="0"/>
          </a:p>
        </p:txBody>
      </p:sp>
      <p:sp>
        <p:nvSpPr>
          <p:cNvPr id="7" name="Capture téléphone 2 (cadre)"/>
          <p:cNvSpPr/>
          <p:nvPr/>
        </p:nvSpPr>
        <p:spPr>
          <a:xfrm>
            <a:off x="2951269" y="1280160"/>
            <a:ext cx="2007021" cy="4343400"/>
          </a:xfrm>
          <a:prstGeom prst="rect">
            <a:avLst/>
          </a:prstGeom>
          <a:solidFill>
            <a:schemeClr val="bg1"/>
          </a:solidFill>
          <a:ln w="12700">
            <a:solidFill>
              <a:schemeClr val="accent6"/>
            </a:solidFill>
            <a:prstDash val="solid"/>
          </a:ln>
          <a:effectLst>
            <a:outerShdw sx="100000" sy="100000" kx="0" ky="0" algn="bl" rotWithShape="0" blurRad="101600" dist="25400" dir="5400000">
              <a:srgbClr val="0F172A">
                <a:alpha val="18000"/>
              </a:srgbClr>
            </a:outerShdw>
          </a:effectLst>
        </p:spPr>
      </p:sp>
      <p:pic>
        <p:nvPicPr>
          <p:cNvPr id="8" name="Capture téléphone 2" descr="Capture téléphone 2">    </p:cNvPr>
          <p:cNvPicPr>
            <a:picLocks noChangeAspect="1"/>
          </p:cNvPicPr>
          <p:nvPr/>
        </p:nvPicPr>
        <p:blipFill>
          <a:blip r:embed="rId2"/>
          <a:stretch>
            <a:fillRect/>
          </a:stretch>
        </p:blipFill>
        <p:spPr>
          <a:xfrm>
            <a:off x="2951269" y="1280160"/>
            <a:ext cx="2007021" cy="4343400"/>
          </a:xfrm>
          <a:prstGeom prst="rect">
            <a:avLst/>
          </a:prstGeom>
        </p:spPr>
      </p:pic>
      <p:sp>
        <p:nvSpPr>
          <p:cNvPr id="9" name="Légende"/>
          <p:cNvSpPr txBox="1"/>
          <p:nvPr/>
        </p:nvSpPr>
        <p:spPr>
          <a:xfrm>
            <a:off x="2880360" y="5696712"/>
            <a:ext cx="2148840" cy="292608"/>
          </a:xfrm>
          <a:prstGeom prst="rect">
            <a:avLst/>
          </a:prstGeom>
          <a:noFill/>
          <a:ln/>
        </p:spPr>
        <p:txBody>
          <a:bodyPr wrap="square" lIns="0" tIns="0" rIns="0" bIns="0" rtlCol="0" anchor="ctr"/>
          <a:lstStyle/>
          <a:p>
            <a:pPr indent="0" marL="0">
              <a:buNone/>
            </a:pPr>
            <a:r>
              <a:rPr lang="en-US" sz="1100" i="1" dirty="0">
                <a:solidFill>
                  <a:schemeClr val="accent5"/>
                </a:solidFill>
              </a:rPr>
              <a:t>Notes : une ligne par matière</a:t>
            </a:r>
            <a:endParaRPr lang="en-US" sz="1100" dirty="0"/>
          </a:p>
        </p:txBody>
      </p:sp>
      <p:sp>
        <p:nvSpPr>
          <p:cNvPr id="10" name="Capture téléphone 3 (cadre)"/>
          <p:cNvSpPr/>
          <p:nvPr/>
        </p:nvSpPr>
        <p:spPr>
          <a:xfrm>
            <a:off x="5282989" y="1280160"/>
            <a:ext cx="2007021" cy="4343400"/>
          </a:xfrm>
          <a:prstGeom prst="rect">
            <a:avLst/>
          </a:prstGeom>
          <a:solidFill>
            <a:schemeClr val="bg1"/>
          </a:solidFill>
          <a:ln w="12700">
            <a:solidFill>
              <a:schemeClr val="accent6"/>
            </a:solidFill>
            <a:prstDash val="solid"/>
          </a:ln>
          <a:effectLst>
            <a:outerShdw sx="100000" sy="100000" kx="0" ky="0" algn="bl" rotWithShape="0" blurRad="101600" dist="25400" dir="5400000">
              <a:srgbClr val="0F172A">
                <a:alpha val="18000"/>
              </a:srgbClr>
            </a:outerShdw>
          </a:effectLst>
        </p:spPr>
      </p:sp>
      <p:pic>
        <p:nvPicPr>
          <p:cNvPr id="11" name="Capture téléphone 3" descr="Capture téléphone 3">    </p:cNvPr>
          <p:cNvPicPr>
            <a:picLocks noChangeAspect="1"/>
          </p:cNvPicPr>
          <p:nvPr/>
        </p:nvPicPr>
        <p:blipFill>
          <a:blip r:embed="rId3"/>
          <a:stretch>
            <a:fillRect/>
          </a:stretch>
        </p:blipFill>
        <p:spPr>
          <a:xfrm>
            <a:off x="5282989" y="1280160"/>
            <a:ext cx="2007021" cy="4343400"/>
          </a:xfrm>
          <a:prstGeom prst="rect">
            <a:avLst/>
          </a:prstGeom>
        </p:spPr>
      </p:pic>
      <p:sp>
        <p:nvSpPr>
          <p:cNvPr id="12" name="Légende"/>
          <p:cNvSpPr txBox="1"/>
          <p:nvPr/>
        </p:nvSpPr>
        <p:spPr>
          <a:xfrm>
            <a:off x="5212080" y="5696712"/>
            <a:ext cx="2148840" cy="292608"/>
          </a:xfrm>
          <a:prstGeom prst="rect">
            <a:avLst/>
          </a:prstGeom>
          <a:noFill/>
          <a:ln/>
        </p:spPr>
        <p:txBody>
          <a:bodyPr wrap="square" lIns="0" tIns="0" rIns="0" bIns="0" rtlCol="0" anchor="ctr"/>
          <a:lstStyle/>
          <a:p>
            <a:pPr indent="0" marL="0">
              <a:buNone/>
            </a:pPr>
            <a:r>
              <a:rPr lang="en-US" sz="1100" i="1" dirty="0">
                <a:solidFill>
                  <a:schemeClr val="accent5"/>
                </a:solidFill>
              </a:rPr>
              <a:t>Saisie : barre de moyenne fixe</a:t>
            </a:r>
            <a:endParaRPr lang="en-US" sz="1100" dirty="0"/>
          </a:p>
        </p:txBody>
      </p:sp>
      <p:sp>
        <p:nvSpPr>
          <p:cNvPr id="13" name="Capture ordinateur : bulletin (cadre)"/>
          <p:cNvSpPr/>
          <p:nvPr/>
        </p:nvSpPr>
        <p:spPr>
          <a:xfrm>
            <a:off x="7680960" y="1377315"/>
            <a:ext cx="3931920" cy="2457450"/>
          </a:xfrm>
          <a:prstGeom prst="rect">
            <a:avLst/>
          </a:prstGeom>
          <a:solidFill>
            <a:schemeClr val="bg1"/>
          </a:solidFill>
          <a:ln w="12700">
            <a:solidFill>
              <a:schemeClr val="accent6"/>
            </a:solidFill>
            <a:prstDash val="solid"/>
          </a:ln>
          <a:effectLst>
            <a:outerShdw sx="100000" sy="100000" kx="0" ky="0" algn="bl" rotWithShape="0" blurRad="101600" dist="25400" dir="5400000">
              <a:srgbClr val="0F172A">
                <a:alpha val="18000"/>
              </a:srgbClr>
            </a:outerShdw>
          </a:effectLst>
        </p:spPr>
      </p:sp>
      <p:pic>
        <p:nvPicPr>
          <p:cNvPr id="14" name="Capture ordinateur : bulletin" descr="Capture ordinateur : bulletin">    </p:cNvPr>
          <p:cNvPicPr>
            <a:picLocks noChangeAspect="1"/>
          </p:cNvPicPr>
          <p:nvPr/>
        </p:nvPicPr>
        <p:blipFill>
          <a:blip r:embed="rId4"/>
          <a:stretch>
            <a:fillRect/>
          </a:stretch>
        </p:blipFill>
        <p:spPr>
          <a:xfrm>
            <a:off x="7680960" y="1377315"/>
            <a:ext cx="3931920" cy="2457450"/>
          </a:xfrm>
          <a:prstGeom prst="rect">
            <a:avLst/>
          </a:prstGeom>
        </p:spPr>
      </p:pic>
      <p:sp>
        <p:nvSpPr>
          <p:cNvPr id="15" name="Légende"/>
          <p:cNvSpPr txBox="1"/>
          <p:nvPr/>
        </p:nvSpPr>
        <p:spPr>
          <a:xfrm>
            <a:off x="7680960" y="3907917"/>
            <a:ext cx="3931920" cy="292608"/>
          </a:xfrm>
          <a:prstGeom prst="rect">
            <a:avLst/>
          </a:prstGeom>
          <a:noFill/>
          <a:ln/>
        </p:spPr>
        <p:txBody>
          <a:bodyPr wrap="square" lIns="0" tIns="0" rIns="0" bIns="0" rtlCol="0" anchor="ctr"/>
          <a:lstStyle/>
          <a:p>
            <a:pPr indent="0" marL="0">
              <a:buNone/>
            </a:pPr>
            <a:r>
              <a:rPr lang="en-US" sz="1100" i="1" dirty="0">
                <a:solidFill>
                  <a:schemeClr val="accent5"/>
                </a:solidFill>
              </a:rPr>
              <a:t>Même bulletin sur ordinateur (1440 px).</a:t>
            </a:r>
            <a:endParaRPr lang="en-US" sz="1100" dirty="0"/>
          </a:p>
        </p:txBody>
      </p:sp>
      <p:sp>
        <p:nvSpPr>
          <p:cNvPr id="16" name="Points de rupture"/>
          <p:cNvSpPr/>
          <p:nvPr/>
        </p:nvSpPr>
        <p:spPr>
          <a:xfrm>
            <a:off x="7680960" y="4434840"/>
            <a:ext cx="3931920" cy="1645920"/>
          </a:xfrm>
          <a:prstGeom prst="roundRect">
            <a:avLst>
              <a:gd name="adj" fmla="val 5556"/>
            </a:avLst>
          </a:prstGeom>
          <a:solidFill>
            <a:srgbClr val="E8EEFD"/>
          </a:solidFill>
          <a:ln w="12700">
            <a:solidFill>
              <a:srgbClr val="E8EEFD"/>
            </a:solidFill>
            <a:prstDash val="solid"/>
          </a:ln>
        </p:spPr>
      </p:sp>
      <p:sp>
        <p:nvSpPr>
          <p:cNvPr id="17" name="Text 10"/>
          <p:cNvSpPr txBox="1"/>
          <p:nvPr/>
        </p:nvSpPr>
        <p:spPr>
          <a:xfrm>
            <a:off x="7863840" y="4526280"/>
            <a:ext cx="3566160" cy="1463040"/>
          </a:xfrm>
          <a:prstGeom prst="rect">
            <a:avLst/>
          </a:prstGeom>
          <a:noFill/>
          <a:ln/>
        </p:spPr>
        <p:txBody>
          <a:bodyPr wrap="square" lIns="0" tIns="0" rIns="0" bIns="0" rtlCol="0" anchor="ctr"/>
          <a:lstStyle/>
          <a:p>
            <a:pPr indent="0" marL="0">
              <a:buNone/>
            </a:pPr>
            <a:r>
              <a:rPr lang="en-US" sz="1300" b="1" dirty="0">
                <a:solidFill>
                  <a:schemeClr val="accent1"/>
                </a:solidFill>
              </a:rPr>
              <a:t>Mobile d'abord</a:t>
            </a:r>
            <a:endParaRPr lang="en-US" sz="1300" dirty="0"/>
          </a:p>
          <a:p>
            <a:pPr indent="0" marL="0">
              <a:buNone/>
            </a:pPr>
            <a:r>
              <a:rPr lang="en-US" sz="1300" dirty="0">
                <a:solidFill>
                  <a:schemeClr val="tx1"/>
                </a:solidFill>
              </a:rPr>
              <a:t>&lt; 600 px : téléphone (base du CSS)</a:t>
            </a:r>
            <a:endParaRPr lang="en-US" sz="1300" dirty="0"/>
          </a:p>
          <a:p>
            <a:pPr indent="0" marL="0">
              <a:buNone/>
            </a:pPr>
            <a:r>
              <a:rPr lang="en-US" sz="1300" dirty="0">
                <a:solidFill>
                  <a:schemeClr val="tx1"/>
                </a:solidFill>
              </a:rPr>
              <a:t>≥ 600 px : tablette</a:t>
            </a:r>
            <a:endParaRPr lang="en-US" sz="1300" dirty="0"/>
          </a:p>
          <a:p>
            <a:pPr indent="0" marL="0">
              <a:buNone/>
            </a:pPr>
            <a:r>
              <a:rPr lang="en-US" sz="1300" dirty="0">
                <a:solidFill>
                  <a:schemeClr val="tx1"/>
                </a:solidFill>
              </a:rPr>
              <a:t>≥ 1024 px : ordinateur, menu latéral fixe</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indent="0" marL="0">
              <a:buNone/>
            </a:pPr>
            <a:r>
              <a:rPr lang="en-US" sz="3000" b="1" dirty="0">
                <a:solidFill>
                  <a:schemeClr val="tx1"/>
                </a:solidFill>
              </a:rPr>
              <a:t>JavaScript et API JSON</a:t>
            </a:r>
            <a:endParaRPr lang="en-US" sz="3000" dirty="0"/>
          </a:p>
        </p:txBody>
      </p:sp>
      <p:sp>
        <p:nvSpPr>
          <p:cNvPr id="4" name="Capture : vérification du formulaire (cadre)"/>
          <p:cNvSpPr/>
          <p:nvPr/>
        </p:nvSpPr>
        <p:spPr>
          <a:xfrm>
            <a:off x="548640" y="1615147"/>
            <a:ext cx="3017520" cy="3810586"/>
          </a:xfrm>
          <a:prstGeom prst="rect">
            <a:avLst/>
          </a:prstGeom>
          <a:solidFill>
            <a:schemeClr val="bg1"/>
          </a:solidFill>
          <a:ln w="12700">
            <a:solidFill>
              <a:schemeClr val="accent6"/>
            </a:solidFill>
            <a:prstDash val="solid"/>
          </a:ln>
          <a:effectLst>
            <a:outerShdw sx="100000" sy="100000" kx="0" ky="0" algn="bl" rotWithShape="0" blurRad="101600" dist="25400" dir="5400000">
              <a:srgbClr val="0F172A">
                <a:alpha val="18000"/>
              </a:srgbClr>
            </a:outerShdw>
          </a:effectLst>
        </p:spPr>
      </p:sp>
      <p:pic>
        <p:nvPicPr>
          <p:cNvPr id="5" name="Capture : vérification du formulaire" descr="Capture : vérification du formulaire">    </p:cNvPr>
          <p:cNvPicPr>
            <a:picLocks noChangeAspect="1"/>
          </p:cNvPicPr>
          <p:nvPr/>
        </p:nvPicPr>
        <p:blipFill>
          <a:blip r:embed="rId1"/>
          <a:stretch>
            <a:fillRect/>
          </a:stretch>
        </p:blipFill>
        <p:spPr>
          <a:xfrm>
            <a:off x="548640" y="1615147"/>
            <a:ext cx="3017520" cy="3810586"/>
          </a:xfrm>
          <a:prstGeom prst="rect">
            <a:avLst/>
          </a:prstGeom>
        </p:spPr>
      </p:pic>
      <p:sp>
        <p:nvSpPr>
          <p:cNvPr id="6" name="Légende"/>
          <p:cNvSpPr txBox="1"/>
          <p:nvPr/>
        </p:nvSpPr>
        <p:spPr>
          <a:xfrm>
            <a:off x="548640" y="5498885"/>
            <a:ext cx="3017520" cy="292608"/>
          </a:xfrm>
          <a:prstGeom prst="rect">
            <a:avLst/>
          </a:prstGeom>
          <a:noFill/>
          <a:ln/>
        </p:spPr>
        <p:txBody>
          <a:bodyPr wrap="square" lIns="0" tIns="0" rIns="0" bIns="0" rtlCol="0" anchor="ctr"/>
          <a:lstStyle/>
          <a:p>
            <a:pPr indent="0" marL="0">
              <a:buNone/>
            </a:pPr>
            <a:r>
              <a:rPr lang="en-US" sz="1100" i="1" dirty="0">
                <a:solidFill>
                  <a:schemeClr val="accent5"/>
                </a:solidFill>
              </a:rPr>
              <a:t>Matricule refusé avant l'envoi.</a:t>
            </a:r>
            <a:endParaRPr lang="en-US" sz="1100" dirty="0"/>
          </a:p>
        </p:txBody>
      </p:sp>
      <p:sp>
        <p:nvSpPr>
          <p:cNvPr id="7" name="Fond du code"/>
          <p:cNvSpPr/>
          <p:nvPr/>
        </p:nvSpPr>
        <p:spPr>
          <a:xfrm>
            <a:off x="3840480" y="1280160"/>
            <a:ext cx="4206240" cy="4206240"/>
          </a:xfrm>
          <a:prstGeom prst="roundRect">
            <a:avLst>
              <a:gd name="adj" fmla="val 1739"/>
            </a:avLst>
          </a:prstGeom>
          <a:solidFill>
            <a:schemeClr val="tx1"/>
          </a:solidFill>
          <a:ln w="12700">
            <a:solidFill>
              <a:schemeClr val="tx1"/>
            </a:solidFill>
            <a:prstDash val="solid"/>
          </a:ln>
        </p:spPr>
      </p:sp>
      <p:sp>
        <p:nvSpPr>
          <p:cNvPr id="8" name="Extrait de code"/>
          <p:cNvSpPr txBox="1"/>
          <p:nvPr/>
        </p:nvSpPr>
        <p:spPr>
          <a:xfrm>
            <a:off x="4023360" y="1417320"/>
            <a:ext cx="3840480" cy="3931920"/>
          </a:xfrm>
          <a:prstGeom prst="rect">
            <a:avLst/>
          </a:prstGeom>
          <a:noFill/>
          <a:ln/>
        </p:spPr>
        <p:txBody>
          <a:bodyPr wrap="square" lIns="0" tIns="0" rIns="0" bIns="0" rtlCol="0" anchor="t"/>
          <a:lstStyle/>
          <a:p>
            <a:pPr indent="0" marL="0">
              <a:buNone/>
            </a:pPr>
            <a:r>
              <a:rPr lang="en-US" sz="1100" dirty="0">
                <a:solidFill>
                  <a:srgbClr val="E2E8F0"/>
                </a:solidFill>
                <a:latin typeface="Courier New" pitchFamily="34" charset="0"/>
                <a:ea typeface="Courier New" pitchFamily="34" charset="-122"/>
                <a:cs typeface="Courier New" pitchFamily="34" charset="-120"/>
              </a:rPr>
              <a:t>fetch(canevas.dataset.source, {</a:t>
            </a:r>
            <a:endParaRPr lang="en-US" sz="1100" dirty="0"/>
          </a:p>
          <a:p>
            <a:pPr indent="0" marL="0">
              <a:buNone/>
            </a:pPr>
            <a:r>
              <a:rPr lang="en-US" sz="1100" dirty="0">
                <a:solidFill>
                  <a:srgbClr val="E2E8F0"/>
                </a:solidFill>
                <a:latin typeface="Courier New" pitchFamily="34" charset="0"/>
                <a:ea typeface="Courier New" pitchFamily="34" charset="-122"/>
                <a:cs typeface="Courier New" pitchFamily="34" charset="-120"/>
              </a:rPr>
              <a:t>  headers: {</a:t>
            </a:r>
            <a:endParaRPr lang="en-US" sz="1100" dirty="0"/>
          </a:p>
          <a:p>
            <a:pPr indent="0" marL="0">
              <a:buNone/>
            </a:pPr>
            <a:r>
              <a:rPr lang="en-US" sz="1100" dirty="0">
                <a:solidFill>
                  <a:srgbClr val="E2E8F0"/>
                </a:solidFill>
                <a:latin typeface="Courier New" pitchFamily="34" charset="0"/>
                <a:ea typeface="Courier New" pitchFamily="34" charset="-122"/>
                <a:cs typeface="Courier New" pitchFamily="34" charset="-120"/>
              </a:rPr>
              <a:t>    "Accept": "application/json" } })</a:t>
            </a:r>
            <a:endParaRPr lang="en-US" sz="1100" dirty="0"/>
          </a:p>
          <a:p>
            <a:pPr indent="0" marL="0">
              <a:buNone/>
            </a:pPr>
            <a:r>
              <a:rPr lang="en-US" sz="1100" dirty="0">
                <a:solidFill>
                  <a:srgbClr val="E2E8F0"/>
                </a:solidFill>
                <a:latin typeface="Courier New" pitchFamily="34" charset="0"/>
                <a:ea typeface="Courier New" pitchFamily="34" charset="-122"/>
                <a:cs typeface="Courier New" pitchFamily="34" charset="-120"/>
              </a:rPr>
              <a:t>.then(function (reponse) {</a:t>
            </a:r>
            <a:endParaRPr lang="en-US" sz="1100" dirty="0"/>
          </a:p>
          <a:p>
            <a:pPr indent="0" marL="0">
              <a:buNone/>
            </a:pPr>
            <a:r>
              <a:rPr lang="en-US" sz="1100" dirty="0">
                <a:solidFill>
                  <a:srgbClr val="E2E8F0"/>
                </a:solidFill>
                <a:latin typeface="Courier New" pitchFamily="34" charset="0"/>
                <a:ea typeface="Courier New" pitchFamily="34" charset="-122"/>
                <a:cs typeface="Courier New" pitchFamily="34" charset="-120"/>
              </a:rPr>
              <a:t>  if (!reponse.ok) {</a:t>
            </a:r>
            <a:endParaRPr lang="en-US" sz="1100" dirty="0"/>
          </a:p>
          <a:p>
            <a:pPr indent="0" marL="0">
              <a:buNone/>
            </a:pPr>
            <a:r>
              <a:rPr lang="en-US" sz="1100" dirty="0">
                <a:solidFill>
                  <a:srgbClr val="E2E8F0"/>
                </a:solidFill>
                <a:latin typeface="Courier New" pitchFamily="34" charset="0"/>
                <a:ea typeface="Courier New" pitchFamily="34" charset="-122"/>
                <a:cs typeface="Courier New" pitchFamily="34" charset="-120"/>
              </a:rPr>
              <a:t>    throw new Error("Erreur "</a:t>
            </a:r>
            <a:endParaRPr lang="en-US" sz="1100" dirty="0"/>
          </a:p>
          <a:p>
            <a:pPr indent="0" marL="0">
              <a:buNone/>
            </a:pPr>
            <a:r>
              <a:rPr lang="en-US" sz="1100" dirty="0">
                <a:solidFill>
                  <a:srgbClr val="E2E8F0"/>
                </a:solidFill>
                <a:latin typeface="Courier New" pitchFamily="34" charset="0"/>
                <a:ea typeface="Courier New" pitchFamily="34" charset="-122"/>
                <a:cs typeface="Courier New" pitchFamily="34" charset="-120"/>
              </a:rPr>
              <a:t>      + reponse.status);</a:t>
            </a:r>
            <a:endParaRPr lang="en-US" sz="1100" dirty="0"/>
          </a:p>
          <a:p>
            <a:pPr indent="0" marL="0">
              <a:buNone/>
            </a:pPr>
            <a:r>
              <a:rPr lang="en-US" sz="1100" dirty="0">
                <a:solidFill>
                  <a:srgbClr val="E2E8F0"/>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E2E8F0"/>
                </a:solidFill>
                <a:latin typeface="Courier New" pitchFamily="34" charset="0"/>
                <a:ea typeface="Courier New" pitchFamily="34" charset="-122"/>
                <a:cs typeface="Courier New" pitchFamily="34" charset="-120"/>
              </a:rPr>
              <a:t>  return reponse.json();</a:t>
            </a:r>
            <a:endParaRPr lang="en-US" sz="1100" dirty="0"/>
          </a:p>
          <a:p>
            <a:pPr indent="0" marL="0">
              <a:buNone/>
            </a:pPr>
            <a:r>
              <a:rPr lang="en-US" sz="1100" dirty="0">
                <a:solidFill>
                  <a:srgbClr val="E2E8F0"/>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E2E8F0"/>
                </a:solidFill>
                <a:latin typeface="Courier New" pitchFamily="34" charset="0"/>
                <a:ea typeface="Courier New" pitchFamily="34" charset="-122"/>
                <a:cs typeface="Courier New" pitchFamily="34" charset="-120"/>
              </a:rPr>
              <a:t>.then(function (donnees) {</a:t>
            </a:r>
            <a:endParaRPr lang="en-US" sz="1100" dirty="0"/>
          </a:p>
          <a:p>
            <a:pPr indent="0" marL="0">
              <a:buNone/>
            </a:pPr>
            <a:r>
              <a:rPr lang="en-US" sz="1100" dirty="0">
                <a:solidFill>
                  <a:srgbClr val="E2E8F0"/>
                </a:solidFill>
                <a:latin typeface="Courier New" pitchFamily="34" charset="0"/>
                <a:ea typeface="Courier New" pitchFamily="34" charset="-122"/>
                <a:cs typeface="Courier New" pitchFamily="34" charset="-120"/>
              </a:rPr>
              <a:t>  dessinerEvolution(canevas, donnees);</a:t>
            </a:r>
            <a:endParaRPr lang="en-US" sz="1100" dirty="0"/>
          </a:p>
          <a:p>
            <a:pPr indent="0" marL="0">
              <a:buNone/>
            </a:pPr>
            <a:r>
              <a:rPr lang="en-US" sz="1100" dirty="0">
                <a:solidFill>
                  <a:srgbClr val="E2E8F0"/>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E2E8F0"/>
                </a:solidFill>
                <a:latin typeface="Courier New" pitchFamily="34" charset="0"/>
                <a:ea typeface="Courier New" pitchFamily="34" charset="-122"/>
                <a:cs typeface="Courier New" pitchFamily="34" charset="-120"/>
              </a:rPr>
              <a:t>.catch(function () {</a:t>
            </a:r>
            <a:endParaRPr lang="en-US" sz="1100" dirty="0"/>
          </a:p>
          <a:p>
            <a:pPr indent="0" marL="0">
              <a:buNone/>
            </a:pPr>
            <a:r>
              <a:rPr lang="en-US" sz="1100" dirty="0">
                <a:solidFill>
                  <a:srgbClr val="E2E8F0"/>
                </a:solidFill>
                <a:latin typeface="Courier New" pitchFamily="34" charset="0"/>
                <a:ea typeface="Courier New" pitchFamily="34" charset="-122"/>
                <a:cs typeface="Courier New" pitchFamily="34" charset="-120"/>
              </a:rPr>
              <a:t>  message.textContent =</a:t>
            </a:r>
            <a:endParaRPr lang="en-US" sz="1100" dirty="0"/>
          </a:p>
          <a:p>
            <a:pPr indent="0" marL="0">
              <a:buNone/>
            </a:pPr>
            <a:r>
              <a:rPr lang="en-US" sz="1100" dirty="0">
                <a:solidFill>
                  <a:srgbClr val="E2E8F0"/>
                </a:solidFill>
                <a:latin typeface="Courier New" pitchFamily="34" charset="0"/>
                <a:ea typeface="Courier New" pitchFamily="34" charset="-122"/>
                <a:cs typeface="Courier New" pitchFamily="34" charset="-120"/>
              </a:rPr>
              <a:t>    "Graphique non chargé.";</a:t>
            </a:r>
            <a:endParaRPr lang="en-US" sz="1100" dirty="0"/>
          </a:p>
          <a:p>
            <a:pPr indent="0" marL="0">
              <a:buNone/>
            </a:pPr>
            <a:r>
              <a:rPr lang="en-US" sz="1100" dirty="0">
                <a:solidFill>
                  <a:srgbClr val="E2E8F0"/>
                </a:solidFill>
                <a:latin typeface="Courier New" pitchFamily="34" charset="0"/>
                <a:ea typeface="Courier New" pitchFamily="34" charset="-122"/>
                <a:cs typeface="Courier New" pitchFamily="34" charset="-120"/>
              </a:rPr>
              <a:t>});</a:t>
            </a:r>
            <a:endParaRPr lang="en-US" sz="1100" dirty="0"/>
          </a:p>
        </p:txBody>
      </p:sp>
      <p:sp>
        <p:nvSpPr>
          <p:cNvPr id="9" name="Légende"/>
          <p:cNvSpPr txBox="1"/>
          <p:nvPr/>
        </p:nvSpPr>
        <p:spPr>
          <a:xfrm>
            <a:off x="3840480" y="5577840"/>
            <a:ext cx="4206240" cy="292608"/>
          </a:xfrm>
          <a:prstGeom prst="rect">
            <a:avLst/>
          </a:prstGeom>
          <a:noFill/>
          <a:ln/>
        </p:spPr>
        <p:txBody>
          <a:bodyPr wrap="square" lIns="0" tIns="0" rIns="0" bIns="0" rtlCol="0" anchor="ctr"/>
          <a:lstStyle/>
          <a:p>
            <a:pPr indent="0" marL="0">
              <a:buNone/>
            </a:pPr>
            <a:r>
              <a:rPr lang="en-US" sz="1100" i="1" dirty="0">
                <a:solidFill>
                  <a:schemeClr val="accent5"/>
                </a:solidFill>
              </a:rPr>
              <a:t>Extrait de graphique.js : appel fetch de l'API.</a:t>
            </a:r>
            <a:endParaRPr lang="en-US" sz="1100" dirty="0"/>
          </a:p>
        </p:txBody>
      </p:sp>
      <p:sp>
        <p:nvSpPr>
          <p:cNvPr id="10" name="Routes JSON"/>
          <p:cNvSpPr/>
          <p:nvPr/>
        </p:nvSpPr>
        <p:spPr>
          <a:xfrm>
            <a:off x="8321040" y="1280160"/>
            <a:ext cx="3291840" cy="4206240"/>
          </a:xfrm>
          <a:prstGeom prst="roundRect">
            <a:avLst>
              <a:gd name="adj" fmla="val 2778"/>
            </a:avLst>
          </a:prstGeom>
          <a:solidFill>
            <a:schemeClr val="bg2"/>
          </a:solidFill>
          <a:ln w="12700">
            <a:solidFill>
              <a:schemeClr val="bg2"/>
            </a:solidFill>
            <a:prstDash val="solid"/>
          </a:ln>
        </p:spPr>
      </p:sp>
      <p:sp>
        <p:nvSpPr>
          <p:cNvPr id="11" name="Text 7"/>
          <p:cNvSpPr txBox="1"/>
          <p:nvPr/>
        </p:nvSpPr>
        <p:spPr>
          <a:xfrm>
            <a:off x="8549640" y="1417320"/>
            <a:ext cx="2834640" cy="411480"/>
          </a:xfrm>
          <a:prstGeom prst="rect">
            <a:avLst/>
          </a:prstGeom>
          <a:noFill/>
          <a:ln/>
        </p:spPr>
        <p:txBody>
          <a:bodyPr wrap="square" lIns="0" tIns="0" rIns="0" bIns="0" rtlCol="0" anchor="ctr"/>
          <a:lstStyle/>
          <a:p>
            <a:pPr indent="0" marL="0">
              <a:buNone/>
            </a:pPr>
            <a:r>
              <a:rPr lang="en-US" sz="1700" b="1" dirty="0">
                <a:solidFill>
                  <a:schemeClr val="tx1"/>
                </a:solidFill>
              </a:rPr>
              <a:t>3 routes JSON</a:t>
            </a:r>
            <a:endParaRPr lang="en-US" sz="1700" dirty="0"/>
          </a:p>
        </p:txBody>
      </p:sp>
      <p:sp>
        <p:nvSpPr>
          <p:cNvPr id="12" name="Text 8"/>
          <p:cNvSpPr txBox="1"/>
          <p:nvPr/>
        </p:nvSpPr>
        <p:spPr>
          <a:xfrm>
            <a:off x="8549640" y="1920240"/>
            <a:ext cx="2880360" cy="3474720"/>
          </a:xfrm>
          <a:prstGeom prst="rect">
            <a:avLst/>
          </a:prstGeom>
          <a:noFill/>
          <a:ln/>
        </p:spPr>
        <p:txBody>
          <a:bodyPr wrap="square" lIns="0" tIns="0" rIns="0" bIns="0" rtlCol="0" anchor="t"/>
          <a:lstStyle/>
          <a:p>
            <a:pPr indent="0" marL="0">
              <a:buNone/>
            </a:pPr>
            <a:r>
              <a:rPr lang="en-US" sz="1100" b="1" dirty="0">
                <a:solidFill>
                  <a:schemeClr val="accent1"/>
                </a:solidFill>
                <a:latin typeface="Courier New" pitchFamily="34" charset="0"/>
                <a:ea typeface="Courier New" pitchFamily="34" charset="-122"/>
                <a:cs typeface="Courier New" pitchFamily="34" charset="-120"/>
              </a:rPr>
              <a:t>/api/eleves/&lt;id&gt;/evolution</a:t>
            </a:r>
            <a:endParaRPr lang="en-US" sz="1100" dirty="0"/>
          </a:p>
          <a:p>
            <a:pPr indent="0" marL="0">
              <a:buNone/>
            </a:pPr>
            <a:r>
              <a:rPr lang="en-US" sz="1300" dirty="0">
                <a:solidFill>
                  <a:schemeClr val="tx1"/>
                </a:solidFill>
              </a:rPr>
              <a:t>moyennes par séquence (élève lui-même ou enseignant)</a:t>
            </a:r>
            <a:endParaRPr lang="en-US" sz="1100" dirty="0"/>
          </a:p>
          <a:p>
            <a:pPr indent="0" marL="0">
              <a:buNone/>
            </a:pPr>
            <a:r>
              <a:rPr lang="en-US" sz="600" dirty="0">
                <a:solidFill>
                  <a:schemeClr val="tx1"/>
                </a:solidFill>
              </a:rPr>
              <a:t> </a:t>
            </a:r>
            <a:endParaRPr lang="en-US" sz="1100" dirty="0"/>
          </a:p>
          <a:p>
            <a:pPr indent="0" marL="0">
              <a:buNone/>
            </a:pPr>
            <a:r>
              <a:rPr lang="en-US" sz="1100" b="1" dirty="0">
                <a:solidFill>
                  <a:schemeClr val="accent1"/>
                </a:solidFill>
                <a:latin typeface="Courier New" pitchFamily="34" charset="0"/>
                <a:ea typeface="Courier New" pitchFamily="34" charset="-122"/>
                <a:cs typeface="Courier New" pitchFamily="34" charset="-120"/>
              </a:rPr>
              <a:t>/api/classe/&lt;id&gt;/moyennes</a:t>
            </a:r>
            <a:endParaRPr lang="en-US" sz="1100" dirty="0"/>
          </a:p>
          <a:p>
            <a:pPr indent="0" marL="0">
              <a:buNone/>
            </a:pPr>
            <a:r>
              <a:rPr lang="en-US" sz="1300" dirty="0">
                <a:solidFill>
                  <a:schemeClr val="tx1"/>
                </a:solidFill>
              </a:rPr>
              <a:t>moyennes et rangs d'une classe</a:t>
            </a:r>
            <a:endParaRPr lang="en-US" sz="1100" dirty="0"/>
          </a:p>
          <a:p>
            <a:pPr indent="0" marL="0">
              <a:buNone/>
            </a:pPr>
            <a:r>
              <a:rPr lang="en-US" sz="600" dirty="0">
                <a:solidFill>
                  <a:schemeClr val="tx1"/>
                </a:solidFill>
              </a:rPr>
              <a:t> </a:t>
            </a:r>
            <a:endParaRPr lang="en-US" sz="1100" dirty="0"/>
          </a:p>
          <a:p>
            <a:pPr indent="0" marL="0">
              <a:buNone/>
            </a:pPr>
            <a:r>
              <a:rPr lang="en-US" sz="1100" b="1" dirty="0">
                <a:solidFill>
                  <a:schemeClr val="accent1"/>
                </a:solidFill>
                <a:latin typeface="Courier New" pitchFamily="34" charset="0"/>
                <a:ea typeface="Courier New" pitchFamily="34" charset="-122"/>
                <a:cs typeface="Courier New" pitchFamily="34" charset="-120"/>
              </a:rPr>
              <a:t>/api/statistiques</a:t>
            </a:r>
            <a:endParaRPr lang="en-US" sz="1100" dirty="0"/>
          </a:p>
          <a:p>
            <a:pPr indent="0" marL="0">
              <a:buNone/>
            </a:pPr>
            <a:r>
              <a:rPr lang="en-US" sz="1300" dirty="0">
                <a:solidFill>
                  <a:schemeClr val="tx1"/>
                </a:solidFill>
              </a:rPr>
              <a:t>les 4 statistiques d'une séquence</a:t>
            </a:r>
            <a:endParaRPr lang="en-US" sz="1100" dirty="0"/>
          </a:p>
          <a:p>
            <a:pPr indent="0" marL="0">
              <a:buNone/>
            </a:pPr>
            <a:r>
              <a:rPr lang="en-US" sz="600" dirty="0">
                <a:solidFill>
                  <a:schemeClr val="tx1"/>
                </a:solidFill>
              </a:rPr>
              <a:t> </a:t>
            </a:r>
            <a:endParaRPr lang="en-US" sz="1100" dirty="0"/>
          </a:p>
          <a:p>
            <a:pPr indent="0" marL="0">
              <a:buNone/>
            </a:pPr>
            <a:r>
              <a:rPr lang="en-US" sz="1200" dirty="0">
                <a:solidFill>
                  <a:schemeClr val="accent5"/>
                </a:solidFill>
              </a:rPr>
              <a:t>Autres scripts : saisie en direct (saisie.js), recherche instantanée, glisser-déposer de l'import.</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indent="0" marL="0">
              <a:buNone/>
            </a:pPr>
            <a:r>
              <a:rPr lang="en-US" sz="3000" b="1" dirty="0">
                <a:solidFill>
                  <a:schemeClr val="tx1"/>
                </a:solidFill>
              </a:rPr>
              <a:t>Sécurité : le serveur revérifie tout</a:t>
            </a:r>
            <a:endParaRPr lang="en-US" sz="3000" dirty="0"/>
          </a:p>
        </p:txBody>
      </p:sp>
      <p:sp>
        <p:nvSpPr>
          <p:cNvPr id="4" name="Pastille"/>
          <p:cNvSpPr/>
          <p:nvPr/>
        </p:nvSpPr>
        <p:spPr>
          <a:xfrm>
            <a:off x="548640" y="1325880"/>
            <a:ext cx="640080" cy="640080"/>
          </a:xfrm>
          <a:prstGeom prst="ellipse">
            <a:avLst/>
          </a:prstGeom>
          <a:solidFill>
            <a:srgbClr val="E8EEFD"/>
          </a:solidFill>
          <a:ln w="12700">
            <a:solidFill>
              <a:srgbClr val="E8EEFD"/>
            </a:solidFill>
            <a:prstDash val="solid"/>
          </a:ln>
        </p:spPr>
      </p:sp>
      <p:pic>
        <p:nvPicPr>
          <p:cNvPr id="5" name="Icône LuLock" descr="preencoded.png">    </p:cNvPr>
          <p:cNvPicPr>
            <a:picLocks noChangeAspect="1"/>
          </p:cNvPicPr>
          <p:nvPr/>
        </p:nvPicPr>
        <p:blipFill>
          <a:blip r:embed="rId1"/>
          <a:stretch>
            <a:fillRect/>
          </a:stretch>
        </p:blipFill>
        <p:spPr>
          <a:xfrm>
            <a:off x="689458" y="1466698"/>
            <a:ext cx="358445" cy="358445"/>
          </a:xfrm>
          <a:prstGeom prst="rect">
            <a:avLst/>
          </a:prstGeom>
        </p:spPr>
      </p:pic>
      <p:sp>
        <p:nvSpPr>
          <p:cNvPr id="6" name="Text 2"/>
          <p:cNvSpPr txBox="1"/>
          <p:nvPr/>
        </p:nvSpPr>
        <p:spPr>
          <a:xfrm>
            <a:off x="1371600" y="1280160"/>
            <a:ext cx="3931920" cy="731520"/>
          </a:xfrm>
          <a:prstGeom prst="rect">
            <a:avLst/>
          </a:prstGeom>
          <a:noFill/>
          <a:ln/>
        </p:spPr>
        <p:txBody>
          <a:bodyPr wrap="square" lIns="0" tIns="0" rIns="0" bIns="0" rtlCol="0" anchor="ctr"/>
          <a:lstStyle/>
          <a:p>
            <a:pPr indent="0" marL="0">
              <a:buNone/>
            </a:pPr>
            <a:r>
              <a:rPr lang="en-US" sz="1500" b="1" dirty="0">
                <a:solidFill>
                  <a:schemeClr val="tx1"/>
                </a:solidFill>
              </a:rPr>
              <a:t>Mots de passe et codes hachés</a:t>
            </a:r>
            <a:endParaRPr lang="en-US" sz="1500" dirty="0"/>
          </a:p>
          <a:p>
            <a:pPr indent="0" marL="0">
              <a:buNone/>
            </a:pPr>
            <a:r>
              <a:rPr lang="en-US" sz="1300" dirty="0">
                <a:solidFill>
                  <a:schemeClr val="accent5"/>
                </a:solidFill>
              </a:rPr>
              <a:t>generate_password_hash, jamais stockés en clair</a:t>
            </a:r>
            <a:endParaRPr lang="en-US" sz="1500" dirty="0"/>
          </a:p>
        </p:txBody>
      </p:sp>
      <p:sp>
        <p:nvSpPr>
          <p:cNvPr id="7" name="Pastille"/>
          <p:cNvSpPr/>
          <p:nvPr/>
        </p:nvSpPr>
        <p:spPr>
          <a:xfrm>
            <a:off x="548640" y="2267712"/>
            <a:ext cx="640080" cy="640080"/>
          </a:xfrm>
          <a:prstGeom prst="ellipse">
            <a:avLst/>
          </a:prstGeom>
          <a:solidFill>
            <a:srgbClr val="E8EEFD"/>
          </a:solidFill>
          <a:ln w="12700">
            <a:solidFill>
              <a:srgbClr val="E8EEFD"/>
            </a:solidFill>
            <a:prstDash val="solid"/>
          </a:ln>
        </p:spPr>
      </p:sp>
      <p:pic>
        <p:nvPicPr>
          <p:cNvPr id="8" name="Icône LuDatabase" descr="preencoded.png">    </p:cNvPr>
          <p:cNvPicPr>
            <a:picLocks noChangeAspect="1"/>
          </p:cNvPicPr>
          <p:nvPr/>
        </p:nvPicPr>
        <p:blipFill>
          <a:blip r:embed="rId2"/>
          <a:stretch>
            <a:fillRect/>
          </a:stretch>
        </p:blipFill>
        <p:spPr>
          <a:xfrm>
            <a:off x="689458" y="2408530"/>
            <a:ext cx="358445" cy="358445"/>
          </a:xfrm>
          <a:prstGeom prst="rect">
            <a:avLst/>
          </a:prstGeom>
        </p:spPr>
      </p:pic>
      <p:sp>
        <p:nvSpPr>
          <p:cNvPr id="9" name="Text 4"/>
          <p:cNvSpPr txBox="1"/>
          <p:nvPr/>
        </p:nvSpPr>
        <p:spPr>
          <a:xfrm>
            <a:off x="1371600" y="2221992"/>
            <a:ext cx="3931920" cy="731520"/>
          </a:xfrm>
          <a:prstGeom prst="rect">
            <a:avLst/>
          </a:prstGeom>
          <a:noFill/>
          <a:ln/>
        </p:spPr>
        <p:txBody>
          <a:bodyPr wrap="square" lIns="0" tIns="0" rIns="0" bIns="0" rtlCol="0" anchor="ctr"/>
          <a:lstStyle/>
          <a:p>
            <a:pPr indent="0" marL="0">
              <a:buNone/>
            </a:pPr>
            <a:r>
              <a:rPr lang="en-US" sz="1500" b="1" dirty="0">
                <a:solidFill>
                  <a:schemeClr val="tx1"/>
                </a:solidFill>
              </a:rPr>
              <a:t>Requêtes paramétrées</a:t>
            </a:r>
            <a:endParaRPr lang="en-US" sz="1500" dirty="0"/>
          </a:p>
          <a:p>
            <a:pPr indent="0" marL="0">
              <a:buNone/>
            </a:pPr>
            <a:r>
              <a:rPr lang="en-US" sz="1300" dirty="0">
                <a:solidFill>
                  <a:schemeClr val="accent5"/>
                </a:solidFill>
              </a:rPr>
              <a:t>toujours des « ? », jamais de concaténation</a:t>
            </a:r>
            <a:endParaRPr lang="en-US" sz="1500" dirty="0"/>
          </a:p>
        </p:txBody>
      </p:sp>
      <p:sp>
        <p:nvSpPr>
          <p:cNvPr id="10" name="Pastille"/>
          <p:cNvSpPr/>
          <p:nvPr/>
        </p:nvSpPr>
        <p:spPr>
          <a:xfrm>
            <a:off x="548640" y="3209544"/>
            <a:ext cx="640080" cy="640080"/>
          </a:xfrm>
          <a:prstGeom prst="ellipse">
            <a:avLst/>
          </a:prstGeom>
          <a:solidFill>
            <a:srgbClr val="E8EEFD"/>
          </a:solidFill>
          <a:ln w="12700">
            <a:solidFill>
              <a:srgbClr val="E8EEFD"/>
            </a:solidFill>
            <a:prstDash val="solid"/>
          </a:ln>
        </p:spPr>
      </p:sp>
      <p:pic>
        <p:nvPicPr>
          <p:cNvPr id="11" name="Icône LuShieldCheck" descr="preencoded.png">    </p:cNvPr>
          <p:cNvPicPr>
            <a:picLocks noChangeAspect="1"/>
          </p:cNvPicPr>
          <p:nvPr/>
        </p:nvPicPr>
        <p:blipFill>
          <a:blip r:embed="rId3"/>
          <a:stretch>
            <a:fillRect/>
          </a:stretch>
        </p:blipFill>
        <p:spPr>
          <a:xfrm>
            <a:off x="689458" y="3350362"/>
            <a:ext cx="358445" cy="358445"/>
          </a:xfrm>
          <a:prstGeom prst="rect">
            <a:avLst/>
          </a:prstGeom>
        </p:spPr>
      </p:pic>
      <p:sp>
        <p:nvSpPr>
          <p:cNvPr id="12" name="Text 6"/>
          <p:cNvSpPr txBox="1"/>
          <p:nvPr/>
        </p:nvSpPr>
        <p:spPr>
          <a:xfrm>
            <a:off x="1371600" y="3163824"/>
            <a:ext cx="3931920" cy="731520"/>
          </a:xfrm>
          <a:prstGeom prst="rect">
            <a:avLst/>
          </a:prstGeom>
          <a:noFill/>
          <a:ln/>
        </p:spPr>
        <p:txBody>
          <a:bodyPr wrap="square" lIns="0" tIns="0" rIns="0" bIns="0" rtlCol="0" anchor="ctr"/>
          <a:lstStyle/>
          <a:p>
            <a:pPr indent="0" marL="0">
              <a:buNone/>
            </a:pPr>
            <a:r>
              <a:rPr lang="en-US" sz="1500" b="1" dirty="0">
                <a:solidFill>
                  <a:schemeClr val="tx1"/>
                </a:solidFill>
              </a:rPr>
              <a:t>POST + jeton CSRF</a:t>
            </a:r>
            <a:endParaRPr lang="en-US" sz="1500" dirty="0"/>
          </a:p>
          <a:p>
            <a:pPr indent="0" marL="0">
              <a:buNone/>
            </a:pPr>
            <a:r>
              <a:rPr lang="en-US" sz="1300" dirty="0">
                <a:solidFill>
                  <a:schemeClr val="accent5"/>
                </a:solidFill>
              </a:rPr>
              <a:t>suppressions et modifications uniquement en POST</a:t>
            </a:r>
            <a:endParaRPr lang="en-US" sz="1500" dirty="0"/>
          </a:p>
        </p:txBody>
      </p:sp>
      <p:sp>
        <p:nvSpPr>
          <p:cNvPr id="13" name="Pastille"/>
          <p:cNvSpPr/>
          <p:nvPr/>
        </p:nvSpPr>
        <p:spPr>
          <a:xfrm>
            <a:off x="548640" y="4151376"/>
            <a:ext cx="640080" cy="640080"/>
          </a:xfrm>
          <a:prstGeom prst="ellipse">
            <a:avLst/>
          </a:prstGeom>
          <a:solidFill>
            <a:srgbClr val="E8EEFD"/>
          </a:solidFill>
          <a:ln w="12700">
            <a:solidFill>
              <a:srgbClr val="E8EEFD"/>
            </a:solidFill>
            <a:prstDash val="solid"/>
          </a:ln>
        </p:spPr>
      </p:sp>
      <p:pic>
        <p:nvPicPr>
          <p:cNvPr id="14" name="Icône LuKeyRound" descr="preencoded.png">    </p:cNvPr>
          <p:cNvPicPr>
            <a:picLocks noChangeAspect="1"/>
          </p:cNvPicPr>
          <p:nvPr/>
        </p:nvPicPr>
        <p:blipFill>
          <a:blip r:embed="rId4"/>
          <a:stretch>
            <a:fillRect/>
          </a:stretch>
        </p:blipFill>
        <p:spPr>
          <a:xfrm>
            <a:off x="689458" y="4292194"/>
            <a:ext cx="358445" cy="358445"/>
          </a:xfrm>
          <a:prstGeom prst="rect">
            <a:avLst/>
          </a:prstGeom>
        </p:spPr>
      </p:pic>
      <p:sp>
        <p:nvSpPr>
          <p:cNvPr id="15" name="Text 8"/>
          <p:cNvSpPr txBox="1"/>
          <p:nvPr/>
        </p:nvSpPr>
        <p:spPr>
          <a:xfrm>
            <a:off x="1371600" y="4105656"/>
            <a:ext cx="3931920" cy="731520"/>
          </a:xfrm>
          <a:prstGeom prst="rect">
            <a:avLst/>
          </a:prstGeom>
          <a:noFill/>
          <a:ln/>
        </p:spPr>
        <p:txBody>
          <a:bodyPr wrap="square" lIns="0" tIns="0" rIns="0" bIns="0" rtlCol="0" anchor="ctr"/>
          <a:lstStyle/>
          <a:p>
            <a:pPr indent="0" marL="0">
              <a:buNone/>
            </a:pPr>
            <a:r>
              <a:rPr lang="en-US" sz="1500" b="1" dirty="0">
                <a:solidFill>
                  <a:schemeClr val="tx1"/>
                </a:solidFill>
              </a:rPr>
              <a:t>Droits par rôle</a:t>
            </a:r>
            <a:endParaRPr lang="en-US" sz="1500" dirty="0"/>
          </a:p>
          <a:p>
            <a:pPr indent="0" marL="0">
              <a:buNone/>
            </a:pPr>
            <a:r>
              <a:rPr lang="en-US" sz="1300" dirty="0">
                <a:solidFill>
                  <a:schemeClr val="accent5"/>
                </a:solidFill>
              </a:rPr>
              <a:t>élève, enseignant, administrateur ; 403 sinon</a:t>
            </a:r>
            <a:endParaRPr lang="en-US" sz="1500" dirty="0"/>
          </a:p>
        </p:txBody>
      </p:sp>
      <p:sp>
        <p:nvSpPr>
          <p:cNvPr id="16" name="Pastille"/>
          <p:cNvSpPr/>
          <p:nvPr/>
        </p:nvSpPr>
        <p:spPr>
          <a:xfrm>
            <a:off x="548640" y="5093208"/>
            <a:ext cx="640080" cy="640080"/>
          </a:xfrm>
          <a:prstGeom prst="ellipse">
            <a:avLst/>
          </a:prstGeom>
          <a:solidFill>
            <a:srgbClr val="E8EEFD"/>
          </a:solidFill>
          <a:ln w="12700">
            <a:solidFill>
              <a:srgbClr val="E8EEFD"/>
            </a:solidFill>
            <a:prstDash val="solid"/>
          </a:ln>
        </p:spPr>
      </p:sp>
      <p:pic>
        <p:nvPicPr>
          <p:cNvPr id="17" name="Icône LuTriangleAlert" descr="preencoded.png">    </p:cNvPr>
          <p:cNvPicPr>
            <a:picLocks noChangeAspect="1"/>
          </p:cNvPicPr>
          <p:nvPr/>
        </p:nvPicPr>
        <p:blipFill>
          <a:blip r:embed="rId5"/>
          <a:stretch>
            <a:fillRect/>
          </a:stretch>
        </p:blipFill>
        <p:spPr>
          <a:xfrm>
            <a:off x="689458" y="5234026"/>
            <a:ext cx="358445" cy="358445"/>
          </a:xfrm>
          <a:prstGeom prst="rect">
            <a:avLst/>
          </a:prstGeom>
        </p:spPr>
      </p:pic>
      <p:sp>
        <p:nvSpPr>
          <p:cNvPr id="18" name="Text 10"/>
          <p:cNvSpPr txBox="1"/>
          <p:nvPr/>
        </p:nvSpPr>
        <p:spPr>
          <a:xfrm>
            <a:off x="1371600" y="5047488"/>
            <a:ext cx="3931920" cy="731520"/>
          </a:xfrm>
          <a:prstGeom prst="rect">
            <a:avLst/>
          </a:prstGeom>
          <a:noFill/>
          <a:ln/>
        </p:spPr>
        <p:txBody>
          <a:bodyPr wrap="square" lIns="0" tIns="0" rIns="0" bIns="0" rtlCol="0" anchor="ctr"/>
          <a:lstStyle/>
          <a:p>
            <a:pPr indent="0" marL="0">
              <a:buNone/>
            </a:pPr>
            <a:r>
              <a:rPr lang="en-US" sz="1500" b="1" dirty="0">
                <a:solidFill>
                  <a:schemeClr val="tx1"/>
                </a:solidFill>
              </a:rPr>
              <a:t>Essais limités</a:t>
            </a:r>
            <a:endParaRPr lang="en-US" sz="1500" dirty="0"/>
          </a:p>
          <a:p>
            <a:pPr indent="0" marL="0">
              <a:buNone/>
            </a:pPr>
            <a:r>
              <a:rPr lang="en-US" sz="1300" dirty="0">
                <a:solidFill>
                  <a:schemeClr val="accent5"/>
                </a:solidFill>
              </a:rPr>
              <a:t>5 échecs de connexion : blocage 5 minutes</a:t>
            </a:r>
            <a:endParaRPr lang="en-US" sz="1500" dirty="0"/>
          </a:p>
        </p:txBody>
      </p:sp>
      <p:sp>
        <p:nvSpPr>
          <p:cNvPr id="19" name="Capture : saisie refusée par le serveur (cadre)"/>
          <p:cNvSpPr/>
          <p:nvPr/>
        </p:nvSpPr>
        <p:spPr>
          <a:xfrm>
            <a:off x="5577840" y="2255520"/>
            <a:ext cx="6035040" cy="2346960"/>
          </a:xfrm>
          <a:prstGeom prst="rect">
            <a:avLst/>
          </a:prstGeom>
          <a:solidFill>
            <a:schemeClr val="bg1"/>
          </a:solidFill>
          <a:ln w="12700">
            <a:solidFill>
              <a:schemeClr val="accent6"/>
            </a:solidFill>
            <a:prstDash val="solid"/>
          </a:ln>
          <a:effectLst>
            <a:outerShdw sx="100000" sy="100000" kx="0" ky="0" algn="bl" rotWithShape="0" blurRad="101600" dist="25400" dir="5400000">
              <a:srgbClr val="0F172A">
                <a:alpha val="18000"/>
              </a:srgbClr>
            </a:outerShdw>
          </a:effectLst>
        </p:spPr>
      </p:sp>
      <p:pic>
        <p:nvPicPr>
          <p:cNvPr id="20" name="Capture : saisie refusée par le serveur" descr="Capture : saisie refusée par le serveur">    </p:cNvPr>
          <p:cNvPicPr>
            <a:picLocks noChangeAspect="1"/>
          </p:cNvPicPr>
          <p:nvPr/>
        </p:nvPicPr>
        <p:blipFill>
          <a:blip r:embed="rId6"/>
          <a:stretch>
            <a:fillRect/>
          </a:stretch>
        </p:blipFill>
        <p:spPr>
          <a:xfrm>
            <a:off x="5577840" y="2255520"/>
            <a:ext cx="6035040" cy="2346960"/>
          </a:xfrm>
          <a:prstGeom prst="rect">
            <a:avLst/>
          </a:prstGeom>
        </p:spPr>
      </p:pic>
      <p:sp>
        <p:nvSpPr>
          <p:cNvPr id="21" name="Légende"/>
          <p:cNvSpPr txBox="1"/>
          <p:nvPr/>
        </p:nvSpPr>
        <p:spPr>
          <a:xfrm>
            <a:off x="5577840" y="4693920"/>
            <a:ext cx="6035040" cy="292608"/>
          </a:xfrm>
          <a:prstGeom prst="rect">
            <a:avLst/>
          </a:prstGeom>
          <a:noFill/>
          <a:ln/>
        </p:spPr>
        <p:txBody>
          <a:bodyPr wrap="square" lIns="0" tIns="0" rIns="0" bIns="0" rtlCol="0" anchor="ctr"/>
          <a:lstStyle/>
          <a:p>
            <a:pPr indent="0" marL="0">
              <a:buNone/>
            </a:pPr>
            <a:r>
              <a:rPr lang="en-US" sz="1100" i="1" dirty="0">
                <a:solidFill>
                  <a:schemeClr val="accent5"/>
                </a:solidFill>
              </a:rPr>
              <a:t>Saisie refusée par le serveur : « 25 » rejeté, aucune note enregistrée. debug=False.</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indent="0" marL="0">
              <a:buNone/>
            </a:pPr>
            <a:r>
              <a:rPr lang="en-US" sz="3000" b="1" dirty="0">
                <a:solidFill>
                  <a:schemeClr val="tx1"/>
                </a:solidFill>
              </a:rPr>
              <a:t>Validation : 0 erreur HTML</a:t>
            </a:r>
            <a:endParaRPr lang="en-US" sz="3000" dirty="0"/>
          </a:p>
        </p:txBody>
      </p:sp>
      <p:sp>
        <p:nvSpPr>
          <p:cNvPr id="4" name="Capture : rapport du validateur (cadre)"/>
          <p:cNvSpPr/>
          <p:nvPr/>
        </p:nvSpPr>
        <p:spPr>
          <a:xfrm>
            <a:off x="1328107" y="1280160"/>
            <a:ext cx="4476105" cy="4754880"/>
          </a:xfrm>
          <a:prstGeom prst="rect">
            <a:avLst/>
          </a:prstGeom>
          <a:solidFill>
            <a:schemeClr val="bg1"/>
          </a:solidFill>
          <a:ln w="12700">
            <a:solidFill>
              <a:schemeClr val="accent6"/>
            </a:solidFill>
            <a:prstDash val="solid"/>
          </a:ln>
          <a:effectLst>
            <a:outerShdw sx="100000" sy="100000" kx="0" ky="0" algn="bl" rotWithShape="0" blurRad="101600" dist="25400" dir="5400000">
              <a:srgbClr val="0F172A">
                <a:alpha val="18000"/>
              </a:srgbClr>
            </a:outerShdw>
          </a:effectLst>
        </p:spPr>
      </p:sp>
      <p:pic>
        <p:nvPicPr>
          <p:cNvPr id="5" name="Capture : rapport du validateur" descr="Capture : rapport du validateur">    </p:cNvPr>
          <p:cNvPicPr>
            <a:picLocks noChangeAspect="1"/>
          </p:cNvPicPr>
          <p:nvPr/>
        </p:nvPicPr>
        <p:blipFill>
          <a:blip r:embed="rId1"/>
          <a:stretch>
            <a:fillRect/>
          </a:stretch>
        </p:blipFill>
        <p:spPr>
          <a:xfrm>
            <a:off x="1328107" y="1280160"/>
            <a:ext cx="4476105" cy="4754880"/>
          </a:xfrm>
          <a:prstGeom prst="rect">
            <a:avLst/>
          </a:prstGeom>
        </p:spPr>
      </p:pic>
      <p:sp>
        <p:nvSpPr>
          <p:cNvPr id="6" name="Légende"/>
          <p:cNvSpPr txBox="1"/>
          <p:nvPr/>
        </p:nvSpPr>
        <p:spPr>
          <a:xfrm>
            <a:off x="548640" y="6108192"/>
            <a:ext cx="6035040" cy="292608"/>
          </a:xfrm>
          <a:prstGeom prst="rect">
            <a:avLst/>
          </a:prstGeom>
          <a:noFill/>
          <a:ln/>
        </p:spPr>
        <p:txBody>
          <a:bodyPr wrap="square" lIns="0" tIns="0" rIns="0" bIns="0" rtlCol="0" anchor="ctr"/>
          <a:lstStyle/>
          <a:p>
            <a:pPr indent="0" marL="0">
              <a:buNone/>
            </a:pPr>
            <a:r>
              <a:rPr lang="en-US" sz="1100" i="1" dirty="0">
                <a:solidFill>
                  <a:schemeClr val="accent5"/>
                </a:solidFill>
              </a:rPr>
              <a:t>Rapport du Nu Html Checker : 23 pages, 0 erreur.</a:t>
            </a:r>
            <a:endParaRPr lang="en-US" sz="1100" dirty="0"/>
          </a:p>
        </p:txBody>
      </p:sp>
      <p:sp>
        <p:nvSpPr>
          <p:cNvPr id="7" name="Indicateur qualité 1"/>
          <p:cNvSpPr/>
          <p:nvPr/>
        </p:nvSpPr>
        <p:spPr>
          <a:xfrm>
            <a:off x="6949440" y="1325880"/>
            <a:ext cx="4663440" cy="1005840"/>
          </a:xfrm>
          <a:prstGeom prst="roundRect">
            <a:avLst>
              <a:gd name="adj" fmla="val 9091"/>
            </a:avLst>
          </a:prstGeom>
          <a:solidFill>
            <a:schemeClr val="bg2"/>
          </a:solidFill>
          <a:ln w="12700">
            <a:solidFill>
              <a:schemeClr val="bg2"/>
            </a:solidFill>
            <a:prstDash val="solid"/>
          </a:ln>
        </p:spPr>
      </p:sp>
      <p:sp>
        <p:nvSpPr>
          <p:cNvPr id="8" name="Text 4"/>
          <p:cNvSpPr txBox="1"/>
          <p:nvPr/>
        </p:nvSpPr>
        <p:spPr>
          <a:xfrm>
            <a:off x="7178040" y="1325880"/>
            <a:ext cx="4297680" cy="1005840"/>
          </a:xfrm>
          <a:prstGeom prst="rect">
            <a:avLst/>
          </a:prstGeom>
          <a:noFill/>
          <a:ln/>
        </p:spPr>
        <p:txBody>
          <a:bodyPr wrap="square" lIns="0" tIns="0" rIns="0" bIns="0" rtlCol="0" anchor="ctr"/>
          <a:lstStyle/>
          <a:p>
            <a:pPr indent="0" marL="0">
              <a:buNone/>
            </a:pPr>
            <a:r>
              <a:rPr lang="en-US" sz="3000" b="1" dirty="0">
                <a:solidFill>
                  <a:schemeClr val="accent3"/>
                </a:solidFill>
              </a:rPr>
              <a:t>0</a:t>
            </a:r>
            <a:pPr indent="0" marL="0">
              <a:buNone/>
            </a:pPr>
            <a:r>
              <a:rPr lang="en-US" sz="1500" dirty="0">
                <a:solidFill>
                  <a:schemeClr val="tx1"/>
                </a:solidFill>
              </a:rPr>
              <a:t>   erreur HTML (W3C, 23 pages)</a:t>
            </a:r>
            <a:endParaRPr lang="en-US" sz="3000" dirty="0"/>
          </a:p>
        </p:txBody>
      </p:sp>
      <p:sp>
        <p:nvSpPr>
          <p:cNvPr id="9" name="Indicateur qualité 2"/>
          <p:cNvSpPr/>
          <p:nvPr/>
        </p:nvSpPr>
        <p:spPr>
          <a:xfrm>
            <a:off x="6949440" y="2514600"/>
            <a:ext cx="4663440" cy="1005840"/>
          </a:xfrm>
          <a:prstGeom prst="roundRect">
            <a:avLst>
              <a:gd name="adj" fmla="val 9091"/>
            </a:avLst>
          </a:prstGeom>
          <a:solidFill>
            <a:schemeClr val="bg2"/>
          </a:solidFill>
          <a:ln w="12700">
            <a:solidFill>
              <a:schemeClr val="bg2"/>
            </a:solidFill>
            <a:prstDash val="solid"/>
          </a:ln>
        </p:spPr>
      </p:sp>
      <p:sp>
        <p:nvSpPr>
          <p:cNvPr id="10" name="Text 6"/>
          <p:cNvSpPr txBox="1"/>
          <p:nvPr/>
        </p:nvSpPr>
        <p:spPr>
          <a:xfrm>
            <a:off x="7178040" y="2514600"/>
            <a:ext cx="4297680" cy="1005840"/>
          </a:xfrm>
          <a:prstGeom prst="rect">
            <a:avLst/>
          </a:prstGeom>
          <a:noFill/>
          <a:ln/>
        </p:spPr>
        <p:txBody>
          <a:bodyPr wrap="square" lIns="0" tIns="0" rIns="0" bIns="0" rtlCol="0" anchor="ctr"/>
          <a:lstStyle/>
          <a:p>
            <a:pPr indent="0" marL="0">
              <a:buNone/>
            </a:pPr>
            <a:r>
              <a:rPr lang="en-US" sz="3000" b="1" dirty="0">
                <a:solidFill>
                  <a:schemeClr val="accent3"/>
                </a:solidFill>
              </a:rPr>
              <a:t>0</a:t>
            </a:r>
            <a:pPr indent="0" marL="0">
              <a:buNone/>
            </a:pPr>
            <a:r>
              <a:rPr lang="en-US" sz="1500" dirty="0">
                <a:solidFill>
                  <a:schemeClr val="tx1"/>
                </a:solidFill>
              </a:rPr>
              <a:t>   problème d'accessibilité grave (axe-core)</a:t>
            </a:r>
            <a:endParaRPr lang="en-US" sz="3000" dirty="0"/>
          </a:p>
        </p:txBody>
      </p:sp>
      <p:sp>
        <p:nvSpPr>
          <p:cNvPr id="11" name="Indicateur qualité 3"/>
          <p:cNvSpPr/>
          <p:nvPr/>
        </p:nvSpPr>
        <p:spPr>
          <a:xfrm>
            <a:off x="6949440" y="3703320"/>
            <a:ext cx="4663440" cy="1005840"/>
          </a:xfrm>
          <a:prstGeom prst="roundRect">
            <a:avLst>
              <a:gd name="adj" fmla="val 9091"/>
            </a:avLst>
          </a:prstGeom>
          <a:solidFill>
            <a:schemeClr val="bg2"/>
          </a:solidFill>
          <a:ln w="12700">
            <a:solidFill>
              <a:schemeClr val="bg2"/>
            </a:solidFill>
            <a:prstDash val="solid"/>
          </a:ln>
        </p:spPr>
      </p:sp>
      <p:sp>
        <p:nvSpPr>
          <p:cNvPr id="12" name="Text 8"/>
          <p:cNvSpPr txBox="1"/>
          <p:nvPr/>
        </p:nvSpPr>
        <p:spPr>
          <a:xfrm>
            <a:off x="7178040" y="3703320"/>
            <a:ext cx="4297680" cy="1005840"/>
          </a:xfrm>
          <a:prstGeom prst="rect">
            <a:avLst/>
          </a:prstGeom>
          <a:noFill/>
          <a:ln/>
        </p:spPr>
        <p:txBody>
          <a:bodyPr wrap="square" lIns="0" tIns="0" rIns="0" bIns="0" rtlCol="0" anchor="ctr"/>
          <a:lstStyle/>
          <a:p>
            <a:pPr indent="0" marL="0">
              <a:buNone/>
            </a:pPr>
            <a:r>
              <a:rPr lang="en-US" sz="3000" b="1" dirty="0">
                <a:solidFill>
                  <a:schemeClr val="accent3"/>
                </a:solidFill>
              </a:rPr>
              <a:t>360 px</a:t>
            </a:r>
            <a:pPr indent="0" marL="0">
              <a:buNone/>
            </a:pPr>
            <a:r>
              <a:rPr lang="en-US" sz="1500" dirty="0">
                <a:solidFill>
                  <a:schemeClr val="tx1"/>
                </a:solidFill>
              </a:rPr>
              <a:t>   aucune page ne déborde</a:t>
            </a:r>
            <a:endParaRPr lang="en-US" sz="3000" dirty="0"/>
          </a:p>
        </p:txBody>
      </p:sp>
      <p:sp>
        <p:nvSpPr>
          <p:cNvPr id="13" name="Indicateur qualité 4"/>
          <p:cNvSpPr/>
          <p:nvPr/>
        </p:nvSpPr>
        <p:spPr>
          <a:xfrm>
            <a:off x="6949440" y="4892040"/>
            <a:ext cx="4663440" cy="1005840"/>
          </a:xfrm>
          <a:prstGeom prst="roundRect">
            <a:avLst>
              <a:gd name="adj" fmla="val 9091"/>
            </a:avLst>
          </a:prstGeom>
          <a:solidFill>
            <a:schemeClr val="bg2"/>
          </a:solidFill>
          <a:ln w="12700">
            <a:solidFill>
              <a:schemeClr val="bg2"/>
            </a:solidFill>
            <a:prstDash val="solid"/>
          </a:ln>
        </p:spPr>
      </p:sp>
      <p:sp>
        <p:nvSpPr>
          <p:cNvPr id="14" name="Text 10"/>
          <p:cNvSpPr txBox="1"/>
          <p:nvPr/>
        </p:nvSpPr>
        <p:spPr>
          <a:xfrm>
            <a:off x="7178040" y="4892040"/>
            <a:ext cx="4297680" cy="1005840"/>
          </a:xfrm>
          <a:prstGeom prst="rect">
            <a:avLst/>
          </a:prstGeom>
          <a:noFill/>
          <a:ln/>
        </p:spPr>
        <p:txBody>
          <a:bodyPr wrap="square" lIns="0" tIns="0" rIns="0" bIns="0" rtlCol="0" anchor="ctr"/>
          <a:lstStyle/>
          <a:p>
            <a:pPr indent="0" marL="0">
              <a:buNone/>
            </a:pPr>
            <a:r>
              <a:rPr lang="en-US" sz="3000" b="1" dirty="0">
                <a:solidFill>
                  <a:schemeClr val="accent3"/>
                </a:solidFill>
              </a:rPr>
              <a:t>84</a:t>
            </a:r>
            <a:pPr indent="0" marL="0">
              <a:buNone/>
            </a:pPr>
            <a:r>
              <a:rPr lang="en-US" sz="1500" dirty="0">
                <a:solidFill>
                  <a:schemeClr val="tx1"/>
                </a:solidFill>
              </a:rPr>
              <a:t>   tests automatiques réussis</a:t>
            </a:r>
            <a:endParaRPr lang="en-US" sz="3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indent="0" marL="0">
              <a:buNone/>
            </a:pPr>
            <a:r>
              <a:rPr lang="en-US" sz="3000" b="1" dirty="0">
                <a:solidFill>
                  <a:schemeClr val="tx1"/>
                </a:solidFill>
              </a:rPr>
              <a:t>Difficultés rencontrées et solutions</a:t>
            </a:r>
            <a:endParaRPr lang="en-US" sz="3000" dirty="0"/>
          </a:p>
        </p:txBody>
      </p:sp>
      <p:sp>
        <p:nvSpPr>
          <p:cNvPr id="4" name="Difficulté 1"/>
          <p:cNvSpPr/>
          <p:nvPr/>
        </p:nvSpPr>
        <p:spPr>
          <a:xfrm>
            <a:off x="548640" y="1325880"/>
            <a:ext cx="3520440" cy="2240280"/>
          </a:xfrm>
          <a:prstGeom prst="roundRect">
            <a:avLst>
              <a:gd name="adj" fmla="val 4082"/>
            </a:avLst>
          </a:prstGeom>
          <a:solidFill>
            <a:schemeClr val="bg2"/>
          </a:solidFill>
          <a:ln w="12700">
            <a:solidFill>
              <a:schemeClr val="bg2"/>
            </a:solidFill>
            <a:prstDash val="solid"/>
          </a:ln>
        </p:spPr>
      </p:sp>
      <p:sp>
        <p:nvSpPr>
          <p:cNvPr id="5" name="Text 2"/>
          <p:cNvSpPr txBox="1"/>
          <p:nvPr/>
        </p:nvSpPr>
        <p:spPr>
          <a:xfrm>
            <a:off x="777240" y="1508760"/>
            <a:ext cx="3063240" cy="1874520"/>
          </a:xfrm>
          <a:prstGeom prst="rect">
            <a:avLst/>
          </a:prstGeom>
          <a:noFill/>
          <a:ln/>
        </p:spPr>
        <p:txBody>
          <a:bodyPr wrap="square" lIns="0" tIns="0" rIns="0" bIns="0" rtlCol="0" anchor="t"/>
          <a:lstStyle/>
          <a:p>
            <a:pPr indent="0" marL="0">
              <a:buNone/>
            </a:pPr>
            <a:r>
              <a:rPr lang="en-US" sz="1600" b="1" dirty="0">
                <a:solidFill>
                  <a:schemeClr val="tx1"/>
                </a:solidFill>
              </a:rPr>
              <a:t>Rangs faux à 0,01 près</a:t>
            </a:r>
            <a:endParaRPr lang="en-US" sz="1600" dirty="0"/>
          </a:p>
          <a:p>
            <a:pPr indent="0" marL="0">
              <a:buNone/>
            </a:pPr>
            <a:r>
              <a:rPr lang="en-US" sz="1300" dirty="0">
                <a:solidFill>
                  <a:schemeClr val="accent5"/>
                </a:solidFill>
              </a:rPr>
              <a:t>12,4999 et 12,50 n'avaient pas le même rang.</a:t>
            </a:r>
            <a:endParaRPr lang="en-US" sz="1600" dirty="0"/>
          </a:p>
          <a:p>
            <a:pPr indent="0" marL="0">
              <a:buNone/>
            </a:pPr>
            <a:r>
              <a:rPr lang="en-US" sz="600" dirty="0">
                <a:solidFill>
                  <a:srgbClr val="000000"/>
                </a:solidFill>
              </a:rPr>
              <a:t> </a:t>
            </a:r>
            <a:endParaRPr lang="en-US" sz="1600" dirty="0"/>
          </a:p>
          <a:p>
            <a:pPr indent="0" marL="0">
              <a:buNone/>
            </a:pPr>
            <a:r>
              <a:rPr lang="en-US" sz="1300" b="1" dirty="0">
                <a:solidFill>
                  <a:schemeClr val="accent3"/>
                </a:solidFill>
              </a:rPr>
              <a:t>Solution : </a:t>
            </a:r>
            <a:pPr indent="0" marL="0">
              <a:buNone/>
            </a:pPr>
            <a:r>
              <a:rPr lang="en-US" sz="1300" dirty="0">
                <a:solidFill>
                  <a:schemeClr val="tx1"/>
                </a:solidFill>
              </a:rPr>
              <a:t>Arrondi Decimal au centième avant de classer.</a:t>
            </a:r>
            <a:endParaRPr lang="en-US" sz="1600" dirty="0"/>
          </a:p>
        </p:txBody>
      </p:sp>
      <p:sp>
        <p:nvSpPr>
          <p:cNvPr id="6" name="Difficulté 2"/>
          <p:cNvSpPr/>
          <p:nvPr/>
        </p:nvSpPr>
        <p:spPr>
          <a:xfrm>
            <a:off x="4297680" y="1325880"/>
            <a:ext cx="3520440" cy="2240280"/>
          </a:xfrm>
          <a:prstGeom prst="roundRect">
            <a:avLst>
              <a:gd name="adj" fmla="val 4082"/>
            </a:avLst>
          </a:prstGeom>
          <a:solidFill>
            <a:schemeClr val="bg2"/>
          </a:solidFill>
          <a:ln w="12700">
            <a:solidFill>
              <a:schemeClr val="bg2"/>
            </a:solidFill>
            <a:prstDash val="solid"/>
          </a:ln>
        </p:spPr>
      </p:sp>
      <p:sp>
        <p:nvSpPr>
          <p:cNvPr id="7" name="Text 4"/>
          <p:cNvSpPr txBox="1"/>
          <p:nvPr/>
        </p:nvSpPr>
        <p:spPr>
          <a:xfrm>
            <a:off x="4526280" y="1508760"/>
            <a:ext cx="3063240" cy="1874520"/>
          </a:xfrm>
          <a:prstGeom prst="rect">
            <a:avLst/>
          </a:prstGeom>
          <a:noFill/>
          <a:ln/>
        </p:spPr>
        <p:txBody>
          <a:bodyPr wrap="square" lIns="0" tIns="0" rIns="0" bIns="0" rtlCol="0" anchor="t"/>
          <a:lstStyle/>
          <a:p>
            <a:pPr indent="0" marL="0">
              <a:buNone/>
            </a:pPr>
            <a:r>
              <a:rPr lang="en-US" sz="1600" b="1" dirty="0">
                <a:solidFill>
                  <a:schemeClr val="tx1"/>
                </a:solidFill>
              </a:rPr>
              <a:t>Saisie à moitié enregistrée</a:t>
            </a:r>
            <a:endParaRPr lang="en-US" sz="1600" dirty="0"/>
          </a:p>
          <a:p>
            <a:pPr indent="0" marL="0">
              <a:buNone/>
            </a:pPr>
            <a:r>
              <a:rPr lang="en-US" sz="1300" dirty="0">
                <a:solidFill>
                  <a:schemeClr val="accent5"/>
                </a:solidFill>
              </a:rPr>
              <a:t>Une erreur au milieu laissait des notes en base.</a:t>
            </a:r>
            <a:endParaRPr lang="en-US" sz="1600" dirty="0"/>
          </a:p>
          <a:p>
            <a:pPr indent="0" marL="0">
              <a:buNone/>
            </a:pPr>
            <a:r>
              <a:rPr lang="en-US" sz="600" dirty="0">
                <a:solidFill>
                  <a:srgbClr val="000000"/>
                </a:solidFill>
              </a:rPr>
              <a:t> </a:t>
            </a:r>
            <a:endParaRPr lang="en-US" sz="1600" dirty="0"/>
          </a:p>
          <a:p>
            <a:pPr indent="0" marL="0">
              <a:buNone/>
            </a:pPr>
            <a:r>
              <a:rPr lang="en-US" sz="1300" b="1" dirty="0">
                <a:solidFill>
                  <a:schemeClr val="accent3"/>
                </a:solidFill>
              </a:rPr>
              <a:t>Solution : </a:t>
            </a:r>
            <a:pPr indent="0" marL="0">
              <a:buNone/>
            </a:pPr>
            <a:r>
              <a:rPr lang="en-US" sz="1300" dirty="0">
                <a:solidFill>
                  <a:schemeClr val="tx1"/>
                </a:solidFill>
              </a:rPr>
              <a:t>Transaction « with db: » : tout ou rien.</a:t>
            </a:r>
            <a:endParaRPr lang="en-US" sz="1600" dirty="0"/>
          </a:p>
        </p:txBody>
      </p:sp>
      <p:sp>
        <p:nvSpPr>
          <p:cNvPr id="8" name="Difficulté 3"/>
          <p:cNvSpPr/>
          <p:nvPr/>
        </p:nvSpPr>
        <p:spPr>
          <a:xfrm>
            <a:off x="8046720" y="1325880"/>
            <a:ext cx="3520440" cy="2240280"/>
          </a:xfrm>
          <a:prstGeom prst="roundRect">
            <a:avLst>
              <a:gd name="adj" fmla="val 4082"/>
            </a:avLst>
          </a:prstGeom>
          <a:solidFill>
            <a:schemeClr val="bg2"/>
          </a:solidFill>
          <a:ln w="12700">
            <a:solidFill>
              <a:schemeClr val="bg2"/>
            </a:solidFill>
            <a:prstDash val="solid"/>
          </a:ln>
        </p:spPr>
      </p:sp>
      <p:sp>
        <p:nvSpPr>
          <p:cNvPr id="9" name="Text 6"/>
          <p:cNvSpPr txBox="1"/>
          <p:nvPr/>
        </p:nvSpPr>
        <p:spPr>
          <a:xfrm>
            <a:off x="8275320" y="1508760"/>
            <a:ext cx="3063240" cy="1874520"/>
          </a:xfrm>
          <a:prstGeom prst="rect">
            <a:avLst/>
          </a:prstGeom>
          <a:noFill/>
          <a:ln/>
        </p:spPr>
        <p:txBody>
          <a:bodyPr wrap="square" lIns="0" tIns="0" rIns="0" bIns="0" rtlCol="0" anchor="t"/>
          <a:lstStyle/>
          <a:p>
            <a:pPr indent="0" marL="0">
              <a:buNone/>
            </a:pPr>
            <a:r>
              <a:rPr lang="en-US" sz="1600" b="1" dirty="0">
                <a:solidFill>
                  <a:schemeClr val="tx1"/>
                </a:solidFill>
              </a:rPr>
              <a:t>Fichiers d'import variés</a:t>
            </a:r>
            <a:endParaRPr lang="en-US" sz="1600" dirty="0"/>
          </a:p>
          <a:p>
            <a:pPr indent="0" marL="0">
              <a:buNone/>
            </a:pPr>
            <a:r>
              <a:rPr lang="en-US" sz="1300" dirty="0">
                <a:solidFill>
                  <a:schemeClr val="accent5"/>
                </a:solidFill>
              </a:rPr>
              <a:t>Encodages, séparateurs, dates, en-têtes différents.</a:t>
            </a:r>
            <a:endParaRPr lang="en-US" sz="1600" dirty="0"/>
          </a:p>
          <a:p>
            <a:pPr indent="0" marL="0">
              <a:buNone/>
            </a:pPr>
            <a:r>
              <a:rPr lang="en-US" sz="600" dirty="0">
                <a:solidFill>
                  <a:srgbClr val="000000"/>
                </a:solidFill>
              </a:rPr>
              <a:t> </a:t>
            </a:r>
            <a:endParaRPr lang="en-US" sz="1600" dirty="0"/>
          </a:p>
          <a:p>
            <a:pPr indent="0" marL="0">
              <a:buNone/>
            </a:pPr>
            <a:r>
              <a:rPr lang="en-US" sz="1300" b="1" dirty="0">
                <a:solidFill>
                  <a:schemeClr val="accent3"/>
                </a:solidFill>
              </a:rPr>
              <a:t>Solution : </a:t>
            </a:r>
            <a:pPr indent="0" marL="0">
              <a:buNone/>
            </a:pPr>
            <a:r>
              <a:rPr lang="en-US" sz="1300" dirty="0">
                <a:solidFill>
                  <a:schemeClr val="tx1"/>
                </a:solidFill>
              </a:rPr>
              <a:t>Détection automatique et correspondance modifiable.</a:t>
            </a:r>
            <a:endParaRPr lang="en-US" sz="1600" dirty="0"/>
          </a:p>
        </p:txBody>
      </p:sp>
      <p:sp>
        <p:nvSpPr>
          <p:cNvPr id="10" name="Difficulté 4"/>
          <p:cNvSpPr/>
          <p:nvPr/>
        </p:nvSpPr>
        <p:spPr>
          <a:xfrm>
            <a:off x="548640" y="3794760"/>
            <a:ext cx="3520440" cy="2240280"/>
          </a:xfrm>
          <a:prstGeom prst="roundRect">
            <a:avLst>
              <a:gd name="adj" fmla="val 4082"/>
            </a:avLst>
          </a:prstGeom>
          <a:solidFill>
            <a:schemeClr val="bg2"/>
          </a:solidFill>
          <a:ln w="12700">
            <a:solidFill>
              <a:schemeClr val="bg2"/>
            </a:solidFill>
            <a:prstDash val="solid"/>
          </a:ln>
        </p:spPr>
      </p:sp>
      <p:sp>
        <p:nvSpPr>
          <p:cNvPr id="11" name="Text 8"/>
          <p:cNvSpPr txBox="1"/>
          <p:nvPr/>
        </p:nvSpPr>
        <p:spPr>
          <a:xfrm>
            <a:off x="777240" y="3977640"/>
            <a:ext cx="3063240" cy="1874520"/>
          </a:xfrm>
          <a:prstGeom prst="rect">
            <a:avLst/>
          </a:prstGeom>
          <a:noFill/>
          <a:ln/>
        </p:spPr>
        <p:txBody>
          <a:bodyPr wrap="square" lIns="0" tIns="0" rIns="0" bIns="0" rtlCol="0" anchor="t"/>
          <a:lstStyle/>
          <a:p>
            <a:pPr indent="0" marL="0">
              <a:buNone/>
            </a:pPr>
            <a:r>
              <a:rPr lang="en-US" sz="1600" b="1" dirty="0">
                <a:solidFill>
                  <a:schemeClr val="tx1"/>
                </a:solidFill>
              </a:rPr>
              <a:t>Tests qui modifiaient la base</a:t>
            </a:r>
            <a:endParaRPr lang="en-US" sz="1600" dirty="0"/>
          </a:p>
          <a:p>
            <a:pPr indent="0" marL="0">
              <a:buNone/>
            </a:pPr>
            <a:r>
              <a:rPr lang="en-US" sz="1300" dirty="0">
                <a:solidFill>
                  <a:schemeClr val="accent5"/>
                </a:solidFill>
              </a:rPr>
              <a:t>projet.db changeait à chaque test.</a:t>
            </a:r>
            <a:endParaRPr lang="en-US" sz="1600" dirty="0"/>
          </a:p>
          <a:p>
            <a:pPr indent="0" marL="0">
              <a:buNone/>
            </a:pPr>
            <a:r>
              <a:rPr lang="en-US" sz="600" dirty="0">
                <a:solidFill>
                  <a:srgbClr val="000000"/>
                </a:solidFill>
              </a:rPr>
              <a:t> </a:t>
            </a:r>
            <a:endParaRPr lang="en-US" sz="1600" dirty="0"/>
          </a:p>
          <a:p>
            <a:pPr indent="0" marL="0">
              <a:buNone/>
            </a:pPr>
            <a:r>
              <a:rPr lang="en-US" sz="1300" b="1" dirty="0">
                <a:solidFill>
                  <a:schemeClr val="accent3"/>
                </a:solidFill>
              </a:rPr>
              <a:t>Solution : </a:t>
            </a:r>
            <a:pPr indent="0" marL="0">
              <a:buNone/>
            </a:pPr>
            <a:r>
              <a:rPr lang="en-US" sz="1300" dirty="0">
                <a:solidFill>
                  <a:schemeClr val="tx1"/>
                </a:solidFill>
              </a:rPr>
              <a:t>Tests sur une copie temporaire de la base.</a:t>
            </a:r>
            <a:endParaRPr lang="en-US" sz="1600" dirty="0"/>
          </a:p>
        </p:txBody>
      </p:sp>
      <p:sp>
        <p:nvSpPr>
          <p:cNvPr id="12" name="Difficulté 5"/>
          <p:cNvSpPr/>
          <p:nvPr/>
        </p:nvSpPr>
        <p:spPr>
          <a:xfrm>
            <a:off x="4297680" y="3794760"/>
            <a:ext cx="3520440" cy="2240280"/>
          </a:xfrm>
          <a:prstGeom prst="roundRect">
            <a:avLst>
              <a:gd name="adj" fmla="val 4082"/>
            </a:avLst>
          </a:prstGeom>
          <a:solidFill>
            <a:schemeClr val="bg2"/>
          </a:solidFill>
          <a:ln w="12700">
            <a:solidFill>
              <a:schemeClr val="bg2"/>
            </a:solidFill>
            <a:prstDash val="solid"/>
          </a:ln>
        </p:spPr>
      </p:sp>
      <p:sp>
        <p:nvSpPr>
          <p:cNvPr id="13" name="Text 10"/>
          <p:cNvSpPr txBox="1"/>
          <p:nvPr/>
        </p:nvSpPr>
        <p:spPr>
          <a:xfrm>
            <a:off x="4526280" y="3977640"/>
            <a:ext cx="3063240" cy="1874520"/>
          </a:xfrm>
          <a:prstGeom prst="rect">
            <a:avLst/>
          </a:prstGeom>
          <a:noFill/>
          <a:ln/>
        </p:spPr>
        <p:txBody>
          <a:bodyPr wrap="square" lIns="0" tIns="0" rIns="0" bIns="0" rtlCol="0" anchor="t"/>
          <a:lstStyle/>
          <a:p>
            <a:pPr indent="0" marL="0">
              <a:buNone/>
            </a:pPr>
            <a:r>
              <a:rPr lang="en-US" sz="1600" b="1" dirty="0">
                <a:solidFill>
                  <a:schemeClr val="tx1"/>
                </a:solidFill>
              </a:rPr>
              <a:t>HTML refusé par le validateur</a:t>
            </a:r>
            <a:endParaRPr lang="en-US" sz="1600" dirty="0"/>
          </a:p>
          <a:p>
            <a:pPr indent="0" marL="0">
              <a:buNone/>
            </a:pPr>
            <a:r>
              <a:rPr lang="en-US" sz="1300" dirty="0">
                <a:solidFill>
                  <a:schemeClr val="accent5"/>
                </a:solidFill>
              </a:rPr>
              <a:t>Identifiants en double, rôle sur un &lt;li&gt;.</a:t>
            </a:r>
            <a:endParaRPr lang="en-US" sz="1600" dirty="0"/>
          </a:p>
          <a:p>
            <a:pPr indent="0" marL="0">
              <a:buNone/>
            </a:pPr>
            <a:r>
              <a:rPr lang="en-US" sz="600" dirty="0">
                <a:solidFill>
                  <a:srgbClr val="000000"/>
                </a:solidFill>
              </a:rPr>
              <a:t> </a:t>
            </a:r>
            <a:endParaRPr lang="en-US" sz="1600" dirty="0"/>
          </a:p>
          <a:p>
            <a:pPr indent="0" marL="0">
              <a:buNone/>
            </a:pPr>
            <a:r>
              <a:rPr lang="en-US" sz="1300" b="1" dirty="0">
                <a:solidFill>
                  <a:schemeClr val="accent3"/>
                </a:solidFill>
              </a:rPr>
              <a:t>Solution : </a:t>
            </a:r>
            <a:pPr indent="0" marL="0">
              <a:buNone/>
            </a:pPr>
            <a:r>
              <a:rPr lang="en-US" sz="1300" dirty="0">
                <a:solidFill>
                  <a:schemeClr val="tx1"/>
                </a:solidFill>
              </a:rPr>
              <a:t>Préfixe des champs, messages en &lt;div&gt;.</a:t>
            </a:r>
            <a:endParaRPr lang="en-US" sz="1600" dirty="0"/>
          </a:p>
        </p:txBody>
      </p:sp>
      <p:sp>
        <p:nvSpPr>
          <p:cNvPr id="14" name="Difficulté 6"/>
          <p:cNvSpPr/>
          <p:nvPr/>
        </p:nvSpPr>
        <p:spPr>
          <a:xfrm>
            <a:off x="8046720" y="3794760"/>
            <a:ext cx="3520440" cy="2240280"/>
          </a:xfrm>
          <a:prstGeom prst="roundRect">
            <a:avLst>
              <a:gd name="adj" fmla="val 4082"/>
            </a:avLst>
          </a:prstGeom>
          <a:solidFill>
            <a:schemeClr val="bg2"/>
          </a:solidFill>
          <a:ln w="12700">
            <a:solidFill>
              <a:schemeClr val="bg2"/>
            </a:solidFill>
            <a:prstDash val="solid"/>
          </a:ln>
        </p:spPr>
      </p:sp>
      <p:sp>
        <p:nvSpPr>
          <p:cNvPr id="15" name="Text 12"/>
          <p:cNvSpPr txBox="1"/>
          <p:nvPr/>
        </p:nvSpPr>
        <p:spPr>
          <a:xfrm>
            <a:off x="8275320" y="3977640"/>
            <a:ext cx="3063240" cy="1874520"/>
          </a:xfrm>
          <a:prstGeom prst="rect">
            <a:avLst/>
          </a:prstGeom>
          <a:noFill/>
          <a:ln/>
        </p:spPr>
        <p:txBody>
          <a:bodyPr wrap="square" lIns="0" tIns="0" rIns="0" bIns="0" rtlCol="0" anchor="t"/>
          <a:lstStyle/>
          <a:p>
            <a:pPr indent="0" marL="0">
              <a:buNone/>
            </a:pPr>
            <a:r>
              <a:rPr lang="en-US" sz="1600" b="1" dirty="0">
                <a:solidFill>
                  <a:schemeClr val="tx1"/>
                </a:solidFill>
              </a:rPr>
              <a:t>Bulletin imprimé sur 2 pages</a:t>
            </a:r>
            <a:endParaRPr lang="en-US" sz="1600" dirty="0"/>
          </a:p>
          <a:p>
            <a:pPr indent="0" marL="0">
              <a:buNone/>
            </a:pPr>
            <a:r>
              <a:rPr lang="en-US" sz="1300" dirty="0">
                <a:solidFill>
                  <a:schemeClr val="accent5"/>
                </a:solidFill>
              </a:rPr>
              <a:t>Signatures rejetées en page 2.</a:t>
            </a:r>
            <a:endParaRPr lang="en-US" sz="1600" dirty="0"/>
          </a:p>
          <a:p>
            <a:pPr indent="0" marL="0">
              <a:buNone/>
            </a:pPr>
            <a:r>
              <a:rPr lang="en-US" sz="600" dirty="0">
                <a:solidFill>
                  <a:srgbClr val="000000"/>
                </a:solidFill>
              </a:rPr>
              <a:t> </a:t>
            </a:r>
            <a:endParaRPr lang="en-US" sz="1600" dirty="0"/>
          </a:p>
          <a:p>
            <a:pPr indent="0" marL="0">
              <a:buNone/>
            </a:pPr>
            <a:r>
              <a:rPr lang="en-US" sz="1300" b="1" dirty="0">
                <a:solidFill>
                  <a:schemeClr val="accent3"/>
                </a:solidFill>
              </a:rPr>
              <a:t>Solution : </a:t>
            </a:r>
            <a:pPr indent="0" marL="0">
              <a:buNone/>
            </a:pPr>
            <a:r>
              <a:rPr lang="en-US" sz="1300" dirty="0">
                <a:solidFill>
                  <a:schemeClr val="tx1"/>
                </a:solidFill>
              </a:rPr>
              <a:t>Feuille impression.css resserrée : 1 page A4.</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indent="0" marL="0">
              <a:buNone/>
            </a:pPr>
            <a:r>
              <a:rPr lang="en-US" sz="3000" b="1" dirty="0">
                <a:solidFill>
                  <a:schemeClr val="tx1"/>
                </a:solidFill>
              </a:rPr>
              <a:t>Organisation du travail personnel</a:t>
            </a:r>
            <a:endParaRPr lang="en-US" sz="3000" dirty="0"/>
          </a:p>
        </p:txBody>
      </p:sp>
      <p:graphicFrame>
        <p:nvGraphicFramePr>
          <p:cNvPr id="20" name="Tableau d'organisation"/>
          <p:cNvGraphicFramePr>
            <a:graphicFrameLocks noGrp="1"/>
          </p:cNvGraphicFramePr>
          <p:nvPr>
            <p:extLst>
              <p:ext uri="{D42A27DB-BD31-4B8C-83A1-F6EECF244321}">
                <p14:modId xmlns:p14="http://schemas.microsoft.com/office/powerpoint/2010/main" val="1579011935"/>
              </p:ext>
            </p:extLst>
          </p:nvPr>
        </p:nvGraphicFramePr>
        <p:xfrm>
          <a:off x="548640" y="1325880"/>
          <a:ext cx="6400800" cy="914400"/>
        </p:xfrm>
        <a:graphic>
          <a:graphicData uri="http://schemas.openxmlformats.org/drawingml/2006/table">
            <a:tbl>
              <a:tblPr/>
              <a:tblGrid>
                <a:gridCol w="1920240"/>
                <a:gridCol w="4480560"/>
              </a:tblGrid>
              <a:tr h="777240">
                <a:tc>
                  <a:txBody>
                    <a:bodyPr/>
                    <a:lstStyle/>
                    <a:p>
                      <a:pPr indent="0" marL="0">
                        <a:buNone/>
                      </a:pPr>
                      <a:r>
                        <a:rPr lang="en-US" sz="1300" b="1" dirty="0">
                          <a:solidFill>
                            <a:srgbClr val="FFFFFF"/>
                          </a:solidFill>
                        </a:rPr>
                        <a:t>Phase</a:t>
                      </a:r>
                      <a:endParaRPr lang="en-US" sz="1300" dirty="0"/>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c>
                  <a:txBody>
                    <a:bodyPr/>
                    <a:lstStyle/>
                    <a:p>
                      <a:pPr indent="0" marL="0">
                        <a:buNone/>
                      </a:pPr>
                      <a:r>
                        <a:rPr lang="en-US" sz="1300" b="1" dirty="0">
                          <a:solidFill>
                            <a:srgbClr val="FFFFFF"/>
                          </a:solidFill>
                        </a:rPr>
                        <a:t>Travail réalisé</a:t>
                      </a:r>
                      <a:endParaRPr lang="en-US" sz="1300" dirty="0"/>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r>
              <a:tr h="777240">
                <a:tc>
                  <a:txBody>
                    <a:bodyPr/>
                    <a:lstStyle/>
                    <a:p>
                      <a:pPr indent="0" marL="0">
                        <a:buNone/>
                      </a:pPr>
                      <a:r>
                        <a:rPr lang="en-US" sz="1300" b="1" dirty="0">
                          <a:solidFill>
                            <a:srgbClr val="0F172A"/>
                          </a:solidFill>
                        </a:rPr>
                        <a:t>Analyse</a:t>
                      </a:r>
                      <a:endParaRPr lang="en-US" sz="1300" dirty="0"/>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300" dirty="0">
                          <a:solidFill>
                            <a:srgbClr val="0F172A"/>
                          </a:solidFill>
                        </a:rPr>
                        <a:t>cahier des charges : toutes les exigences numérotées, hypothèses de conception</a:t>
                      </a:r>
                      <a:endParaRPr lang="en-US" sz="1300" dirty="0"/>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r>
              <a:tr h="777240">
                <a:tc>
                  <a:txBody>
                    <a:bodyPr/>
                    <a:lstStyle/>
                    <a:p>
                      <a:pPr indent="0" marL="0">
                        <a:buNone/>
                      </a:pPr>
                      <a:r>
                        <a:rPr lang="en-US" sz="1300" b="1" dirty="0">
                          <a:solidFill>
                            <a:srgbClr val="0F172A"/>
                          </a:solidFill>
                        </a:rPr>
                        <a:t>Conception</a:t>
                      </a:r>
                      <a:endParaRPr lang="en-US" sz="1300" dirty="0"/>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300" dirty="0">
                          <a:solidFill>
                            <a:srgbClr val="0F172A"/>
                          </a:solidFill>
                        </a:rPr>
                        <a:t>maquettes des 11 écrans, schéma de la base, liste des routes</a:t>
                      </a:r>
                      <a:endParaRPr lang="en-US" sz="1300" dirty="0"/>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777240">
                <a:tc>
                  <a:txBody>
                    <a:bodyPr/>
                    <a:lstStyle/>
                    <a:p>
                      <a:pPr indent="0" marL="0">
                        <a:buNone/>
                      </a:pPr>
                      <a:r>
                        <a:rPr lang="en-US" sz="1300" b="1" dirty="0">
                          <a:solidFill>
                            <a:srgbClr val="0F172A"/>
                          </a:solidFill>
                        </a:rPr>
                        <a:t>Développement</a:t>
                      </a:r>
                      <a:endParaRPr lang="en-US" sz="1300" dirty="0"/>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300" dirty="0">
                          <a:solidFill>
                            <a:srgbClr val="0F172A"/>
                          </a:solidFill>
                        </a:rPr>
                        <a:t>11 étapes : base, gabarits, calculs, connexion, bulletin, saisie, listes, statistiques, administration, import, finitions</a:t>
                      </a:r>
                      <a:endParaRPr lang="en-US" sz="1300" dirty="0"/>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r>
              <a:tr h="777240">
                <a:tc>
                  <a:txBody>
                    <a:bodyPr/>
                    <a:lstStyle/>
                    <a:p>
                      <a:pPr indent="0" marL="0">
                        <a:buNone/>
                      </a:pPr>
                      <a:r>
                        <a:rPr lang="en-US" sz="1300" b="1" dirty="0">
                          <a:solidFill>
                            <a:srgbClr val="0F172A"/>
                          </a:solidFill>
                        </a:rPr>
                        <a:t>Tests et qualité</a:t>
                      </a:r>
                      <a:endParaRPr lang="en-US" sz="1300" dirty="0"/>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300" dirty="0">
                          <a:solidFill>
                            <a:srgbClr val="0F172A"/>
                          </a:solidFill>
                        </a:rPr>
                        <a:t>84 tests automatiques, validateur HTML, accessibilité, téléphone</a:t>
                      </a:r>
                      <a:endParaRPr lang="en-US" sz="1300" dirty="0"/>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FFFF"/>
                    </a:solidFill>
                  </a:tcPr>
                </a:tc>
              </a:tr>
              <a:tr h="777240">
                <a:tc>
                  <a:txBody>
                    <a:bodyPr/>
                    <a:lstStyle/>
                    <a:p>
                      <a:pPr indent="0" marL="0">
                        <a:buNone/>
                      </a:pPr>
                      <a:r>
                        <a:rPr lang="en-US" sz="1300" b="1" dirty="0">
                          <a:solidFill>
                            <a:srgbClr val="0F172A"/>
                          </a:solidFill>
                        </a:rPr>
                        <a:t>Rendu</a:t>
                      </a:r>
                      <a:endParaRPr lang="en-US" sz="1300" dirty="0"/>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300" dirty="0">
                          <a:solidFill>
                            <a:srgbClr val="0F172A"/>
                          </a:solidFill>
                        </a:rPr>
                        <a:t>README, base remplie et export SQL, captures, rapport et vidéo</a:t>
                      </a:r>
                      <a:endParaRPr lang="en-US" sz="1300" dirty="0"/>
                    </a:p>
                  </a:txBody>
                  <a:tcPr marL="91440" marR="91440" marT="45720" marB="4572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1F5F9"/>
                    </a:solidFill>
                  </a:tcPr>
                </a:tc>
              </a:tr>
            </a:tbl>
          </a:graphicData>
        </a:graphic>
      </p:graphicFrame>
      <p:sp>
        <p:nvSpPr>
          <p:cNvPr id="5" name="Méthode de travail"/>
          <p:cNvSpPr/>
          <p:nvPr/>
        </p:nvSpPr>
        <p:spPr>
          <a:xfrm>
            <a:off x="7315200" y="1325880"/>
            <a:ext cx="4297680" cy="4709160"/>
          </a:xfrm>
          <a:prstGeom prst="roundRect">
            <a:avLst>
              <a:gd name="adj" fmla="val 2128"/>
            </a:avLst>
          </a:prstGeom>
          <a:solidFill>
            <a:schemeClr val="bg2"/>
          </a:solidFill>
          <a:ln w="12700">
            <a:solidFill>
              <a:schemeClr val="bg2"/>
            </a:solidFill>
            <a:prstDash val="solid"/>
          </a:ln>
        </p:spPr>
      </p:sp>
      <p:sp>
        <p:nvSpPr>
          <p:cNvPr id="6" name="Text 2"/>
          <p:cNvSpPr txBox="1"/>
          <p:nvPr/>
        </p:nvSpPr>
        <p:spPr>
          <a:xfrm>
            <a:off x="7543800" y="1463040"/>
            <a:ext cx="3840480" cy="411480"/>
          </a:xfrm>
          <a:prstGeom prst="rect">
            <a:avLst/>
          </a:prstGeom>
          <a:noFill/>
          <a:ln/>
        </p:spPr>
        <p:txBody>
          <a:bodyPr wrap="square" lIns="0" tIns="0" rIns="0" bIns="0" rtlCol="0" anchor="ctr"/>
          <a:lstStyle/>
          <a:p>
            <a:pPr indent="0" marL="0">
              <a:buNone/>
            </a:pPr>
            <a:r>
              <a:rPr lang="en-US" sz="1700" b="1" dirty="0">
                <a:solidFill>
                  <a:schemeClr val="tx1"/>
                </a:solidFill>
              </a:rPr>
              <a:t>Développement : 11 étapes</a:t>
            </a:r>
            <a:endParaRPr lang="en-US" sz="1700" dirty="0"/>
          </a:p>
        </p:txBody>
      </p:sp>
      <p:sp>
        <p:nvSpPr>
          <p:cNvPr id="7" name="Étape 1"/>
          <p:cNvSpPr/>
          <p:nvPr/>
        </p:nvSpPr>
        <p:spPr>
          <a:xfrm>
            <a:off x="7589520" y="1993392"/>
            <a:ext cx="274320" cy="274320"/>
          </a:xfrm>
          <a:prstGeom prst="ellipse">
            <a:avLst/>
          </a:prstGeom>
          <a:solidFill>
            <a:schemeClr val="accent1"/>
          </a:solidFill>
          <a:ln w="12700">
            <a:solidFill>
              <a:schemeClr val="accent1"/>
            </a:solidFill>
            <a:prstDash val="solid"/>
          </a:ln>
        </p:spPr>
      </p:sp>
      <p:sp>
        <p:nvSpPr>
          <p:cNvPr id="8" name="Text 4"/>
          <p:cNvSpPr txBox="1"/>
          <p:nvPr/>
        </p:nvSpPr>
        <p:spPr>
          <a:xfrm>
            <a:off x="7589520" y="1993392"/>
            <a:ext cx="274320" cy="274320"/>
          </a:xfrm>
          <a:prstGeom prst="rect">
            <a:avLst/>
          </a:prstGeom>
          <a:noFill/>
          <a:ln/>
        </p:spPr>
        <p:txBody>
          <a:bodyPr wrap="square" lIns="0" tIns="0" rIns="0" bIns="0" rtlCol="0" anchor="ctr"/>
          <a:lstStyle/>
          <a:p>
            <a:pPr algn="ctr" indent="0" marL="0">
              <a:buNone/>
            </a:pPr>
            <a:r>
              <a:rPr lang="en-US" sz="1000" b="1" dirty="0">
                <a:solidFill>
                  <a:schemeClr val="bg1"/>
                </a:solidFill>
              </a:rPr>
              <a:t>1</a:t>
            </a:r>
            <a:endParaRPr lang="en-US" sz="1000" dirty="0"/>
          </a:p>
        </p:txBody>
      </p:sp>
      <p:sp>
        <p:nvSpPr>
          <p:cNvPr id="9" name="Text 5"/>
          <p:cNvSpPr txBox="1"/>
          <p:nvPr/>
        </p:nvSpPr>
        <p:spPr>
          <a:xfrm>
            <a:off x="8001000" y="1965960"/>
            <a:ext cx="3383280" cy="329184"/>
          </a:xfrm>
          <a:prstGeom prst="rect">
            <a:avLst/>
          </a:prstGeom>
          <a:noFill/>
          <a:ln/>
        </p:spPr>
        <p:txBody>
          <a:bodyPr wrap="square" lIns="0" tIns="0" rIns="0" bIns="0" rtlCol="0" anchor="ctr"/>
          <a:lstStyle/>
          <a:p>
            <a:pPr indent="0" marL="0">
              <a:buNone/>
            </a:pPr>
            <a:r>
              <a:rPr lang="en-US" sz="1300" dirty="0">
                <a:solidFill>
                  <a:schemeClr val="tx1"/>
                </a:solidFill>
              </a:rPr>
              <a:t>Base de données</a:t>
            </a:r>
            <a:endParaRPr lang="en-US" sz="1300" dirty="0"/>
          </a:p>
        </p:txBody>
      </p:sp>
      <p:sp>
        <p:nvSpPr>
          <p:cNvPr id="10" name="Étape 2"/>
          <p:cNvSpPr/>
          <p:nvPr/>
        </p:nvSpPr>
        <p:spPr>
          <a:xfrm>
            <a:off x="7589520" y="2359152"/>
            <a:ext cx="274320" cy="274320"/>
          </a:xfrm>
          <a:prstGeom prst="ellipse">
            <a:avLst/>
          </a:prstGeom>
          <a:solidFill>
            <a:schemeClr val="accent1"/>
          </a:solidFill>
          <a:ln w="12700">
            <a:solidFill>
              <a:schemeClr val="accent1"/>
            </a:solidFill>
            <a:prstDash val="solid"/>
          </a:ln>
        </p:spPr>
      </p:sp>
      <p:sp>
        <p:nvSpPr>
          <p:cNvPr id="11" name="Text 7"/>
          <p:cNvSpPr txBox="1"/>
          <p:nvPr/>
        </p:nvSpPr>
        <p:spPr>
          <a:xfrm>
            <a:off x="7589520" y="2359152"/>
            <a:ext cx="274320" cy="274320"/>
          </a:xfrm>
          <a:prstGeom prst="rect">
            <a:avLst/>
          </a:prstGeom>
          <a:noFill/>
          <a:ln/>
        </p:spPr>
        <p:txBody>
          <a:bodyPr wrap="square" lIns="0" tIns="0" rIns="0" bIns="0" rtlCol="0" anchor="ctr"/>
          <a:lstStyle/>
          <a:p>
            <a:pPr algn="ctr" indent="0" marL="0">
              <a:buNone/>
            </a:pPr>
            <a:r>
              <a:rPr lang="en-US" sz="1000" b="1" dirty="0">
                <a:solidFill>
                  <a:schemeClr val="bg1"/>
                </a:solidFill>
              </a:rPr>
              <a:t>2</a:t>
            </a:r>
            <a:endParaRPr lang="en-US" sz="1000" dirty="0"/>
          </a:p>
        </p:txBody>
      </p:sp>
      <p:sp>
        <p:nvSpPr>
          <p:cNvPr id="12" name="Text 8"/>
          <p:cNvSpPr txBox="1"/>
          <p:nvPr/>
        </p:nvSpPr>
        <p:spPr>
          <a:xfrm>
            <a:off x="8001000" y="2331720"/>
            <a:ext cx="3383280" cy="329184"/>
          </a:xfrm>
          <a:prstGeom prst="rect">
            <a:avLst/>
          </a:prstGeom>
          <a:noFill/>
          <a:ln/>
        </p:spPr>
        <p:txBody>
          <a:bodyPr wrap="square" lIns="0" tIns="0" rIns="0" bIns="0" rtlCol="0" anchor="ctr"/>
          <a:lstStyle/>
          <a:p>
            <a:pPr indent="0" marL="0">
              <a:buNone/>
            </a:pPr>
            <a:r>
              <a:rPr lang="en-US" sz="1300" dirty="0">
                <a:solidFill>
                  <a:schemeClr val="tx1"/>
                </a:solidFill>
              </a:rPr>
              <a:t>Charte et gabarits</a:t>
            </a:r>
            <a:endParaRPr lang="en-US" sz="1300" dirty="0"/>
          </a:p>
        </p:txBody>
      </p:sp>
      <p:sp>
        <p:nvSpPr>
          <p:cNvPr id="13" name="Étape 3"/>
          <p:cNvSpPr/>
          <p:nvPr/>
        </p:nvSpPr>
        <p:spPr>
          <a:xfrm>
            <a:off x="7589520" y="2724912"/>
            <a:ext cx="274320" cy="274320"/>
          </a:xfrm>
          <a:prstGeom prst="ellipse">
            <a:avLst/>
          </a:prstGeom>
          <a:solidFill>
            <a:schemeClr val="accent1"/>
          </a:solidFill>
          <a:ln w="12700">
            <a:solidFill>
              <a:schemeClr val="accent1"/>
            </a:solidFill>
            <a:prstDash val="solid"/>
          </a:ln>
        </p:spPr>
      </p:sp>
      <p:sp>
        <p:nvSpPr>
          <p:cNvPr id="14" name="Text 10"/>
          <p:cNvSpPr txBox="1"/>
          <p:nvPr/>
        </p:nvSpPr>
        <p:spPr>
          <a:xfrm>
            <a:off x="7589520" y="2724912"/>
            <a:ext cx="274320" cy="274320"/>
          </a:xfrm>
          <a:prstGeom prst="rect">
            <a:avLst/>
          </a:prstGeom>
          <a:noFill/>
          <a:ln/>
        </p:spPr>
        <p:txBody>
          <a:bodyPr wrap="square" lIns="0" tIns="0" rIns="0" bIns="0" rtlCol="0" anchor="ctr"/>
          <a:lstStyle/>
          <a:p>
            <a:pPr algn="ctr" indent="0" marL="0">
              <a:buNone/>
            </a:pPr>
            <a:r>
              <a:rPr lang="en-US" sz="1000" b="1" dirty="0">
                <a:solidFill>
                  <a:schemeClr val="bg1"/>
                </a:solidFill>
              </a:rPr>
              <a:t>3</a:t>
            </a:r>
            <a:endParaRPr lang="en-US" sz="1000" dirty="0"/>
          </a:p>
        </p:txBody>
      </p:sp>
      <p:sp>
        <p:nvSpPr>
          <p:cNvPr id="15" name="Text 11"/>
          <p:cNvSpPr txBox="1"/>
          <p:nvPr/>
        </p:nvSpPr>
        <p:spPr>
          <a:xfrm>
            <a:off x="8001000" y="2697480"/>
            <a:ext cx="3383280" cy="329184"/>
          </a:xfrm>
          <a:prstGeom prst="rect">
            <a:avLst/>
          </a:prstGeom>
          <a:noFill/>
          <a:ln/>
        </p:spPr>
        <p:txBody>
          <a:bodyPr wrap="square" lIns="0" tIns="0" rIns="0" bIns="0" rtlCol="0" anchor="ctr"/>
          <a:lstStyle/>
          <a:p>
            <a:pPr indent="0" marL="0">
              <a:buNone/>
            </a:pPr>
            <a:r>
              <a:rPr lang="en-US" sz="1300" dirty="0">
                <a:solidFill>
                  <a:schemeClr val="tx1"/>
                </a:solidFill>
              </a:rPr>
              <a:t>Calculs</a:t>
            </a:r>
            <a:endParaRPr lang="en-US" sz="1300" dirty="0"/>
          </a:p>
        </p:txBody>
      </p:sp>
      <p:sp>
        <p:nvSpPr>
          <p:cNvPr id="16" name="Étape 4"/>
          <p:cNvSpPr/>
          <p:nvPr/>
        </p:nvSpPr>
        <p:spPr>
          <a:xfrm>
            <a:off x="7589520" y="3090672"/>
            <a:ext cx="274320" cy="274320"/>
          </a:xfrm>
          <a:prstGeom prst="ellipse">
            <a:avLst/>
          </a:prstGeom>
          <a:solidFill>
            <a:schemeClr val="accent1"/>
          </a:solidFill>
          <a:ln w="12700">
            <a:solidFill>
              <a:schemeClr val="accent1"/>
            </a:solidFill>
            <a:prstDash val="solid"/>
          </a:ln>
        </p:spPr>
      </p:sp>
      <p:sp>
        <p:nvSpPr>
          <p:cNvPr id="17" name="Text 13"/>
          <p:cNvSpPr txBox="1"/>
          <p:nvPr/>
        </p:nvSpPr>
        <p:spPr>
          <a:xfrm>
            <a:off x="7589520" y="3090672"/>
            <a:ext cx="274320" cy="274320"/>
          </a:xfrm>
          <a:prstGeom prst="rect">
            <a:avLst/>
          </a:prstGeom>
          <a:noFill/>
          <a:ln/>
        </p:spPr>
        <p:txBody>
          <a:bodyPr wrap="square" lIns="0" tIns="0" rIns="0" bIns="0" rtlCol="0" anchor="ctr"/>
          <a:lstStyle/>
          <a:p>
            <a:pPr algn="ctr" indent="0" marL="0">
              <a:buNone/>
            </a:pPr>
            <a:r>
              <a:rPr lang="en-US" sz="1000" b="1" dirty="0">
                <a:solidFill>
                  <a:schemeClr val="bg1"/>
                </a:solidFill>
              </a:rPr>
              <a:t>4</a:t>
            </a:r>
            <a:endParaRPr lang="en-US" sz="1000" dirty="0"/>
          </a:p>
        </p:txBody>
      </p:sp>
      <p:sp>
        <p:nvSpPr>
          <p:cNvPr id="18" name="Text 14"/>
          <p:cNvSpPr txBox="1"/>
          <p:nvPr/>
        </p:nvSpPr>
        <p:spPr>
          <a:xfrm>
            <a:off x="8001000" y="3063240"/>
            <a:ext cx="3383280" cy="329184"/>
          </a:xfrm>
          <a:prstGeom prst="rect">
            <a:avLst/>
          </a:prstGeom>
          <a:noFill/>
          <a:ln/>
        </p:spPr>
        <p:txBody>
          <a:bodyPr wrap="square" lIns="0" tIns="0" rIns="0" bIns="0" rtlCol="0" anchor="ctr"/>
          <a:lstStyle/>
          <a:p>
            <a:pPr indent="0" marL="0">
              <a:buNone/>
            </a:pPr>
            <a:r>
              <a:rPr lang="en-US" sz="1300" dirty="0">
                <a:solidFill>
                  <a:schemeClr val="tx1"/>
                </a:solidFill>
              </a:rPr>
              <a:t>Connexion et rôles</a:t>
            </a:r>
            <a:endParaRPr lang="en-US" sz="1300" dirty="0"/>
          </a:p>
        </p:txBody>
      </p:sp>
      <p:sp>
        <p:nvSpPr>
          <p:cNvPr id="19" name="Étape 5"/>
          <p:cNvSpPr/>
          <p:nvPr/>
        </p:nvSpPr>
        <p:spPr>
          <a:xfrm>
            <a:off x="7589520" y="3456432"/>
            <a:ext cx="274320" cy="274320"/>
          </a:xfrm>
          <a:prstGeom prst="ellipse">
            <a:avLst/>
          </a:prstGeom>
          <a:solidFill>
            <a:schemeClr val="accent1"/>
          </a:solidFill>
          <a:ln w="12700">
            <a:solidFill>
              <a:schemeClr val="accent1"/>
            </a:solidFill>
            <a:prstDash val="solid"/>
          </a:ln>
        </p:spPr>
      </p:sp>
      <p:sp>
        <p:nvSpPr>
          <p:cNvPr id="20" name="Text 16"/>
          <p:cNvSpPr txBox="1"/>
          <p:nvPr/>
        </p:nvSpPr>
        <p:spPr>
          <a:xfrm>
            <a:off x="7589520" y="3456432"/>
            <a:ext cx="274320" cy="274320"/>
          </a:xfrm>
          <a:prstGeom prst="rect">
            <a:avLst/>
          </a:prstGeom>
          <a:noFill/>
          <a:ln/>
        </p:spPr>
        <p:txBody>
          <a:bodyPr wrap="square" lIns="0" tIns="0" rIns="0" bIns="0" rtlCol="0" anchor="ctr"/>
          <a:lstStyle/>
          <a:p>
            <a:pPr algn="ctr" indent="0" marL="0">
              <a:buNone/>
            </a:pPr>
            <a:r>
              <a:rPr lang="en-US" sz="1000" b="1" dirty="0">
                <a:solidFill>
                  <a:schemeClr val="bg1"/>
                </a:solidFill>
              </a:rPr>
              <a:t>5</a:t>
            </a:r>
            <a:endParaRPr lang="en-US" sz="1000" dirty="0"/>
          </a:p>
        </p:txBody>
      </p:sp>
      <p:sp>
        <p:nvSpPr>
          <p:cNvPr id="21" name="Text 17"/>
          <p:cNvSpPr txBox="1"/>
          <p:nvPr/>
        </p:nvSpPr>
        <p:spPr>
          <a:xfrm>
            <a:off x="8001000" y="3429000"/>
            <a:ext cx="3383280" cy="329184"/>
          </a:xfrm>
          <a:prstGeom prst="rect">
            <a:avLst/>
          </a:prstGeom>
          <a:noFill/>
          <a:ln/>
        </p:spPr>
        <p:txBody>
          <a:bodyPr wrap="square" lIns="0" tIns="0" rIns="0" bIns="0" rtlCol="0" anchor="ctr"/>
          <a:lstStyle/>
          <a:p>
            <a:pPr indent="0" marL="0">
              <a:buNone/>
            </a:pPr>
            <a:r>
              <a:rPr lang="en-US" sz="1300" dirty="0">
                <a:solidFill>
                  <a:schemeClr val="tx1"/>
                </a:solidFill>
              </a:rPr>
              <a:t>Espace élève</a:t>
            </a:r>
            <a:endParaRPr lang="en-US" sz="1300" dirty="0"/>
          </a:p>
        </p:txBody>
      </p:sp>
      <p:sp>
        <p:nvSpPr>
          <p:cNvPr id="22" name="Étape 6"/>
          <p:cNvSpPr/>
          <p:nvPr/>
        </p:nvSpPr>
        <p:spPr>
          <a:xfrm>
            <a:off x="7589520" y="3822192"/>
            <a:ext cx="274320" cy="274320"/>
          </a:xfrm>
          <a:prstGeom prst="ellipse">
            <a:avLst/>
          </a:prstGeom>
          <a:solidFill>
            <a:schemeClr val="accent1"/>
          </a:solidFill>
          <a:ln w="12700">
            <a:solidFill>
              <a:schemeClr val="accent1"/>
            </a:solidFill>
            <a:prstDash val="solid"/>
          </a:ln>
        </p:spPr>
      </p:sp>
      <p:sp>
        <p:nvSpPr>
          <p:cNvPr id="23" name="Text 19"/>
          <p:cNvSpPr txBox="1"/>
          <p:nvPr/>
        </p:nvSpPr>
        <p:spPr>
          <a:xfrm>
            <a:off x="7589520" y="3822192"/>
            <a:ext cx="274320" cy="274320"/>
          </a:xfrm>
          <a:prstGeom prst="rect">
            <a:avLst/>
          </a:prstGeom>
          <a:noFill/>
          <a:ln/>
        </p:spPr>
        <p:txBody>
          <a:bodyPr wrap="square" lIns="0" tIns="0" rIns="0" bIns="0" rtlCol="0" anchor="ctr"/>
          <a:lstStyle/>
          <a:p>
            <a:pPr algn="ctr" indent="0" marL="0">
              <a:buNone/>
            </a:pPr>
            <a:r>
              <a:rPr lang="en-US" sz="1000" b="1" dirty="0">
                <a:solidFill>
                  <a:schemeClr val="bg1"/>
                </a:solidFill>
              </a:rPr>
              <a:t>6</a:t>
            </a:r>
            <a:endParaRPr lang="en-US" sz="1000" dirty="0"/>
          </a:p>
        </p:txBody>
      </p:sp>
      <p:sp>
        <p:nvSpPr>
          <p:cNvPr id="24" name="Text 20"/>
          <p:cNvSpPr txBox="1"/>
          <p:nvPr/>
        </p:nvSpPr>
        <p:spPr>
          <a:xfrm>
            <a:off x="8001000" y="3794760"/>
            <a:ext cx="3383280" cy="329184"/>
          </a:xfrm>
          <a:prstGeom prst="rect">
            <a:avLst/>
          </a:prstGeom>
          <a:noFill/>
          <a:ln/>
        </p:spPr>
        <p:txBody>
          <a:bodyPr wrap="square" lIns="0" tIns="0" rIns="0" bIns="0" rtlCol="0" anchor="ctr"/>
          <a:lstStyle/>
          <a:p>
            <a:pPr indent="0" marL="0">
              <a:buNone/>
            </a:pPr>
            <a:r>
              <a:rPr lang="en-US" sz="1300" dirty="0">
                <a:solidFill>
                  <a:schemeClr val="tx1"/>
                </a:solidFill>
              </a:rPr>
              <a:t>Évaluations et saisie</a:t>
            </a:r>
            <a:endParaRPr lang="en-US" sz="1300" dirty="0"/>
          </a:p>
        </p:txBody>
      </p:sp>
      <p:sp>
        <p:nvSpPr>
          <p:cNvPr id="25" name="Étape 7"/>
          <p:cNvSpPr/>
          <p:nvPr/>
        </p:nvSpPr>
        <p:spPr>
          <a:xfrm>
            <a:off x="7589520" y="4187952"/>
            <a:ext cx="274320" cy="274320"/>
          </a:xfrm>
          <a:prstGeom prst="ellipse">
            <a:avLst/>
          </a:prstGeom>
          <a:solidFill>
            <a:schemeClr val="accent1"/>
          </a:solidFill>
          <a:ln w="12700">
            <a:solidFill>
              <a:schemeClr val="accent1"/>
            </a:solidFill>
            <a:prstDash val="solid"/>
          </a:ln>
        </p:spPr>
      </p:sp>
      <p:sp>
        <p:nvSpPr>
          <p:cNvPr id="26" name="Text 22"/>
          <p:cNvSpPr txBox="1"/>
          <p:nvPr/>
        </p:nvSpPr>
        <p:spPr>
          <a:xfrm>
            <a:off x="7589520" y="4187952"/>
            <a:ext cx="274320" cy="274320"/>
          </a:xfrm>
          <a:prstGeom prst="rect">
            <a:avLst/>
          </a:prstGeom>
          <a:noFill/>
          <a:ln/>
        </p:spPr>
        <p:txBody>
          <a:bodyPr wrap="square" lIns="0" tIns="0" rIns="0" bIns="0" rtlCol="0" anchor="ctr"/>
          <a:lstStyle/>
          <a:p>
            <a:pPr algn="ctr" indent="0" marL="0">
              <a:buNone/>
            </a:pPr>
            <a:r>
              <a:rPr lang="en-US" sz="1000" b="1" dirty="0">
                <a:solidFill>
                  <a:schemeClr val="bg1"/>
                </a:solidFill>
              </a:rPr>
              <a:t>7</a:t>
            </a:r>
            <a:endParaRPr lang="en-US" sz="1000" dirty="0"/>
          </a:p>
        </p:txBody>
      </p:sp>
      <p:sp>
        <p:nvSpPr>
          <p:cNvPr id="27" name="Text 23"/>
          <p:cNvSpPr txBox="1"/>
          <p:nvPr/>
        </p:nvSpPr>
        <p:spPr>
          <a:xfrm>
            <a:off x="8001000" y="4160520"/>
            <a:ext cx="3383280" cy="329184"/>
          </a:xfrm>
          <a:prstGeom prst="rect">
            <a:avLst/>
          </a:prstGeom>
          <a:noFill/>
          <a:ln/>
        </p:spPr>
        <p:txBody>
          <a:bodyPr wrap="square" lIns="0" tIns="0" rIns="0" bIns="0" rtlCol="0" anchor="ctr"/>
          <a:lstStyle/>
          <a:p>
            <a:pPr indent="0" marL="0">
              <a:buNone/>
            </a:pPr>
            <a:r>
              <a:rPr lang="en-US" sz="1300" dirty="0">
                <a:solidFill>
                  <a:schemeClr val="tx1"/>
                </a:solidFill>
              </a:rPr>
              <a:t>Listes de classe</a:t>
            </a:r>
            <a:endParaRPr lang="en-US" sz="1300" dirty="0"/>
          </a:p>
        </p:txBody>
      </p:sp>
      <p:sp>
        <p:nvSpPr>
          <p:cNvPr id="28" name="Étape 8"/>
          <p:cNvSpPr/>
          <p:nvPr/>
        </p:nvSpPr>
        <p:spPr>
          <a:xfrm>
            <a:off x="7589520" y="4553712"/>
            <a:ext cx="274320" cy="274320"/>
          </a:xfrm>
          <a:prstGeom prst="ellipse">
            <a:avLst/>
          </a:prstGeom>
          <a:solidFill>
            <a:schemeClr val="accent1"/>
          </a:solidFill>
          <a:ln w="12700">
            <a:solidFill>
              <a:schemeClr val="accent1"/>
            </a:solidFill>
            <a:prstDash val="solid"/>
          </a:ln>
        </p:spPr>
      </p:sp>
      <p:sp>
        <p:nvSpPr>
          <p:cNvPr id="29" name="Text 25"/>
          <p:cNvSpPr txBox="1"/>
          <p:nvPr/>
        </p:nvSpPr>
        <p:spPr>
          <a:xfrm>
            <a:off x="7589520" y="4553712"/>
            <a:ext cx="274320" cy="274320"/>
          </a:xfrm>
          <a:prstGeom prst="rect">
            <a:avLst/>
          </a:prstGeom>
          <a:noFill/>
          <a:ln/>
        </p:spPr>
        <p:txBody>
          <a:bodyPr wrap="square" lIns="0" tIns="0" rIns="0" bIns="0" rtlCol="0" anchor="ctr"/>
          <a:lstStyle/>
          <a:p>
            <a:pPr algn="ctr" indent="0" marL="0">
              <a:buNone/>
            </a:pPr>
            <a:r>
              <a:rPr lang="en-US" sz="1000" b="1" dirty="0">
                <a:solidFill>
                  <a:schemeClr val="bg1"/>
                </a:solidFill>
              </a:rPr>
              <a:t>8</a:t>
            </a:r>
            <a:endParaRPr lang="en-US" sz="1000" dirty="0"/>
          </a:p>
        </p:txBody>
      </p:sp>
      <p:sp>
        <p:nvSpPr>
          <p:cNvPr id="30" name="Text 26"/>
          <p:cNvSpPr txBox="1"/>
          <p:nvPr/>
        </p:nvSpPr>
        <p:spPr>
          <a:xfrm>
            <a:off x="8001000" y="4526280"/>
            <a:ext cx="3383280" cy="329184"/>
          </a:xfrm>
          <a:prstGeom prst="rect">
            <a:avLst/>
          </a:prstGeom>
          <a:noFill/>
          <a:ln/>
        </p:spPr>
        <p:txBody>
          <a:bodyPr wrap="square" lIns="0" tIns="0" rIns="0" bIns="0" rtlCol="0" anchor="ctr"/>
          <a:lstStyle/>
          <a:p>
            <a:pPr indent="0" marL="0">
              <a:buNone/>
            </a:pPr>
            <a:r>
              <a:rPr lang="en-US" sz="1300" dirty="0">
                <a:solidFill>
                  <a:schemeClr val="tx1"/>
                </a:solidFill>
              </a:rPr>
              <a:t>Statistiques</a:t>
            </a:r>
            <a:endParaRPr lang="en-US" sz="1300" dirty="0"/>
          </a:p>
        </p:txBody>
      </p:sp>
      <p:sp>
        <p:nvSpPr>
          <p:cNvPr id="31" name="Étape 9"/>
          <p:cNvSpPr/>
          <p:nvPr/>
        </p:nvSpPr>
        <p:spPr>
          <a:xfrm>
            <a:off x="7589520" y="4919472"/>
            <a:ext cx="274320" cy="274320"/>
          </a:xfrm>
          <a:prstGeom prst="ellipse">
            <a:avLst/>
          </a:prstGeom>
          <a:solidFill>
            <a:schemeClr val="accent1"/>
          </a:solidFill>
          <a:ln w="12700">
            <a:solidFill>
              <a:schemeClr val="accent1"/>
            </a:solidFill>
            <a:prstDash val="solid"/>
          </a:ln>
        </p:spPr>
      </p:sp>
      <p:sp>
        <p:nvSpPr>
          <p:cNvPr id="32" name="Text 28"/>
          <p:cNvSpPr txBox="1"/>
          <p:nvPr/>
        </p:nvSpPr>
        <p:spPr>
          <a:xfrm>
            <a:off x="7589520" y="4919472"/>
            <a:ext cx="274320" cy="274320"/>
          </a:xfrm>
          <a:prstGeom prst="rect">
            <a:avLst/>
          </a:prstGeom>
          <a:noFill/>
          <a:ln/>
        </p:spPr>
        <p:txBody>
          <a:bodyPr wrap="square" lIns="0" tIns="0" rIns="0" bIns="0" rtlCol="0" anchor="ctr"/>
          <a:lstStyle/>
          <a:p>
            <a:pPr algn="ctr" indent="0" marL="0">
              <a:buNone/>
            </a:pPr>
            <a:r>
              <a:rPr lang="en-US" sz="1000" b="1" dirty="0">
                <a:solidFill>
                  <a:schemeClr val="bg1"/>
                </a:solidFill>
              </a:rPr>
              <a:t>9</a:t>
            </a:r>
            <a:endParaRPr lang="en-US" sz="1000" dirty="0"/>
          </a:p>
        </p:txBody>
      </p:sp>
      <p:sp>
        <p:nvSpPr>
          <p:cNvPr id="33" name="Text 29"/>
          <p:cNvSpPr txBox="1"/>
          <p:nvPr/>
        </p:nvSpPr>
        <p:spPr>
          <a:xfrm>
            <a:off x="8001000" y="4892040"/>
            <a:ext cx="3383280" cy="329184"/>
          </a:xfrm>
          <a:prstGeom prst="rect">
            <a:avLst/>
          </a:prstGeom>
          <a:noFill/>
          <a:ln/>
        </p:spPr>
        <p:txBody>
          <a:bodyPr wrap="square" lIns="0" tIns="0" rIns="0" bIns="0" rtlCol="0" anchor="ctr"/>
          <a:lstStyle/>
          <a:p>
            <a:pPr indent="0" marL="0">
              <a:buNone/>
            </a:pPr>
            <a:r>
              <a:rPr lang="en-US" sz="1300" dirty="0">
                <a:solidFill>
                  <a:schemeClr val="tx1"/>
                </a:solidFill>
              </a:rPr>
              <a:t>Administration</a:t>
            </a:r>
            <a:endParaRPr lang="en-US" sz="1300" dirty="0"/>
          </a:p>
        </p:txBody>
      </p:sp>
      <p:sp>
        <p:nvSpPr>
          <p:cNvPr id="34" name="Étape 10"/>
          <p:cNvSpPr/>
          <p:nvPr/>
        </p:nvSpPr>
        <p:spPr>
          <a:xfrm>
            <a:off x="7589520" y="5285232"/>
            <a:ext cx="274320" cy="274320"/>
          </a:xfrm>
          <a:prstGeom prst="ellipse">
            <a:avLst/>
          </a:prstGeom>
          <a:solidFill>
            <a:schemeClr val="accent1"/>
          </a:solidFill>
          <a:ln w="12700">
            <a:solidFill>
              <a:schemeClr val="accent1"/>
            </a:solidFill>
            <a:prstDash val="solid"/>
          </a:ln>
        </p:spPr>
      </p:sp>
      <p:sp>
        <p:nvSpPr>
          <p:cNvPr id="35" name="Text 31"/>
          <p:cNvSpPr txBox="1"/>
          <p:nvPr/>
        </p:nvSpPr>
        <p:spPr>
          <a:xfrm>
            <a:off x="7589520" y="5285232"/>
            <a:ext cx="274320" cy="274320"/>
          </a:xfrm>
          <a:prstGeom prst="rect">
            <a:avLst/>
          </a:prstGeom>
          <a:noFill/>
          <a:ln/>
        </p:spPr>
        <p:txBody>
          <a:bodyPr wrap="square" lIns="0" tIns="0" rIns="0" bIns="0" rtlCol="0" anchor="ctr"/>
          <a:lstStyle/>
          <a:p>
            <a:pPr algn="ctr" indent="0" marL="0">
              <a:buNone/>
            </a:pPr>
            <a:r>
              <a:rPr lang="en-US" sz="1000" b="1" dirty="0">
                <a:solidFill>
                  <a:schemeClr val="bg1"/>
                </a:solidFill>
              </a:rPr>
              <a:t>10</a:t>
            </a:r>
            <a:endParaRPr lang="en-US" sz="1000" dirty="0"/>
          </a:p>
        </p:txBody>
      </p:sp>
      <p:sp>
        <p:nvSpPr>
          <p:cNvPr id="36" name="Text 32"/>
          <p:cNvSpPr txBox="1"/>
          <p:nvPr/>
        </p:nvSpPr>
        <p:spPr>
          <a:xfrm>
            <a:off x="8001000" y="5257800"/>
            <a:ext cx="3383280" cy="329184"/>
          </a:xfrm>
          <a:prstGeom prst="rect">
            <a:avLst/>
          </a:prstGeom>
          <a:noFill/>
          <a:ln/>
        </p:spPr>
        <p:txBody>
          <a:bodyPr wrap="square" lIns="0" tIns="0" rIns="0" bIns="0" rtlCol="0" anchor="ctr"/>
          <a:lstStyle/>
          <a:p>
            <a:pPr indent="0" marL="0">
              <a:buNone/>
            </a:pPr>
            <a:r>
              <a:rPr lang="en-US" sz="1300" dirty="0">
                <a:solidFill>
                  <a:schemeClr val="tx1"/>
                </a:solidFill>
              </a:rPr>
              <a:t>Import</a:t>
            </a:r>
            <a:endParaRPr lang="en-US" sz="1300" dirty="0"/>
          </a:p>
        </p:txBody>
      </p:sp>
      <p:sp>
        <p:nvSpPr>
          <p:cNvPr id="37" name="Étape 11"/>
          <p:cNvSpPr/>
          <p:nvPr/>
        </p:nvSpPr>
        <p:spPr>
          <a:xfrm>
            <a:off x="7589520" y="5650992"/>
            <a:ext cx="274320" cy="274320"/>
          </a:xfrm>
          <a:prstGeom prst="ellipse">
            <a:avLst/>
          </a:prstGeom>
          <a:solidFill>
            <a:schemeClr val="accent1"/>
          </a:solidFill>
          <a:ln w="12700">
            <a:solidFill>
              <a:schemeClr val="accent1"/>
            </a:solidFill>
            <a:prstDash val="solid"/>
          </a:ln>
        </p:spPr>
      </p:sp>
      <p:sp>
        <p:nvSpPr>
          <p:cNvPr id="38" name="Text 34"/>
          <p:cNvSpPr txBox="1"/>
          <p:nvPr/>
        </p:nvSpPr>
        <p:spPr>
          <a:xfrm>
            <a:off x="7589520" y="5650992"/>
            <a:ext cx="274320" cy="274320"/>
          </a:xfrm>
          <a:prstGeom prst="rect">
            <a:avLst/>
          </a:prstGeom>
          <a:noFill/>
          <a:ln/>
        </p:spPr>
        <p:txBody>
          <a:bodyPr wrap="square" lIns="0" tIns="0" rIns="0" bIns="0" rtlCol="0" anchor="ctr"/>
          <a:lstStyle/>
          <a:p>
            <a:pPr algn="ctr" indent="0" marL="0">
              <a:buNone/>
            </a:pPr>
            <a:r>
              <a:rPr lang="en-US" sz="1000" b="1" dirty="0">
                <a:solidFill>
                  <a:schemeClr val="bg1"/>
                </a:solidFill>
              </a:rPr>
              <a:t>11</a:t>
            </a:r>
            <a:endParaRPr lang="en-US" sz="1000" dirty="0"/>
          </a:p>
        </p:txBody>
      </p:sp>
      <p:sp>
        <p:nvSpPr>
          <p:cNvPr id="39" name="Text 35"/>
          <p:cNvSpPr txBox="1"/>
          <p:nvPr/>
        </p:nvSpPr>
        <p:spPr>
          <a:xfrm>
            <a:off x="8001000" y="5623560"/>
            <a:ext cx="3383280" cy="329184"/>
          </a:xfrm>
          <a:prstGeom prst="rect">
            <a:avLst/>
          </a:prstGeom>
          <a:noFill/>
          <a:ln/>
        </p:spPr>
        <p:txBody>
          <a:bodyPr wrap="square" lIns="0" tIns="0" rIns="0" bIns="0" rtlCol="0" anchor="ctr"/>
          <a:lstStyle/>
          <a:p>
            <a:pPr indent="0" marL="0">
              <a:buNone/>
            </a:pPr>
            <a:r>
              <a:rPr lang="en-US" sz="1300" dirty="0">
                <a:solidFill>
                  <a:schemeClr val="tx1"/>
                </a:solidFill>
              </a:rPr>
              <a:t>Finitions</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685800"/>
          </a:xfrm>
          <a:prstGeom prst="rect">
            <a:avLst/>
          </a:prstGeom>
          <a:noFill/>
          <a:ln/>
        </p:spPr>
        <p:txBody>
          <a:bodyPr wrap="square" lIns="0" tIns="0" rIns="0" bIns="0" rtlCol="0" anchor="ctr"/>
          <a:lstStyle/>
          <a:p>
            <a:pPr indent="0" marL="0">
              <a:buNone/>
            </a:pPr>
            <a:r>
              <a:rPr lang="en-US" sz="3000" b="1" dirty="0">
                <a:solidFill>
                  <a:schemeClr val="bg1"/>
                </a:solidFill>
              </a:rPr>
              <a:t>Conclusion</a:t>
            </a:r>
            <a:endParaRPr lang="en-US" sz="3000" dirty="0"/>
          </a:p>
        </p:txBody>
      </p:sp>
      <p:sp>
        <p:nvSpPr>
          <p:cNvPr id="4" name="Conclusion Bilan"/>
          <p:cNvSpPr/>
          <p:nvPr/>
        </p:nvSpPr>
        <p:spPr>
          <a:xfrm>
            <a:off x="548640" y="1371600"/>
            <a:ext cx="3520440" cy="4480560"/>
          </a:xfrm>
          <a:prstGeom prst="roundRect">
            <a:avLst>
              <a:gd name="adj" fmla="val 2597"/>
            </a:avLst>
          </a:prstGeom>
          <a:solidFill>
            <a:schemeClr val="tx2"/>
          </a:solidFill>
          <a:ln w="12700">
            <a:solidFill>
              <a:schemeClr val="tx2"/>
            </a:solidFill>
            <a:prstDash val="solid"/>
          </a:ln>
        </p:spPr>
      </p:sp>
      <p:sp>
        <p:nvSpPr>
          <p:cNvPr id="5" name="Pastille"/>
          <p:cNvSpPr/>
          <p:nvPr/>
        </p:nvSpPr>
        <p:spPr>
          <a:xfrm>
            <a:off x="822960" y="1645920"/>
            <a:ext cx="731520" cy="731520"/>
          </a:xfrm>
          <a:prstGeom prst="ellipse">
            <a:avLst/>
          </a:prstGeom>
          <a:solidFill>
            <a:srgbClr val="047857"/>
          </a:solidFill>
          <a:ln w="12700">
            <a:solidFill>
              <a:srgbClr val="047857"/>
            </a:solidFill>
            <a:prstDash val="solid"/>
          </a:ln>
        </p:spPr>
      </p:sp>
      <p:pic>
        <p:nvPicPr>
          <p:cNvPr id="6" name="Icône LuCircleCheck" descr="preencoded.png">    </p:cNvPr>
          <p:cNvPicPr>
            <a:picLocks noChangeAspect="1"/>
          </p:cNvPicPr>
          <p:nvPr/>
        </p:nvPicPr>
        <p:blipFill>
          <a:blip r:embed="rId1"/>
          <a:stretch>
            <a:fillRect/>
          </a:stretch>
        </p:blipFill>
        <p:spPr>
          <a:xfrm>
            <a:off x="983894" y="1806854"/>
            <a:ext cx="409651" cy="409651"/>
          </a:xfrm>
          <a:prstGeom prst="rect">
            <a:avLst/>
          </a:prstGeom>
        </p:spPr>
      </p:pic>
      <p:sp>
        <p:nvSpPr>
          <p:cNvPr id="7" name="Text 3"/>
          <p:cNvSpPr txBox="1"/>
          <p:nvPr/>
        </p:nvSpPr>
        <p:spPr>
          <a:xfrm>
            <a:off x="822960" y="2514600"/>
            <a:ext cx="3017520" cy="457200"/>
          </a:xfrm>
          <a:prstGeom prst="rect">
            <a:avLst/>
          </a:prstGeom>
          <a:noFill/>
          <a:ln/>
        </p:spPr>
        <p:txBody>
          <a:bodyPr wrap="square" lIns="0" tIns="0" rIns="0" bIns="0" rtlCol="0" anchor="ctr"/>
          <a:lstStyle/>
          <a:p>
            <a:pPr indent="0" marL="0">
              <a:buNone/>
            </a:pPr>
            <a:r>
              <a:rPr lang="en-US" sz="2000" b="1" dirty="0">
                <a:solidFill>
                  <a:schemeClr val="bg1"/>
                </a:solidFill>
              </a:rPr>
              <a:t>Bilan</a:t>
            </a:r>
            <a:endParaRPr lang="en-US" sz="2000" dirty="0"/>
          </a:p>
        </p:txBody>
      </p:sp>
      <p:sp>
        <p:nvSpPr>
          <p:cNvPr id="8" name="Liste"/>
          <p:cNvSpPr txBox="1"/>
          <p:nvPr/>
        </p:nvSpPr>
        <p:spPr>
          <a:xfrm>
            <a:off x="822960" y="3108960"/>
            <a:ext cx="3017520" cy="2651760"/>
          </a:xfrm>
          <a:prstGeom prst="rect">
            <a:avLst/>
          </a:prstGeom>
          <a:noFill/>
          <a:ln/>
        </p:spPr>
        <p:txBody>
          <a:bodyPr wrap="square" lIns="0" tIns="0" rIns="0" bIns="0" rtlCol="0" anchor="t"/>
          <a:lstStyle/>
          <a:p>
            <a:pPr marL="203200" indent="-203200">
              <a:spcAft>
                <a:spcPts val="800"/>
              </a:spcAft>
              <a:buSzPct val="100000"/>
              <a:buChar char="•"/>
            </a:pPr>
            <a:r>
              <a:rPr lang="en-US" sz="1400" dirty="0">
                <a:solidFill>
                  <a:srgbClr val="E2E8F0"/>
                </a:solidFill>
              </a:rPr>
              <a:t>Toutes les fonctionnalités du sujet et les 2 bonus</a:t>
            </a:r>
            <a:endParaRPr lang="en-US" sz="1400" dirty="0"/>
          </a:p>
          <a:p>
            <a:pPr marL="203200" indent="-203200">
              <a:spcAft>
                <a:spcPts val="800"/>
              </a:spcAft>
              <a:buSzPct val="100000"/>
              <a:buChar char="•"/>
            </a:pPr>
            <a:r>
              <a:rPr lang="en-US" sz="1400" dirty="0">
                <a:solidFill>
                  <a:srgbClr val="E2E8F0"/>
                </a:solidFill>
              </a:rPr>
              <a:t>Extensions : évaluations, administration, import</a:t>
            </a:r>
            <a:endParaRPr lang="en-US" sz="1400" dirty="0"/>
          </a:p>
          <a:p>
            <a:pPr marL="203200" indent="-203200">
              <a:spcAft>
                <a:spcPts val="800"/>
              </a:spcAft>
              <a:buSzPct val="100000"/>
              <a:buChar char="•"/>
            </a:pPr>
            <a:r>
              <a:rPr lang="en-US" sz="1400" dirty="0">
                <a:solidFill>
                  <a:srgbClr val="E2E8F0"/>
                </a:solidFill>
              </a:rPr>
              <a:t>84 tests, 0 erreur HTML, site adapté au téléphone</a:t>
            </a:r>
            <a:endParaRPr lang="en-US" sz="1400" dirty="0"/>
          </a:p>
        </p:txBody>
      </p:sp>
      <p:sp>
        <p:nvSpPr>
          <p:cNvPr id="9" name="Conclusion Limites"/>
          <p:cNvSpPr/>
          <p:nvPr/>
        </p:nvSpPr>
        <p:spPr>
          <a:xfrm>
            <a:off x="4297680" y="1371600"/>
            <a:ext cx="3520440" cy="4480560"/>
          </a:xfrm>
          <a:prstGeom prst="roundRect">
            <a:avLst>
              <a:gd name="adj" fmla="val 2597"/>
            </a:avLst>
          </a:prstGeom>
          <a:solidFill>
            <a:schemeClr val="tx2"/>
          </a:solidFill>
          <a:ln w="12700">
            <a:solidFill>
              <a:schemeClr val="tx2"/>
            </a:solidFill>
            <a:prstDash val="solid"/>
          </a:ln>
        </p:spPr>
      </p:sp>
      <p:sp>
        <p:nvSpPr>
          <p:cNvPr id="10" name="Pastille"/>
          <p:cNvSpPr/>
          <p:nvPr/>
        </p:nvSpPr>
        <p:spPr>
          <a:xfrm>
            <a:off x="4572000" y="1645920"/>
            <a:ext cx="731520" cy="731520"/>
          </a:xfrm>
          <a:prstGeom prst="ellipse">
            <a:avLst/>
          </a:prstGeom>
          <a:solidFill>
            <a:srgbClr val="B45309"/>
          </a:solidFill>
          <a:ln w="12700">
            <a:solidFill>
              <a:srgbClr val="B45309"/>
            </a:solidFill>
            <a:prstDash val="solid"/>
          </a:ln>
        </p:spPr>
      </p:sp>
      <p:pic>
        <p:nvPicPr>
          <p:cNvPr id="11" name="Icône LuTriangleAlert" descr="preencoded.png">    </p:cNvPr>
          <p:cNvPicPr>
            <a:picLocks noChangeAspect="1"/>
          </p:cNvPicPr>
          <p:nvPr/>
        </p:nvPicPr>
        <p:blipFill>
          <a:blip r:embed="rId2"/>
          <a:stretch>
            <a:fillRect/>
          </a:stretch>
        </p:blipFill>
        <p:spPr>
          <a:xfrm>
            <a:off x="4732934" y="1806854"/>
            <a:ext cx="409651" cy="409651"/>
          </a:xfrm>
          <a:prstGeom prst="rect">
            <a:avLst/>
          </a:prstGeom>
        </p:spPr>
      </p:pic>
      <p:sp>
        <p:nvSpPr>
          <p:cNvPr id="12" name="Text 7"/>
          <p:cNvSpPr txBox="1"/>
          <p:nvPr/>
        </p:nvSpPr>
        <p:spPr>
          <a:xfrm>
            <a:off x="4572000" y="2514600"/>
            <a:ext cx="3017520" cy="457200"/>
          </a:xfrm>
          <a:prstGeom prst="rect">
            <a:avLst/>
          </a:prstGeom>
          <a:noFill/>
          <a:ln/>
        </p:spPr>
        <p:txBody>
          <a:bodyPr wrap="square" lIns="0" tIns="0" rIns="0" bIns="0" rtlCol="0" anchor="ctr"/>
          <a:lstStyle/>
          <a:p>
            <a:pPr indent="0" marL="0">
              <a:buNone/>
            </a:pPr>
            <a:r>
              <a:rPr lang="en-US" sz="2000" b="1" dirty="0">
                <a:solidFill>
                  <a:schemeClr val="bg1"/>
                </a:solidFill>
              </a:rPr>
              <a:t>Limites</a:t>
            </a:r>
            <a:endParaRPr lang="en-US" sz="2000" dirty="0"/>
          </a:p>
        </p:txBody>
      </p:sp>
      <p:sp>
        <p:nvSpPr>
          <p:cNvPr id="13" name="Liste"/>
          <p:cNvSpPr txBox="1"/>
          <p:nvPr/>
        </p:nvSpPr>
        <p:spPr>
          <a:xfrm>
            <a:off x="4572000" y="3108960"/>
            <a:ext cx="3017520" cy="2651760"/>
          </a:xfrm>
          <a:prstGeom prst="rect">
            <a:avLst/>
          </a:prstGeom>
          <a:noFill/>
          <a:ln/>
        </p:spPr>
        <p:txBody>
          <a:bodyPr wrap="square" lIns="0" tIns="0" rIns="0" bIns="0" rtlCol="0" anchor="t"/>
          <a:lstStyle/>
          <a:p>
            <a:pPr marL="203200" indent="-203200">
              <a:spcAft>
                <a:spcPts val="800"/>
              </a:spcAft>
              <a:buSzPct val="100000"/>
              <a:buChar char="•"/>
            </a:pPr>
            <a:r>
              <a:rPr lang="en-US" sz="1400" dirty="0">
                <a:solidFill>
                  <a:srgbClr val="E2E8F0"/>
                </a:solidFill>
              </a:rPr>
              <a:t>Serveur de développement Flask (pas de production)</a:t>
            </a:r>
            <a:endParaRPr lang="en-US" sz="1400" dirty="0"/>
          </a:p>
          <a:p>
            <a:pPr marL="203200" indent="-203200">
              <a:spcAft>
                <a:spcPts val="800"/>
              </a:spcAft>
              <a:buSzPct val="100000"/>
              <a:buChar char="•"/>
            </a:pPr>
            <a:r>
              <a:rPr lang="en-US" sz="1400" dirty="0">
                <a:solidFill>
                  <a:srgbClr val="E2E8F0"/>
                </a:solidFill>
              </a:rPr>
              <a:t>Une seule évaluation par matière et par séquence</a:t>
            </a:r>
            <a:endParaRPr lang="en-US" sz="1400" dirty="0"/>
          </a:p>
          <a:p>
            <a:pPr marL="203200" indent="-203200">
              <a:spcAft>
                <a:spcPts val="800"/>
              </a:spcAft>
              <a:buSzPct val="100000"/>
              <a:buChar char="•"/>
            </a:pPr>
            <a:r>
              <a:rPr lang="en-US" sz="1400" dirty="0">
                <a:solidFill>
                  <a:srgbClr val="E2E8F0"/>
                </a:solidFill>
              </a:rPr>
              <a:t>Pas d'envoi des codes par SMS ou courriel</a:t>
            </a:r>
            <a:endParaRPr lang="en-US" sz="1400" dirty="0"/>
          </a:p>
        </p:txBody>
      </p:sp>
      <p:sp>
        <p:nvSpPr>
          <p:cNvPr id="14" name="Conclusion Améliorations"/>
          <p:cNvSpPr/>
          <p:nvPr/>
        </p:nvSpPr>
        <p:spPr>
          <a:xfrm>
            <a:off x="8046720" y="1371600"/>
            <a:ext cx="3520440" cy="4480560"/>
          </a:xfrm>
          <a:prstGeom prst="roundRect">
            <a:avLst>
              <a:gd name="adj" fmla="val 2597"/>
            </a:avLst>
          </a:prstGeom>
          <a:solidFill>
            <a:schemeClr val="tx2"/>
          </a:solidFill>
          <a:ln w="12700">
            <a:solidFill>
              <a:schemeClr val="tx2"/>
            </a:solidFill>
            <a:prstDash val="solid"/>
          </a:ln>
        </p:spPr>
      </p:sp>
      <p:sp>
        <p:nvSpPr>
          <p:cNvPr id="15" name="Pastille"/>
          <p:cNvSpPr/>
          <p:nvPr/>
        </p:nvSpPr>
        <p:spPr>
          <a:xfrm>
            <a:off x="8321040" y="1645920"/>
            <a:ext cx="731520" cy="731520"/>
          </a:xfrm>
          <a:prstGeom prst="ellipse">
            <a:avLst/>
          </a:prstGeom>
          <a:solidFill>
            <a:srgbClr val="1D4ED8"/>
          </a:solidFill>
          <a:ln w="12700">
            <a:solidFill>
              <a:srgbClr val="1D4ED8"/>
            </a:solidFill>
            <a:prstDash val="solid"/>
          </a:ln>
        </p:spPr>
      </p:sp>
      <p:pic>
        <p:nvPicPr>
          <p:cNvPr id="16" name="Icône LuLightbulb" descr="preencoded.png">    </p:cNvPr>
          <p:cNvPicPr>
            <a:picLocks noChangeAspect="1"/>
          </p:cNvPicPr>
          <p:nvPr/>
        </p:nvPicPr>
        <p:blipFill>
          <a:blip r:embed="rId3"/>
          <a:stretch>
            <a:fillRect/>
          </a:stretch>
        </p:blipFill>
        <p:spPr>
          <a:xfrm>
            <a:off x="8481974" y="1806854"/>
            <a:ext cx="409651" cy="409651"/>
          </a:xfrm>
          <a:prstGeom prst="rect">
            <a:avLst/>
          </a:prstGeom>
        </p:spPr>
      </p:pic>
      <p:sp>
        <p:nvSpPr>
          <p:cNvPr id="17" name="Text 11"/>
          <p:cNvSpPr txBox="1"/>
          <p:nvPr/>
        </p:nvSpPr>
        <p:spPr>
          <a:xfrm>
            <a:off x="8321040" y="2514600"/>
            <a:ext cx="3017520" cy="457200"/>
          </a:xfrm>
          <a:prstGeom prst="rect">
            <a:avLst/>
          </a:prstGeom>
          <a:noFill/>
          <a:ln/>
        </p:spPr>
        <p:txBody>
          <a:bodyPr wrap="square" lIns="0" tIns="0" rIns="0" bIns="0" rtlCol="0" anchor="ctr"/>
          <a:lstStyle/>
          <a:p>
            <a:pPr indent="0" marL="0">
              <a:buNone/>
            </a:pPr>
            <a:r>
              <a:rPr lang="en-US" sz="2000" b="1" dirty="0">
                <a:solidFill>
                  <a:schemeClr val="bg1"/>
                </a:solidFill>
              </a:rPr>
              <a:t>Améliorations</a:t>
            </a:r>
            <a:endParaRPr lang="en-US" sz="2000" dirty="0"/>
          </a:p>
        </p:txBody>
      </p:sp>
      <p:sp>
        <p:nvSpPr>
          <p:cNvPr id="18" name="Liste"/>
          <p:cNvSpPr txBox="1"/>
          <p:nvPr/>
        </p:nvSpPr>
        <p:spPr>
          <a:xfrm>
            <a:off x="8321040" y="3108960"/>
            <a:ext cx="3017520" cy="2651760"/>
          </a:xfrm>
          <a:prstGeom prst="rect">
            <a:avLst/>
          </a:prstGeom>
          <a:noFill/>
          <a:ln/>
        </p:spPr>
        <p:txBody>
          <a:bodyPr wrap="square" lIns="0" tIns="0" rIns="0" bIns="0" rtlCol="0" anchor="t"/>
          <a:lstStyle/>
          <a:p>
            <a:pPr marL="203200" indent="-203200">
              <a:spcAft>
                <a:spcPts val="800"/>
              </a:spcAft>
              <a:buSzPct val="100000"/>
              <a:buChar char="•"/>
            </a:pPr>
            <a:r>
              <a:rPr lang="en-US" sz="1400" dirty="0">
                <a:solidFill>
                  <a:srgbClr val="E2E8F0"/>
                </a:solidFill>
              </a:rPr>
              <a:t>Plusieurs devoirs par séquence, moyenne annuelle</a:t>
            </a:r>
            <a:endParaRPr lang="en-US" sz="1400" dirty="0"/>
          </a:p>
          <a:p>
            <a:pPr marL="203200" indent="-203200">
              <a:spcAft>
                <a:spcPts val="800"/>
              </a:spcAft>
              <a:buSzPct val="100000"/>
              <a:buChar char="•"/>
            </a:pPr>
            <a:r>
              <a:rPr lang="en-US" sz="1400" dirty="0">
                <a:solidFill>
                  <a:srgbClr val="E2E8F0"/>
                </a:solidFill>
              </a:rPr>
              <a:t>Bulletin PDF et envoi automatique aux parents</a:t>
            </a:r>
            <a:endParaRPr lang="en-US" sz="1400" dirty="0"/>
          </a:p>
          <a:p>
            <a:pPr marL="203200" indent="-203200">
              <a:spcAft>
                <a:spcPts val="800"/>
              </a:spcAft>
              <a:buSzPct val="100000"/>
              <a:buChar char="•"/>
            </a:pPr>
            <a:r>
              <a:rPr lang="en-US" sz="1400" dirty="0">
                <a:solidFill>
                  <a:srgbClr val="E2E8F0"/>
                </a:solidFill>
              </a:rPr>
              <a:t>Comptes parents et notifications</a:t>
            </a:r>
            <a:endParaRPr lang="en-US" sz="1400" dirty="0"/>
          </a:p>
        </p:txBody>
      </p:sp>
      <p:sp>
        <p:nvSpPr>
          <p:cNvPr id="19" name="Text 13"/>
          <p:cNvSpPr txBox="1"/>
          <p:nvPr/>
        </p:nvSpPr>
        <p:spPr>
          <a:xfrm>
            <a:off x="548640" y="6035040"/>
            <a:ext cx="10515600" cy="365760"/>
          </a:xfrm>
          <a:prstGeom prst="rect">
            <a:avLst/>
          </a:prstGeom>
          <a:noFill/>
          <a:ln/>
        </p:spPr>
        <p:txBody>
          <a:bodyPr wrap="square" lIns="0" tIns="0" rIns="0" bIns="0" rtlCol="0" anchor="ctr"/>
          <a:lstStyle/>
          <a:p>
            <a:pPr indent="0" marL="0">
              <a:buNone/>
            </a:pPr>
            <a:r>
              <a:rPr lang="en-US" sz="1500" dirty="0">
                <a:solidFill>
                  <a:schemeClr val="accent6"/>
                </a:solidFill>
              </a:rPr>
              <a:t>Merci de votre attention — démonstration en direct sur http://127.0.0.1:5000</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Portail de notes">
  <a:themeElements>
    <a:clrScheme name="Portail de notes">
      <a:dk1>
        <a:srgbClr val="0F172A"/>
      </a:dk1>
      <a:lt1>
        <a:srgbClr val="FFFFFF"/>
      </a:lt1>
      <a:dk2>
        <a:srgbClr val="1E293B"/>
      </a:dk2>
      <a:lt2>
        <a:srgbClr val="F1F5F9"/>
      </a:lt2>
      <a:accent1>
        <a:srgbClr val="1D4ED8"/>
      </a:accent1>
      <a:accent2>
        <a:srgbClr val="B45309"/>
      </a:accent2>
      <a:accent3>
        <a:srgbClr val="047857"/>
      </a:accent3>
      <a:accent4>
        <a:srgbClr val="B91C1C"/>
      </a:accent4>
      <a:accent5>
        <a:srgbClr val="475569"/>
      </a:accent5>
      <a:accent6>
        <a:srgbClr val="E8EEFD"/>
      </a:accent6>
      <a:hlink>
        <a:srgbClr val="1D4ED8"/>
      </a:hlink>
      <a:folHlink>
        <a:srgbClr val="1E3A8A"/>
      </a:folHlink>
    </a:clrScheme>
    <a:fontScheme name="Portail de notes">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Projet 3 : Portail de notes d'un lycée technique</dc:title>
  <dc:subject>Rapport de projet — Technologies Web et applications</dc:subject>
  <dc:creator>Projet 3 — travail individuel</dc:creator>
  <cp:lastModifiedBy>Projet 3 — travail individuel</cp:lastModifiedBy>
  <cp:revision>1</cp:revision>
  <dcterms:created xsi:type="dcterms:W3CDTF">2026-10-23T14:22:41Z</dcterms:created>
  <dcterms:modified xsi:type="dcterms:W3CDTF">2026-10-23T14:22:41Z</dcterms:modified>
</cp:coreProperties>
</file>